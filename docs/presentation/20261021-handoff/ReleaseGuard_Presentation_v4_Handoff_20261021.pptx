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cf91830d5a4554" /><Relationship Type="http://schemas.openxmlformats.org/officeDocument/2006/relationships/extended-properties" Target="/docProps/app.xml" Id="R6349293862fa4bcf" /><Relationship Type="http://schemas.openxmlformats.org/officeDocument/2006/relationships/officeDocument" Target="/ppt/presentation.xml" Id="R9f657c3416e744db" /></Relationships>
</file>

<file path=ppt/presentation.xml><?xml version="1.0" encoding="utf-8"?>
<p:presentation xmlns:p="http://schemas.openxmlformats.org/presentationml/2006/main">
  <p:sldMasterIdLst>
    <p:sldMasterId xmlns:r="http://schemas.openxmlformats.org/officeDocument/2006/relationships" id="2147483648" r:id="R086f9d0f869a46cb"/>
  </p:sldMasterIdLst>
  <p:notesMasterIdLst>
    <p:notesMasterId xmlns:r="http://schemas.openxmlformats.org/officeDocument/2006/relationships" r:id="R8a0479d795a84d0e"/>
  </p:notesMasterIdLst>
  <p:sldIdLst>
    <p:sldId xmlns:r="http://schemas.openxmlformats.org/officeDocument/2006/relationships" id="256" r:id="Redaa0bc507964f92"/>
    <p:sldId xmlns:r="http://schemas.openxmlformats.org/officeDocument/2006/relationships" id="257" r:id="R514965b44a844afb"/>
    <p:sldId xmlns:r="http://schemas.openxmlformats.org/officeDocument/2006/relationships" id="258" r:id="R6cc9eca6be2748fd"/>
    <p:sldId xmlns:r="http://schemas.openxmlformats.org/officeDocument/2006/relationships" id="259" r:id="R6a4bf6834b8443de"/>
    <p:sldId xmlns:r="http://schemas.openxmlformats.org/officeDocument/2006/relationships" id="260" r:id="R457f72233f8349e8"/>
    <p:sldId xmlns:r="http://schemas.openxmlformats.org/officeDocument/2006/relationships" id="261" r:id="R05a8b8692b3d45b7"/>
    <p:sldId xmlns:r="http://schemas.openxmlformats.org/officeDocument/2006/relationships" id="262" r:id="R62d816072c644db2"/>
    <p:sldId xmlns:r="http://schemas.openxmlformats.org/officeDocument/2006/relationships" id="263" r:id="Rb826fd09cd244651"/>
    <p:sldId xmlns:r="http://schemas.openxmlformats.org/officeDocument/2006/relationships" id="264" r:id="Ra0e1f074f0ba4a3a"/>
    <p:sldId xmlns:r="http://schemas.openxmlformats.org/officeDocument/2006/relationships" id="265" r:id="R17657600495f4674"/>
    <p:sldId xmlns:r="http://schemas.openxmlformats.org/officeDocument/2006/relationships" id="266" r:id="R28b451208f5049d1"/>
    <p:sldId xmlns:r="http://schemas.openxmlformats.org/officeDocument/2006/relationships" id="267" r:id="R80e5997581ec4968"/>
    <p:sldId xmlns:r="http://schemas.openxmlformats.org/officeDocument/2006/relationships" id="268" r:id="R915d1f92ee0f48fb"/>
    <p:sldId xmlns:r="http://schemas.openxmlformats.org/officeDocument/2006/relationships" id="269" r:id="Re8aa8a820f9642f0"/>
    <p:sldId xmlns:r="http://schemas.openxmlformats.org/officeDocument/2006/relationships" id="270" r:id="Rd577eb8eeaa24512"/>
    <p:sldId xmlns:r="http://schemas.openxmlformats.org/officeDocument/2006/relationships" id="271" r:id="Rba6d2a7b65734365"/>
    <p:sldId xmlns:r="http://schemas.openxmlformats.org/officeDocument/2006/relationships" id="272" r:id="R8c0fe587e2a24f75"/>
    <p:sldId xmlns:r="http://schemas.openxmlformats.org/officeDocument/2006/relationships" id="273" r:id="R00b356b4082f4f6b"/>
    <p:sldId xmlns:r="http://schemas.openxmlformats.org/officeDocument/2006/relationships" id="274" r:id="R485963133e7e4497"/>
    <p:sldId xmlns:r="http://schemas.openxmlformats.org/officeDocument/2006/relationships" id="275" r:id="R4008a281abe34544"/>
    <p:sldId xmlns:r="http://schemas.openxmlformats.org/officeDocument/2006/relationships" id="276" r:id="R1748bb113a7c4c63"/>
    <p:sldId xmlns:r="http://schemas.openxmlformats.org/officeDocument/2006/relationships" id="277" r:id="Reb9d6c9220e94cd1"/>
    <p:sldId xmlns:r="http://schemas.openxmlformats.org/officeDocument/2006/relationships" id="278" r:id="R08b34f06d557427c"/>
    <p:sldId xmlns:r="http://schemas.openxmlformats.org/officeDocument/2006/relationships" id="279" r:id="R6e13cd8abdcf43ee"/>
    <p:sldId xmlns:r="http://schemas.openxmlformats.org/officeDocument/2006/relationships" id="280" r:id="R3ef1d73f1a8f44c2"/>
    <p:sldId xmlns:r="http://schemas.openxmlformats.org/officeDocument/2006/relationships" id="281" r:id="R8a67df1c059f4df5"/>
    <p:sldId xmlns:r="http://schemas.openxmlformats.org/officeDocument/2006/relationships" id="282" r:id="R9e694416557c48d2"/>
    <p:sldId xmlns:r="http://schemas.openxmlformats.org/officeDocument/2006/relationships" id="283" r:id="Rc0986c8b278e4376"/>
    <p:sldId xmlns:r="http://schemas.openxmlformats.org/officeDocument/2006/relationships" id="284" r:id="R9f2720f0576f410e"/>
    <p:sldId xmlns:r="http://schemas.openxmlformats.org/officeDocument/2006/relationships" id="285" r:id="R018841276b134798"/>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e9dc36b067d4794" /><Relationship Type="http://schemas.openxmlformats.org/officeDocument/2006/relationships/slideMaster" Target="/ppt/slideMasters/slideMaster1.xml" Id="R086f9d0f869a46cb" /><Relationship Type="http://schemas.openxmlformats.org/officeDocument/2006/relationships/notesMaster" Target="/ppt/notesMasters/notesMaster1.xml" Id="R8a0479d795a84d0e" /><Relationship Type="http://schemas.openxmlformats.org/officeDocument/2006/relationships/presProps" Target="/ppt/presProps.xml" Id="Re1eece1ead384816" /><Relationship Type="http://schemas.openxmlformats.org/officeDocument/2006/relationships/viewProps" Target="/ppt/viewProps.xml" Id="R95d5fdb988cc470b" /><Relationship Type="http://schemas.openxmlformats.org/officeDocument/2006/relationships/tableStyles" Target="/ppt/tableStyles.xml" Id="Rd87e632a10f44eff" /><Relationship Type="http://schemas.openxmlformats.org/officeDocument/2006/relationships/slide" Target="/ppt/slides/slide1.xml" Id="Redaa0bc507964f92" /><Relationship Type="http://schemas.openxmlformats.org/officeDocument/2006/relationships/slide" Target="/ppt/slides/slide2.xml" Id="R514965b44a844afb" /><Relationship Type="http://schemas.openxmlformats.org/officeDocument/2006/relationships/slide" Target="/ppt/slides/slide3.xml" Id="R6cc9eca6be2748fd" /><Relationship Type="http://schemas.openxmlformats.org/officeDocument/2006/relationships/slide" Target="/ppt/slides/slide4.xml" Id="R6a4bf6834b8443de" /><Relationship Type="http://schemas.openxmlformats.org/officeDocument/2006/relationships/slide" Target="/ppt/slides/slide5.xml" Id="R457f72233f8349e8" /><Relationship Type="http://schemas.openxmlformats.org/officeDocument/2006/relationships/slide" Target="/ppt/slides/slide6.xml" Id="R05a8b8692b3d45b7" /><Relationship Type="http://schemas.openxmlformats.org/officeDocument/2006/relationships/slide" Target="/ppt/slides/slide7.xml" Id="R62d816072c644db2" /><Relationship Type="http://schemas.openxmlformats.org/officeDocument/2006/relationships/slide" Target="/ppt/slides/slide8.xml" Id="Rb826fd09cd244651" /><Relationship Type="http://schemas.openxmlformats.org/officeDocument/2006/relationships/slide" Target="/ppt/slides/slide9.xml" Id="Ra0e1f074f0ba4a3a" /><Relationship Type="http://schemas.openxmlformats.org/officeDocument/2006/relationships/slide" Target="/ppt/slides/slide10.xml" Id="R17657600495f4674" /><Relationship Type="http://schemas.openxmlformats.org/officeDocument/2006/relationships/slide" Target="/ppt/slides/slide11.xml" Id="R28b451208f5049d1" /><Relationship Type="http://schemas.openxmlformats.org/officeDocument/2006/relationships/slide" Target="/ppt/slides/slide12.xml" Id="R80e5997581ec4968" /><Relationship Type="http://schemas.openxmlformats.org/officeDocument/2006/relationships/slide" Target="/ppt/slides/slide13.xml" Id="R915d1f92ee0f48fb" /><Relationship Type="http://schemas.openxmlformats.org/officeDocument/2006/relationships/slide" Target="/ppt/slides/slide14.xml" Id="Re8aa8a820f9642f0" /><Relationship Type="http://schemas.openxmlformats.org/officeDocument/2006/relationships/slide" Target="/ppt/slides/slide15.xml" Id="Rd577eb8eeaa24512" /><Relationship Type="http://schemas.openxmlformats.org/officeDocument/2006/relationships/slide" Target="/ppt/slides/slide16.xml" Id="Rba6d2a7b65734365" /><Relationship Type="http://schemas.openxmlformats.org/officeDocument/2006/relationships/slide" Target="/ppt/slides/slide17.xml" Id="R8c0fe587e2a24f75" /><Relationship Type="http://schemas.openxmlformats.org/officeDocument/2006/relationships/slide" Target="/ppt/slides/slide18.xml" Id="R00b356b4082f4f6b" /><Relationship Type="http://schemas.openxmlformats.org/officeDocument/2006/relationships/slide" Target="/ppt/slides/slide19.xml" Id="R485963133e7e4497" /><Relationship Type="http://schemas.openxmlformats.org/officeDocument/2006/relationships/slide" Target="/ppt/slides/slide20.xml" Id="R4008a281abe34544" /><Relationship Type="http://schemas.openxmlformats.org/officeDocument/2006/relationships/slide" Target="/ppt/slides/slide21.xml" Id="R1748bb113a7c4c63" /><Relationship Type="http://schemas.openxmlformats.org/officeDocument/2006/relationships/slide" Target="/ppt/slides/slide22.xml" Id="Reb9d6c9220e94cd1" /><Relationship Type="http://schemas.openxmlformats.org/officeDocument/2006/relationships/slide" Target="/ppt/slides/slide23.xml" Id="R08b34f06d557427c" /><Relationship Type="http://schemas.openxmlformats.org/officeDocument/2006/relationships/slide" Target="/ppt/slides/slide24.xml" Id="R6e13cd8abdcf43ee" /><Relationship Type="http://schemas.openxmlformats.org/officeDocument/2006/relationships/slide" Target="/ppt/slides/slide25.xml" Id="R3ef1d73f1a8f44c2" /><Relationship Type="http://schemas.openxmlformats.org/officeDocument/2006/relationships/slide" Target="/ppt/slides/slide26.xml" Id="R8a67df1c059f4df5" /><Relationship Type="http://schemas.openxmlformats.org/officeDocument/2006/relationships/slide" Target="/ppt/slides/slide27.xml" Id="R9e694416557c48d2" /><Relationship Type="http://schemas.openxmlformats.org/officeDocument/2006/relationships/slide" Target="/ppt/slides/slide28.xml" Id="Rc0986c8b278e4376" /><Relationship Type="http://schemas.openxmlformats.org/officeDocument/2006/relationships/slide" Target="/ppt/slides/slide29.xml" Id="R9f2720f0576f410e" /><Relationship Type="http://schemas.openxmlformats.org/officeDocument/2006/relationships/slide" Target="/ppt/slides/slide30.xml" Id="R018841276b1347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8bba20c7b04e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ReleaseGuard NUS">
  <a:themeElements>
    <a:clrScheme name="ReleaseGuard NUS">
      <a:dk1>
        <a:srgbClr val="1A1A1A"/>
      </a:dk1>
      <a:lt1>
        <a:srgbClr val="FFFFFF"/>
      </a:lt1>
      <a:dk2>
        <a:srgbClr val="173F7E"/>
      </a:dk2>
      <a:lt2>
        <a:srgbClr val="EEF3FA"/>
      </a:lt2>
      <a:accent1>
        <a:srgbClr val="4882DE"/>
      </a:accent1>
      <a:accent2>
        <a:srgbClr val="7ACFF5"/>
      </a:accent2>
      <a:accent3>
        <a:srgbClr val="F2873A"/>
      </a:accent3>
      <a:accent4>
        <a:srgbClr val="13B8CC"/>
      </a:accent4>
      <a:accent5>
        <a:srgbClr val="EC5A9D"/>
      </a:accent5>
      <a:accent6>
        <a:srgbClr val="2E9B3A"/>
      </a:accent6>
      <a:hlink>
        <a:srgbClr val="0070C0"/>
      </a:hlink>
      <a:folHlink>
        <a:srgbClr val="7F3F98"/>
      </a:folHlink>
    </a:clrScheme>
    <a:fontScheme name="ReleaseGuard N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leaseGuard NU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eae433a5b04522" /><Relationship Type="http://schemas.openxmlformats.org/officeDocument/2006/relationships/notesMaster" Target="/ppt/notesMasters/notesMaster1.xml" Id="R03abc009a0854a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d4d0a41e39483a" /><Relationship Type="http://schemas.openxmlformats.org/officeDocument/2006/relationships/notesMaster" Target="/ppt/notesMasters/notesMaster1.xml" Id="Rc33eea6fb14448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384d42166c4c75" /><Relationship Type="http://schemas.openxmlformats.org/officeDocument/2006/relationships/notesMaster" Target="/ppt/notesMasters/notesMaster1.xml" Id="R27065c0f554844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c05c2d2e884839" /><Relationship Type="http://schemas.openxmlformats.org/officeDocument/2006/relationships/notesMaster" Target="/ppt/notesMasters/notesMaster1.xml" Id="R18a075f7b4454c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0ee4a2b7e34bc4" /><Relationship Type="http://schemas.openxmlformats.org/officeDocument/2006/relationships/notesMaster" Target="/ppt/notesMasters/notesMaster1.xml" Id="R7dab24821b9d4c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0ae6f7e2614b99" /><Relationship Type="http://schemas.openxmlformats.org/officeDocument/2006/relationships/notesMaster" Target="/ppt/notesMasters/notesMaster1.xml" Id="R92a86af7017947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b15b6a9a5c4a27" /><Relationship Type="http://schemas.openxmlformats.org/officeDocument/2006/relationships/notesMaster" Target="/ppt/notesMasters/notesMaster1.xml" Id="R9a31ba36e27a4f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644b5df8c54fda" /><Relationship Type="http://schemas.openxmlformats.org/officeDocument/2006/relationships/notesMaster" Target="/ppt/notesMasters/notesMaster1.xml" Id="Rc6f80950ddaa4e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07a278a1404713" /><Relationship Type="http://schemas.openxmlformats.org/officeDocument/2006/relationships/notesMaster" Target="/ppt/notesMasters/notesMaster1.xml" Id="Rce40d6816bfd4d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25773673fc4ee0" /><Relationship Type="http://schemas.openxmlformats.org/officeDocument/2006/relationships/notesMaster" Target="/ppt/notesMasters/notesMaster1.xml" Id="Rf749644abb024e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488f838bbe471b" /><Relationship Type="http://schemas.openxmlformats.org/officeDocument/2006/relationships/notesMaster" Target="/ppt/notesMasters/notesMaster1.xml" Id="R8d6efe2135e24f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133600f54240d6" /><Relationship Type="http://schemas.openxmlformats.org/officeDocument/2006/relationships/notesMaster" Target="/ppt/notesMasters/notesMaster1.xml" Id="Rb2943f74e47348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548258ac584634" /><Relationship Type="http://schemas.openxmlformats.org/officeDocument/2006/relationships/notesMaster" Target="/ppt/notesMasters/notesMaster1.xml" Id="R4eaac839660a46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66416065264c9b" /><Relationship Type="http://schemas.openxmlformats.org/officeDocument/2006/relationships/notesMaster" Target="/ppt/notesMasters/notesMaster1.xml" Id="R7738bc39769248a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7b341b50484916" /><Relationship Type="http://schemas.openxmlformats.org/officeDocument/2006/relationships/notesMaster" Target="/ppt/notesMasters/notesMaster1.xml" Id="R0e851e013c2743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9881fe12de4ed5" /><Relationship Type="http://schemas.openxmlformats.org/officeDocument/2006/relationships/notesMaster" Target="/ppt/notesMasters/notesMaster1.xml" Id="Rf4fa22a51592410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207642ff104dbb" /><Relationship Type="http://schemas.openxmlformats.org/officeDocument/2006/relationships/notesMaster" Target="/ppt/notesMasters/notesMaster1.xml" Id="Rabab092d89e340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2c68753a51b4a65" /><Relationship Type="http://schemas.openxmlformats.org/officeDocument/2006/relationships/notesMaster" Target="/ppt/notesMasters/notesMaster1.xml" Id="Rda0e96f8b59247a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8a8dde82324c2a" /><Relationship Type="http://schemas.openxmlformats.org/officeDocument/2006/relationships/notesMaster" Target="/ppt/notesMasters/notesMaster1.xml" Id="R9fa6e6a031ea4f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8f2e78142c48ce" /><Relationship Type="http://schemas.openxmlformats.org/officeDocument/2006/relationships/notesMaster" Target="/ppt/notesMasters/notesMaster1.xml" Id="Rb1b69740c69b49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0d6520ab82485a" /><Relationship Type="http://schemas.openxmlformats.org/officeDocument/2006/relationships/notesMaster" Target="/ppt/notesMasters/notesMaster1.xml" Id="R9dcd2ea7076e47c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e04772c9aa457f" /><Relationship Type="http://schemas.openxmlformats.org/officeDocument/2006/relationships/notesMaster" Target="/ppt/notesMasters/notesMaster1.xml" Id="R4389311136fc45f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7766a62b5ad4c2f" /><Relationship Type="http://schemas.openxmlformats.org/officeDocument/2006/relationships/notesMaster" Target="/ppt/notesMasters/notesMaster1.xml" Id="Rda8764546c8244c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0ad4476a9c4760" /><Relationship Type="http://schemas.openxmlformats.org/officeDocument/2006/relationships/notesMaster" Target="/ppt/notesMasters/notesMaster1.xml" Id="R77abffefd3334bc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dda96cde7594d5a" /><Relationship Type="http://schemas.openxmlformats.org/officeDocument/2006/relationships/notesMaster" Target="/ppt/notesMasters/notesMaster1.xml" Id="R5887bef5144c43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09d048106ff4409" /><Relationship Type="http://schemas.openxmlformats.org/officeDocument/2006/relationships/notesMaster" Target="/ppt/notesMasters/notesMaster1.xml" Id="Rf65953c85062435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eb8624a8204bfa" /><Relationship Type="http://schemas.openxmlformats.org/officeDocument/2006/relationships/notesMaster" Target="/ppt/notesMasters/notesMaster1.xml" Id="R25cfeb16e96b4c3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983d2f0464b4fb3" /><Relationship Type="http://schemas.openxmlformats.org/officeDocument/2006/relationships/notesMaster" Target="/ppt/notesMasters/notesMaster1.xml" Id="Re71f1c9fba2643a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0e36b32b369490f" /><Relationship Type="http://schemas.openxmlformats.org/officeDocument/2006/relationships/notesMaster" Target="/ppt/notesMasters/notesMaster1.xml" Id="R1a9542e1844f462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27c0bc519704f69" /><Relationship Type="http://schemas.openxmlformats.org/officeDocument/2006/relationships/notesMaster" Target="/ppt/notesMasters/notesMaster1.xml" Id="R510b6d15aa2640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0.2 minutes</a:t>
            </a:r>
            <a:endParaRPr/>
          </a:p>
          <a:p xmlns:a="http://schemas.openxmlformats.org/drawingml/2006/main">
            <a:r>
              <a:t/>
            </a:r>
            <a:endParaRPr/>
          </a:p>
          <a:p xmlns:a="http://schemas.openxmlformats.org/drawingml/2006/main">
            <a:r>
              <a:t>Script:</a:t>
            </a:r>
            <a:endParaRPr/>
          </a:p>
          <a:p xmlns:a="http://schemas.openxmlformats.org/drawingml/2006/main">
            <a:r>
              <a:t>Good morning. We are Team 13. Our project is ReleaseGuard: a platform that lets an application team check the evidence for an AI prompt change before a different person makes the release decision.</a:t>
            </a:r>
            <a:endParaRPr/>
          </a:p>
          <a:p xmlns:a="http://schemas.openxmlformats.org/drawingml/2006/main">
            <a:r>
              <a:t/>
            </a:r>
            <a:endParaRPr/>
          </a:p>
          <a:p xmlns:a="http://schemas.openxmlformats.org/drawingml/2006/main">
            <a:r>
              <a:t>中文提示：一句话开场，报队名和项目一句话定位，马上切到下一页。</a:t>
            </a:r>
            <a:endParaRPr/>
          </a:p>
          <a:p xmlns:a="http://schemas.openxmlformats.org/drawingml/2006/main">
            <a:r>
              <a:t/>
            </a:r>
            <a:endParaRPr/>
          </a:p>
          <a:p xmlns:a="http://schemas.openxmlformats.org/drawingml/2006/main">
            <a:r>
              <a:t>21 Oct timing: 0.2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1 minutes</a:t>
            </a:r>
            <a:endParaRPr/>
          </a:p>
          <a:p xmlns:a="http://schemas.openxmlformats.org/drawingml/2006/main">
            <a:r>
              <a:t/>
            </a:r>
            <a:endParaRPr/>
          </a:p>
          <a:p xmlns:a="http://schemas.openxmlformats.org/drawingml/2006/main">
            <a:r>
              <a:t>Script:</a:t>
            </a:r>
            <a:endParaRPr/>
          </a:p>
          <a:p xmlns:a="http://schemas.openxmlformats.org/drawingml/2006/main">
            <a:r>
              <a:t>A prompt change can produce a convincing answer that still breaks policy. On the right, the candidate scores 90 out of 100, but one critical case says returns are accepted forever, so the gate blocks it. Teams need fixed acceptance cases, the original outputs and a review trail. Because model calls are slow and bursty, evaluation must run asynchronously and scale out. Our scenario is a fictional retailer returns assistant with ten fixed cases.</a:t>
            </a:r>
            <a:endParaRPr/>
          </a:p>
          <a:p xmlns:a="http://schemas.openxmlformats.org/drawingml/2006/main">
            <a:r>
              <a:t/>
            </a:r>
            <a:endParaRPr/>
          </a:p>
          <a:p xmlns:a="http://schemas.openxmlformats.org/drawingml/2006/main">
            <a:r>
              <a:t>中文提示：强调“流畅≠合规”，指右图的 Blocked；再点出为什么要异步 + 可扩展。</a:t>
            </a:r>
            <a:endParaRPr/>
          </a:p>
          <a:p xmlns:a="http://schemas.openxmlformats.org/drawingml/2006/main">
            <a:r>
              <a:t/>
            </a:r>
            <a:endParaRP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0.8 minutes</a:t>
            </a:r>
            <a:endParaRPr/>
          </a:p>
          <a:p xmlns:a="http://schemas.openxmlformats.org/drawingml/2006/main">
            <a:r>
              <a:t/>
            </a:r>
            <a:endParaRPr/>
          </a:p>
          <a:p xmlns:a="http://schemas.openxmlformats.org/drawingml/2006/main">
            <a:r>
              <a:t>Script:</a:t>
            </a:r>
            <a:endParaRPr/>
          </a:p>
          <a:p xmlns:a="http://schemas.openxmlformats.org/drawingml/2006/main">
            <a:r>
              <a:t>In platform terms, the seed is the versioned test suites and checking policies. Producers are test authors and application developers who register applications and create suite versions. Consumers are the support application, a CLI or CI pipeline, and human reviewers; they all reuse the same APIs. The toolbox is our REST API, CLI and console, and matchmaking is the gate that matches outputs to policy and routes passing candidates to an independent reviewer. Scope ends at a recorded review decision; we do not train models or deploy automatically.</a:t>
            </a:r>
            <a:endParaRPr/>
          </a:p>
          <a:p xmlns:a="http://schemas.openxmlformats.org/drawingml/2006/main">
            <a:r>
              <a:t/>
            </a:r>
            <a:endParaRPr/>
          </a:p>
          <a:p xmlns:a="http://schemas.openxmlformats.org/drawingml/2006/main">
            <a:r>
              <a:t>中文提示：用课上 PE01 的术语：Seed / Producer / Consumer / Toolbox / Matchmaking；Magnet 被问再解释。</a:t>
            </a:r>
            <a:endParaRPr/>
          </a:p>
          <a:p xmlns:a="http://schemas.openxmlformats.org/drawingml/2006/main">
            <a:r>
              <a:t/>
            </a:r>
            <a:endParaRPr/>
          </a:p>
          <a:p xmlns:a="http://schemas.openxmlformats.org/drawingml/2006/main">
            <a:r>
              <a:t>21 Oct timing: 0.8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Our platform has dated implementation and technical evidence. The latest reviewer experiment completed ten calls with valid protocol and blocked all five negative references, but only four of five designated rule IDs matched. The frozen experiment remains failed. The r2 rule-definition refinement has offline checks only. It is not enabled and has no real semantic validation. Our last full-regression evidence is dated and includes a retained failure. 中文：区分平台成果、十条失败实验、r2未实测，不说全部完成。</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0.8 minutes</a:t>
            </a:r>
            <a:endParaRPr/>
          </a:p>
          <a:p xmlns:a="http://schemas.openxmlformats.org/drawingml/2006/main">
            <a:r>
              <a:t/>
            </a:r>
            <a:endParaRPr/>
          </a:p>
          <a:p xmlns:a="http://schemas.openxmlformats.org/drawingml/2006/main">
            <a:r>
              <a:t>Script:</a:t>
            </a:r>
            <a:endParaRPr/>
          </a:p>
          <a:p xmlns:a="http://schemas.openxmlformats.org/drawingml/2006/main">
            <a:r>
              <a:t>These are our five responsibility areas and the main deliverables of each member. The last column is each member’s rough total effort. The proposal planned fifty person-days, ten per member; the numbers here are our own actual estimates. Our definition of done is a reproducible build and tests, immutable evidence, permission and release invariants, and independent review.</a:t>
            </a:r>
            <a:endParaRPr/>
          </a:p>
          <a:p xmlns:a="http://schemas.openxmlformats.org/drawingml/2006/main">
            <a:r>
              <a:t/>
            </a:r>
            <a:endParaRPr/>
          </a:p>
          <a:p xmlns:a="http://schemas.openxmlformats.org/drawingml/2006/main">
            <a:r>
              <a:t>中文提示：“Rough total effort”列必须在展示前由每位组员填好，替换 TBC。</a:t>
            </a:r>
            <a:endParaRPr/>
          </a:p>
          <a:p xmlns:a="http://schemas.openxmlformats.org/drawingml/2006/main">
            <a:r>
              <a:t/>
            </a:r>
            <a:endParaRPr/>
          </a:p>
          <a:p xmlns:a="http://schemas.openxmlformats.org/drawingml/2006/main">
            <a:r>
              <a:t>21 Oct timing: 0.8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1.5 minutes</a:t>
            </a:r>
            <a:endParaRPr/>
          </a:p>
          <a:p xmlns:a="http://schemas.openxmlformats.org/drawingml/2006/main">
            <a:r>
              <a:t/>
            </a:r>
            <a:endParaRPr/>
          </a:p>
          <a:p xmlns:a="http://schemas.openxmlformats.org/drawingml/2006/main">
            <a:r>
              <a:t>Script:</a:t>
            </a:r>
            <a:endParaRPr/>
          </a:p>
          <a:p xmlns:a="http://schemas.openxmlformats.org/drawingml/2006/main">
            <a:r>
              <a:t>Two decisions shaped the logical architecture. First, we split by bounded context into three business services instead of a modular monolith or six fine-grained services: a monolith cannot scale execution, and six services would add distributed transactions without a business reason. Second, evaluation runs asynchronously through a durable queue: the API accepts the job, commits it with an outbox entry in one transaction, and competing workers consume it. This is Queue-Based Load Leveling with Competing Consumers; the cost is at-least-once delivery, which we handle with idempotent receivers. The other four decisions are summarised below.</a:t>
            </a:r>
            <a:endParaRPr/>
          </a:p>
          <a:p xmlns:a="http://schemas.openxmlformats.org/drawingml/2006/main">
            <a:r>
              <a:t/>
            </a:r>
            <a:endParaRPr/>
          </a:p>
          <a:p xmlns:a="http://schemas.openxmlformats.org/drawingml/2006/main">
            <a:r>
              <a:t>中文提示：只展开上面两张决策表；下面四条一句话带过。老师可能追问“为何不用 Saga”→ 备用页 B3。</a:t>
            </a:r>
            <a:endParaRPr/>
          </a:p>
          <a:p xmlns:a="http://schemas.openxmlformats.org/drawingml/2006/main">
            <a:r>
              <a:t/>
            </a:r>
            <a:endParaRPr/>
          </a:p>
          <a:p xmlns:a="http://schemas.openxmlformats.org/drawingml/2006/main">
            <a:r>
              <a:t>21 Oct timing: 1.5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2 minutes</a:t>
            </a:r>
            <a:endParaRPr/>
          </a:p>
          <a:p xmlns:a="http://schemas.openxmlformats.org/drawingml/2006/main">
            <a:r>
              <a:t/>
            </a:r>
            <a:endParaRPr/>
          </a:p>
          <a:p xmlns:a="http://schemas.openxmlformats.org/drawingml/2006/main">
            <a:r>
              <a:t>Script:</a:t>
            </a:r>
            <a:endParaRPr/>
          </a:p>
          <a:p xmlns:a="http://schemas.openxmlformats.org/drawingml/2006/main">
            <a:r>
              <a:t>This is the logical detail deployment view for the Submit Evaluation use case, drawn the way the course method describes. Users reach the gateway from the Internet. Inside the cluster, each subsystem is deployed to its own node, and each manifests boundary, control and entity classes. Evaluation Admission accepts the job and writes the Evaluation Job; the Execution subsystem on the worker claims and completes jobs and runs the gate; Review &amp; Evidence creates the release request. The model provider is only reached through the Model Provider Interface boundary.</a:t>
            </a:r>
            <a:endParaRPr/>
          </a:p>
          <a:p xmlns:a="http://schemas.openxmlformats.org/drawingml/2006/main">
            <a:r>
              <a:t/>
            </a:r>
            <a:endParaRPr/>
          </a:p>
          <a:p xmlns:a="http://schemas.openxmlformats.org/drawingml/2006/main">
            <a:r>
              <a:t>中文提示：从左到右：入口 → 三个业务 context → Worker → 模型适配器；用手指 B/C/E 三类。</a:t>
            </a:r>
            <a:endParaRPr/>
          </a:p>
          <a:p xmlns:a="http://schemas.openxmlformats.org/drawingml/2006/main">
            <a:r>
              <a:t/>
            </a:r>
            <a:endParaRPr/>
          </a:p>
          <a:p xmlns:a="http://schemas.openxmlformats.org/drawingml/2006/main">
            <a:r>
              <a:t>21 Oct timing: 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1.5 minutes</a:t>
            </a:r>
            <a:endParaRPr/>
          </a:p>
          <a:p xmlns:a="http://schemas.openxmlformats.org/drawingml/2006/main">
            <a:r>
              <a:t/>
            </a:r>
            <a:endParaRPr/>
          </a:p>
          <a:p xmlns:a="http://schemas.openxmlformats.org/drawingml/2006/main">
            <a:r>
              <a:t>Script:</a:t>
            </a:r>
            <a:endParaRPr/>
          </a:p>
          <a:p xmlns:a="http://schemas.openxmlformats.org/drawingml/2006/main">
            <a:r>
              <a:t>Our core domain is evidence-backed release assurance: Evaluation and Review. Test Assets is a supporting subdomain. Test Assets is upstream of Evaluation through an open host service with a published language: a read-only snapshot API with immutable suite IDs. Evaluation is upstream of Review in a customer–supplier relationship; Review copies its own evidence snapshot. The external model provider sits behind an anticorruption layer. The aggregate roots are Application, SuiteVersion, EvaluationJob and ReleaseRequest. One phrase from our ubiquitous language matters most: execution succeeded is not rule eligible, and rule eligible is not approved.</a:t>
            </a:r>
            <a:endParaRPr/>
          </a:p>
          <a:p xmlns:a="http://schemas.openxmlformats.org/drawingml/2006/main">
            <a:r>
              <a:t/>
            </a:r>
            <a:endParaRPr/>
          </a:p>
          <a:p xmlns:a="http://schemas.openxmlformats.org/drawingml/2006/main">
            <a:r>
              <a:t>中文提示：按课上 PE04 的 U/D、OHS/PL、ACL、Customer–Supplier 讲；最后强调那句通用语言。</a:t>
            </a:r>
            <a:endParaRPr/>
          </a:p>
          <a:p xmlns:a="http://schemas.openxmlformats.org/drawingml/2006/main">
            <a:r>
              <a:t/>
            </a:r>
            <a:endParaRPr/>
          </a:p>
          <a:p xmlns:a="http://schemas.openxmlformats.org/drawingml/2006/main">
            <a:r>
              <a:t>21 Oct timing: 1.5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 minutes</a:t>
            </a:r>
            <a:endParaRPr/>
          </a:p>
          <a:p xmlns:a="http://schemas.openxmlformats.org/drawingml/2006/main">
            <a:r>
              <a:t/>
            </a:r>
            <a:endParaRPr/>
          </a:p>
          <a:p xmlns:a="http://schemas.openxmlformats.org/drawingml/2006/main">
            <a:r>
              <a:t>Script:</a:t>
            </a:r>
            <a:endParaRPr/>
          </a:p>
          <a:p xmlns:a="http://schemas.openxmlformats.org/drawingml/2006/main">
            <a:r>
              <a:t>This table follows the course Integration Endpoints format. Producers register an application and append suite versions; old versions are never overwritten. Consumers integrate through the same gateway: the console, and a CLI that returns exit code 3 when the gate blocks, so any CI pipeline can stop a release. Inside the cluster services use audience-bound service tokens, the broker uses AMQPS, and only one hop needs transformation: the anticorruption layer between the support adapter and the model provider. Workspace and role come from OIDC claims; viewers are read-only and service identities can never review.</a:t>
            </a:r>
            <a:endParaRPr/>
          </a:p>
          <a:p xmlns:a="http://schemas.openxmlformats.org/drawingml/2006/main">
            <a:r>
              <a:t/>
            </a:r>
            <a:endParaRPr/>
          </a:p>
          <a:p xmlns:a="http://schemas.openxmlformats.org/drawingml/2006/main">
            <a:r>
              <a:t>中文提示：重点指 CLI exit code 3 和唯一一行 “Yes” 的 ACL。</a:t>
            </a:r>
            <a:endParaRPr/>
          </a:p>
          <a:p xmlns:a="http://schemas.openxmlformats.org/drawingml/2006/main">
            <a:r>
              <a:t/>
            </a:r>
            <a:endParaRP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1.2 minutes</a:t>
            </a:r>
            <a:endParaRPr/>
          </a:p>
          <a:p xmlns:a="http://schemas.openxmlformats.org/drawingml/2006/main">
            <a:r>
              <a:t/>
            </a:r>
            <a:endParaRPr/>
          </a:p>
          <a:p xmlns:a="http://schemas.openxmlformats.org/drawingml/2006/main">
            <a:r>
              <a:t>Script:</a:t>
            </a:r>
            <a:endParaRPr/>
          </a:p>
          <a:p xmlns:a="http://schemas.openxmlformats.org/drawingml/2006/main">
            <a:r>
              <a:t>Physically, we deployed to GKE in Singapore on two e2-standard-2 nodes, which fits the free trial. Databases, the broker and the identity provider run inside the cluster: cheaper and fully controllable, but without managed high availability. Workers scale with KEDA on queue depth because model calls are I/O-bound and CPU would not show the backlog. For security we use Workload Identity Federation instead of stored keys, deploy images pinned by digest, encrypt database and broker traffic, and restrict ingress with NetworkPolicy. After acceptance we scaled the node pool to zero to stay within budget.</a:t>
            </a:r>
            <a:endParaRPr/>
          </a:p>
          <a:p xmlns:a="http://schemas.openxmlformats.org/drawingml/2006/main">
            <a:r>
              <a:t/>
            </a:r>
            <a:endParaRPr/>
          </a:p>
          <a:p xmlns:a="http://schemas.openxmlformats.org/drawingml/2006/main">
            <a:r>
              <a:t>中文提示：每行一句话，主动说 trade-off（单区、无托管 HA）。</a:t>
            </a:r>
            <a:endParaRPr/>
          </a:p>
          <a:p xmlns:a="http://schemas.openxmlformats.org/drawingml/2006/main">
            <a:r>
              <a:t/>
            </a:r>
            <a:endParaRPr/>
          </a:p>
          <a:p xmlns:a="http://schemas.openxmlformats.org/drawingml/2006/main">
            <a:r>
              <a:t>21 Oct timing: 1.2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1.8 minutes</a:t>
            </a:r>
            <a:endParaRPr/>
          </a:p>
          <a:p xmlns:a="http://schemas.openxmlformats.org/drawingml/2006/main">
            <a:r>
              <a:t/>
            </a:r>
            <a:endParaRPr/>
          </a:p>
          <a:p xmlns:a="http://schemas.openxmlformats.org/drawingml/2006/main">
            <a:r>
              <a:t>Script:</a:t>
            </a:r>
            <a:endParaRPr/>
          </a:p>
          <a:p xmlns:a="http://schemas.openxmlformats.org/drawingml/2006/main">
            <a:r>
              <a:t>Users reach a static IP over HTTPS; Caddy terminates TLS and forwards to two gateway replicas. All six application deployments and the four infrastructure containers run on the GKE node pool. Workers scale from one to three with KEDA. Images are pushed from GitHub Actions to Artifact Registry through Workload Identity Federation and pulled by digest. PostgreSQL and RabbitMQ keep their data on persistent volume claims. Only the support adapter calls the external model API, with a server-side key. Locally the same images run as eight Docker Compose containers.</a:t>
            </a:r>
            <a:endParaRPr/>
          </a:p>
          <a:p xmlns:a="http://schemas.openxmlformats.org/drawingml/2006/main">
            <a:r>
              <a:t/>
            </a:r>
            <a:endParaRPr/>
          </a:p>
          <a:p xmlns:a="http://schemas.openxmlformats.org/drawingml/2006/main">
            <a:r>
              <a:t>中文提示：沿着 HTTPS 入口 → Node Pool → Registry / Disks / 外部模型 讲；PVC 与 LB 细节待 D 确认后再说死。</a:t>
            </a:r>
            <a:endParaRPr/>
          </a:p>
          <a:p xmlns:a="http://schemas.openxmlformats.org/drawingml/2006/main">
            <a:r>
              <a:t/>
            </a:r>
            <a:endParaRPr/>
          </a:p>
          <a:p xmlns:a="http://schemas.openxmlformats.org/drawingml/2006/main">
            <a:r>
              <a:t>21 Oct timing: 1.8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1.5 minutes</a:t>
            </a:r>
            <a:endParaRPr/>
          </a:p>
          <a:p xmlns:a="http://schemas.openxmlformats.org/drawingml/2006/main">
            <a:r>
              <a:t/>
            </a:r>
            <a:endParaRPr/>
          </a:p>
          <a:p xmlns:a="http://schemas.openxmlformats.org/drawingml/2006/main">
            <a:r>
              <a:t>Script:</a:t>
            </a:r>
            <a:endParaRPr/>
          </a:p>
          <a:p xmlns:a="http://schemas.openxmlformats.org/drawingml/2006/main">
            <a:r>
              <a:t>Each service owns one PostgreSQL database with its own non-superuser login, and there are no foreign keys across databases. Suites are append-only, with a parent link to the previous version. In Evaluation, a job and its outbox entry are written in one transaction, and the lease columns guard the single terminal write. Review copies the job evidence into a frozen JSONB snapshot; the job ID is copied by an API call, not referenced by a foreign key. Decisions and audit records commit together. We verified backup by dumping each database, restoring it and comparing row counts and content hashes.</a:t>
            </a:r>
            <a:endParaRPr/>
          </a:p>
          <a:p xmlns:a="http://schemas.openxmlformats.org/drawingml/2006/main">
            <a:r>
              <a:t/>
            </a:r>
            <a:endParaRPr/>
          </a:p>
          <a:p xmlns:a="http://schemas.openxmlformats.org/drawingml/2006/main">
            <a:r>
              <a:t>中文提示：强调“跨库不建外键、只复制快照”；最后一句带过备份恢复验证。</a:t>
            </a:r>
            <a:endParaRPr/>
          </a:p>
          <a:p xmlns:a="http://schemas.openxmlformats.org/drawingml/2006/main">
            <a:r>
              <a:t/>
            </a:r>
            <a:endParaRPr/>
          </a:p>
          <a:p xmlns:a="http://schemas.openxmlformats.org/drawingml/2006/main">
            <a:r>
              <a:t>21 Oct timing: 1.5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1.5 minutes</a:t>
            </a:r>
            <a:endParaRPr/>
          </a:p>
          <a:p xmlns:a="http://schemas.openxmlformats.org/drawingml/2006/main">
            <a:r>
              <a:t/>
            </a:r>
            <a:endParaRPr/>
          </a:p>
          <a:p xmlns:a="http://schemas.openxmlformats.org/drawingml/2006/main">
            <a:r>
              <a:t>Script:</a:t>
            </a:r>
            <a:endParaRPr/>
          </a:p>
          <a:p xmlns:a="http://schemas.openxmlformats.org/drawingml/2006/main">
            <a:r>
              <a:t>Here is the representative use case end to end. One: the contributor submits with an idempotency key bound to the workspace, so a retry returns the same job. Two: the job and its outbox entry commit atomically, and the API returns 202 immediately. The publisher sends a persistent message and waits for the broker confirm. Three: a worker claims the job with an expiring lease, runs the fixed cases, applies the fail-closed gate, and only the lease holder can write the final result. Four: a review request copies the completed, passing evidence into a frozen snapshot. Five: a different person decides with an expected version; the author can never approve their own candidate.</a:t>
            </a:r>
            <a:endParaRPr/>
          </a:p>
          <a:p xmlns:a="http://schemas.openxmlformats.org/drawingml/2006/main">
            <a:r>
              <a:t/>
            </a:r>
            <a:endParaRPr/>
          </a:p>
          <a:p xmlns:a="http://schemas.openxmlformats.org/drawingml/2006/main">
            <a:r>
              <a:t>中文提示：只讲 ①–⑤ 五个橙色标号，其余消息一带而过。</a:t>
            </a:r>
            <a:endParaRPr/>
          </a:p>
          <a:p xmlns:a="http://schemas.openxmlformats.org/drawingml/2006/main">
            <a:r>
              <a:t/>
            </a:r>
            <a:endParaRPr/>
          </a:p>
          <a:p xmlns:a="http://schemas.openxmlformats.org/drawingml/2006/main">
            <a:r>
              <a:t>21 Oct timing: 1.5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These branches and pull requests show source and artifact management. The current handoff stays on the feature branch. A push is not a passing CI result. Cloud deployment uses a separate manual workflow and this presentation does not launch it. We must quote the exact commit and workflow result in the handoff report. 中文：展示真实Git交接记录，不把push当CI或部署。</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2 minutes</a:t>
            </a:r>
            <a:endParaRPr/>
          </a:p>
          <a:p xmlns:a="http://schemas.openxmlformats.org/drawingml/2006/main">
            <a:r>
              <a:t/>
            </a:r>
            <a:endParaRPr/>
          </a:p>
          <a:p xmlns:a="http://schemas.openxmlformats.org/drawingml/2006/main">
            <a:r>
              <a:t>Script:</a:t>
            </a:r>
            <a:endParaRPr/>
          </a:p>
          <a:p xmlns:a="http://schemas.openxmlformats.org/drawingml/2006/main">
            <a:r>
              <a:t>We treat the pipeline as a set of fitness functions. The main line installs locked dependencies, runs unit tests, builds and starts the containers, runs integration tests and a replay comparison with zero model calls. The gates check resiliency with restart and fault tests, cross-service contracts, dependency advisories with npm audit, and image vulnerabilities with Trivy, then record the tested artifact identity. Any failed gate stops the run. Promotion is a manual CD workflow that accepts only a successful CI run of the same commit, deploys by digest, and proves rollback. On the right is the successful matched run, and a CD run that correctly refused a failed CI.</a:t>
            </a:r>
            <a:endParaRPr/>
          </a:p>
          <a:p xmlns:a="http://schemas.openxmlformats.org/drawingml/2006/main">
            <a:r>
              <a:t/>
            </a:r>
            <a:endParaRPr/>
          </a:p>
          <a:p xmlns:a="http://schemas.openxmlformats.org/drawingml/2006/main">
            <a:r>
              <a:t>中文提示：按 青→粉→橙 讲；右侧截图证明“同一 commit 才能部署”。</a:t>
            </a:r>
            <a:endParaRPr/>
          </a:p>
          <a:p xmlns:a="http://schemas.openxmlformats.org/drawingml/2006/main">
            <a:r>
              <a:t/>
            </a:r>
            <a:endParaRPr/>
          </a:p>
          <a:p xmlns:a="http://schemas.openxmlformats.org/drawingml/2006/main">
            <a:r>
              <a:t>21 Oct timing: 2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 The cloud and pipeline findings remain tied to their dated evidence. C: For semantic review we preserve separate experiments. Wire v3 had a three-sample protocol run and a separate seventeen-sample development run. On 21 October we reviewed ten targeted reference answers. All ten had valid protocol. All five positive references were allowed and all five negative references were blocked. One negative answer explicitly said an item need not be unused. The reviewer quoted that contradiction and failed EXTRA_CLAIMS_AUTHORIZED, but left STANDARD_POLICY passed. The frozen criterion required that specific rule to fail, so the experiment remains failed. We clarified that rule in r2. Its offline tests check request content and preservation, not model understanding. r2 remains inactive and untested by a real reviewer. 中文：模型看到了矛盾，但逐规则归属未达标。别说它完全没理解，也别追认通过。 Sources: docs/evidence/hybrid-wire-v3-targeted-pairs-2026-10-21/FINAL-RESULT.json; result-10.json; docs/evidence/standard-policy-review-r2-offline-2026-10-21/FINAL-OFFLINE-VERIFICATION.json.</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C (adapter) + D/E (verification). Target: 1 minutes</a:t>
            </a:r>
          </a:p>
          <a:p xmlns:a="http://schemas.openxmlformats.org/drawingml/2006/main">
            <a:r>
              <a:t>We added an availability circuit to the Support adapter. PostgreSQL serialises admission across adapter instances and admits one recovery probe. The local fixture returned three 503 responses. Twenty later attempts made no HTTP request. One probe and one healthy call brought the total to five. The fixture used a short cooldown to keep the test fast. This is not a model-quality test or a new cloud deployment.</a:t>
            </a:r>
          </a:p>
          <a:p xmlns:a="http://schemas.openxmlformats.org/drawingml/2006/main">
            <a:r>
              <a:t>中文：真正熔断，不是重试。测试中两个独立适配器共用 PostgreSQL；没有声称部署了两个 Support 副本。三次失败后，20次拒绝不发请求，冷却后一个探针恢复。</a:t>
            </a:r>
          </a:p>
          <a:p xmlns:a="http://schemas.openxmlformats.org/drawingml/2006/main">
            <a:r>
              <a:t/>
            </a: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p>
          <a:p xmlns:a="http://schemas.openxmlformats.org/drawingml/2006/main">
            <a:r>
              <a:t/>
            </a:r>
          </a:p>
          <a:p xmlns:a="http://schemas.openxmlformats.org/drawingml/2006/main">
            <a:r>
              <a:t>Handoff 21 Oct: 35 minutes content plus 5 minutes Q&amp;A within the 40-minute slot. Evidence replay only. This material does not authorise a provider call or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D, with B for persistence. Target: 1 minutes</a:t>
            </a:r>
          </a:p>
          <a:p xmlns:a="http://schemas.openxmlformats.org/drawingml/2006/main">
            <a:r>
              <a:t>This is a saved screenshot of the actual local Jaeger timeline. A job submission crosses five services. The trace context is stored with the job and outbox, then carried in RabbitMQ headers. The producer and worker consumer spans remain in the same trace even though the HTTP response has already returned. This is request-level observability, separate from the business audit trail. We do not collect prompts or credentials in spans.</a:t>
            </a:r>
          </a:p>
          <a:p xmlns:a="http://schemas.openxmlformats.org/drawingml/2006/main">
            <a:r>
              <a:t>中文：这是真实本地链路的保存画面，不是新 Groq 调用；Trace ID不等于job ID。能看到排队间隔与各服务耗时。云端还未部署本轮改动。</a:t>
            </a:r>
          </a:p>
          <a:p xmlns:a="http://schemas.openxmlformats.org/drawingml/2006/main">
            <a:r>
              <a:t/>
            </a: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p>
          <a:p xmlns:a="http://schemas.openxmlformats.org/drawingml/2006/main">
            <a:r>
              <a:t/>
            </a:r>
          </a:p>
          <a:p xmlns:a="http://schemas.openxmlformats.org/drawingml/2006/main">
            <a:r>
              <a:t>Handoff 21 Oct: 35 minutes content plus 5 minutes Q&amp;A within the 40-minute slot. Evidence replay only. This material does not authorise a provider call or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D + E. Target: 1 minutes</a:t>
            </a:r>
          </a:p>
          <a:p xmlns:a="http://schemas.openxmlformats.org/drawingml/2006/main">
            <a:r>
              <a:t>The application now emits structured logs with the same trace and span identifiers. Alloy collects only the isolated verification directory, without access to the Docker socket, and Loki stores the logs centrally. We queried one trace and retrieved five services. A canary check found no injected authorization, cookie or query secret in those application logs. The dashboard also counts failure events, but we have not configured notification alerts or production retention.</a:t>
            </a:r>
          </a:p>
          <a:p xmlns:a="http://schemas.openxmlformats.org/drawingml/2006/main">
            <a:r>
              <a:t>中文：日志聚合确实入库并按trace查询，不是只开了一个空Grafana。没有告警通知、生产保留策略或云端验收。</a:t>
            </a:r>
          </a:p>
          <a:p xmlns:a="http://schemas.openxmlformats.org/drawingml/2006/main">
            <a:r>
              <a:t/>
            </a:r>
          </a:p>
          <a:p xmlns:a="http://schemas.openxmlformats.org/drawingml/2006/main">
            <a:r>
              <a:t>21 Oct timing: 1 minutes. Current supplied PDF: 40 minutes INCLUDING questions. This deck allocates 35 minutes to content + 5 minutes Q&amp;A. New circuit/tracing/log collection is local-only, not deployed to GKE. Historical model scores remain 70/75, reviewer shadowOnly / calibration_pending.</a:t>
            </a:r>
          </a:p>
          <a:p xmlns:a="http://schemas.openxmlformats.org/drawingml/2006/main">
            <a:r>
              <a:t/>
            </a:r>
          </a:p>
          <a:p xmlns:a="http://schemas.openxmlformats.org/drawingml/2006/main">
            <a:r>
              <a:t>Handoff 21 Oct: 35 minutes content plus 5 minutes Q&amp;A within the 40-minute slot. Evidence replay only. This material does not authorise a provider call or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and B: This segment uses saved evidence, not fresh model execution. Show the immutable suite, the original output and the recorded gate. Then show the recorded self-review rejection and a distinct test-identity approval. Test identities prove a technical invariant, not that a teammate independently reviewed this release. C can open Historical_Review_Replay.html to show the separate v3 experiments and the ten-case failure. Never click a real inference or approval action during this evidence-only demonstration. 中文：历史回放，测试身份不等于真人独立审核。</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 Use the dated performance and scaling evidence. Explain queue depth, worker replica counts and the failure timeline. State the run date and synthetic/replay workload. Do not present a screenshot as new load-test execution or sustained real-provider throughput. 中文：讲历史扩容实验和限制，不启动云资源或模型调用。</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A · TANG YUCHEN · Target: 3 minutes</a:t>
            </a:r>
            <a:endParaRPr/>
          </a:p>
          <a:p xmlns:a="http://schemas.openxmlformats.org/drawingml/2006/main">
            <a:r>
              <a:t/>
            </a:r>
            <a:endParaRPr/>
          </a:p>
          <a:p xmlns:a="http://schemas.openxmlformats.org/drawingml/2006/main">
            <a:r>
              <a:t>Script:</a:t>
            </a:r>
            <a:endParaRPr/>
          </a:p>
          <a:p xmlns:a="http://schemas.openxmlformats.org/drawingml/2006/main">
            <a:r>
              <a:t>D: Here are the matched CI and CD runs for the same commit: the CD workflow checked the CI run, deployed by digest, proved rollback and redeployed, with smoke tests at every stage. A: To close: we delivered a traceable evaluation and review platform, built it to scale with service-owned data, asynchronous execution and queue-driven autoscaling, and learned to keep score and gate apart, to save evidence before validating it, and to report failed experiments honestly. Thank you — we are happy to take questions.</a:t>
            </a:r>
            <a:endParaRPr/>
          </a:p>
          <a:p xmlns:a="http://schemas.openxmlformats.org/drawingml/2006/main">
            <a:r>
              <a:t/>
            </a:r>
            <a:endParaRPr/>
          </a:p>
          <a:p xmlns:a="http://schemas.openxmlformats.org/drawingml/2006/main">
            <a:r>
              <a:t>中文提示：D 展示历史 run（仅回放已保存历史运行，不触发 CI/CD）；A 用三条 take-away 收尾，留时间给 Q&amp;A。</a:t>
            </a:r>
            <a:endParaRPr/>
          </a:p>
          <a:p xmlns:a="http://schemas.openxmlformats.org/drawingml/2006/main">
            <a:r>
              <a:t/>
            </a:r>
            <a:endParaRPr/>
          </a:p>
          <a:p xmlns:a="http://schemas.openxmlformats.org/drawingml/2006/main">
            <a:r>
              <a:t>21 Oct timing: 3 minutes.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 · LIN XINDA · Target: Q&amp;A only</a:t>
            </a:r>
            <a:endParaRPr/>
          </a:p>
          <a:p xmlns:a="http://schemas.openxmlformats.org/drawingml/2006/main">
            <a:r>
              <a:t/>
            </a:r>
            <a:endParaRPr/>
          </a:p>
          <a:p xmlns:a="http://schemas.openxmlformats.org/drawingml/2006/main">
            <a:r>
              <a:t>Script:</a:t>
            </a:r>
            <a:endParaRPr/>
          </a:p>
          <a:p xmlns:a="http://schemas.openxmlformats.org/drawingml/2006/main">
            <a:r>
              <a:t>Use only if asked about model results. Keep the two reviewer runs separate and state that the reviewer is still calibration_pending and shadow-only.</a:t>
            </a:r>
            <a:endParaRPr/>
          </a:p>
          <a:p xmlns:a="http://schemas.openxmlformats.org/drawingml/2006/main">
            <a:r>
              <a:t/>
            </a:r>
            <a:endParaRPr/>
          </a:p>
          <a:p xmlns:a="http://schemas.openxmlformats.org/drawingml/2006/main">
            <a:r>
              <a:t>中文提示：只在被问到模型结果时打开；两组实验分开讲。</a:t>
            </a:r>
            <a:endParaRPr/>
          </a:p>
          <a:p xmlns:a="http://schemas.openxmlformats.org/drawingml/2006/main">
            <a:r>
              <a:t/>
            </a:r>
            <a:endParaRPr/>
          </a:p>
          <a:p xmlns:a="http://schemas.openxmlformats.org/drawingml/2006/main">
            <a:r>
              <a:t>21 Oct timing: backup / questions only.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 · LIAO BINFENG · Target: Q&amp;A only</a:t>
            </a:r>
            <a:endParaRPr/>
          </a:p>
          <a:p xmlns:a="http://schemas.openxmlformats.org/drawingml/2006/main">
            <a:r>
              <a:t/>
            </a:r>
            <a:endParaRPr/>
          </a:p>
          <a:p xmlns:a="http://schemas.openxmlformats.org/drawingml/2006/main">
            <a:r>
              <a:t>Script:</a:t>
            </a:r>
            <a:endParaRPr/>
          </a:p>
          <a:p xmlns:a="http://schemas.openxmlformats.org/drawingml/2006/main">
            <a:r>
              <a:t>Use if asked how we tested. Each layer establishes something different; none of them is a claim of semantic accuracy.</a:t>
            </a:r>
            <a:endParaRPr/>
          </a:p>
          <a:p xmlns:a="http://schemas.openxmlformats.org/drawingml/2006/main">
            <a:r>
              <a:t/>
            </a:r>
            <a:endParaRPr/>
          </a:p>
          <a:p xmlns:a="http://schemas.openxmlformats.org/drawingml/2006/main">
            <a:r>
              <a:t>中文提示：被问测试策略时打开。</a:t>
            </a:r>
            <a:endParaRPr/>
          </a:p>
          <a:p xmlns:a="http://schemas.openxmlformats.org/drawingml/2006/main">
            <a:r>
              <a:t/>
            </a:r>
            <a:endParaRPr/>
          </a:p>
          <a:p xmlns:a="http://schemas.openxmlformats.org/drawingml/2006/main">
            <a:r>
              <a:t>21 Oct timing: backup / questions only.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Q&amp;A only</a:t>
            </a:r>
            <a:endParaRPr/>
          </a:p>
          <a:p xmlns:a="http://schemas.openxmlformats.org/drawingml/2006/main">
            <a:r>
              <a:t/>
            </a:r>
            <a:endParaRPr/>
          </a:p>
          <a:p xmlns:a="http://schemas.openxmlformats.org/drawingml/2006/main">
            <a:r>
              <a:t>Script:</a:t>
            </a:r>
            <a:endParaRPr/>
          </a:p>
          <a:p xmlns:a="http://schemas.openxmlformats.org/drawingml/2006/main">
            <a:r>
              <a:t>The course covers Saga for distributed transactions. The job and outbox entry commit atomically. A publisher subsequently sends the message with broker confirmation.</a:t>
            </a:r>
            <a:endParaRPr/>
          </a:p>
          <a:p xmlns:a="http://schemas.openxmlformats.org/drawingml/2006/main">
            <a:r>
              <a:t/>
            </a:r>
            <a:endParaRPr/>
          </a:p>
          <a:p xmlns:a="http://schemas.openxmlformats.org/drawingml/2006/main">
            <a:r>
              <a:t>中文提示：老师问“为什么不用 Saga”时打开。</a:t>
            </a:r>
            <a:endParaRPr/>
          </a:p>
          <a:p xmlns:a="http://schemas.openxmlformats.org/drawingml/2006/main">
            <a:r>
              <a:t/>
            </a:r>
            <a:endParaRPr/>
          </a:p>
          <a:p xmlns:a="http://schemas.openxmlformats.org/drawingml/2006/main">
            <a:r>
              <a:t>21 Oct timing: backup / questions only.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C · Target: Q&amp;A only</a:t>
            </a:r>
            <a:endParaRPr/>
          </a:p>
          <a:p xmlns:a="http://schemas.openxmlformats.org/drawingml/2006/main">
            <a:r>
              <a:t/>
            </a:r>
            <a:endParaRPr/>
          </a:p>
          <a:p xmlns:a="http://schemas.openxmlformats.org/drawingml/2006/main">
            <a:r>
              <a:t>Script:</a:t>
            </a:r>
            <a:endParaRPr/>
          </a:p>
          <a:p xmlns:a="http://schemas.openxmlformats.org/drawingml/2006/main">
            <a:r>
              <a:t>A score is one condition; the gate is the intersection of all conditions, and review is a separate later step.</a:t>
            </a:r>
            <a:endParaRPr/>
          </a:p>
          <a:p xmlns:a="http://schemas.openxmlformats.org/drawingml/2006/main">
            <a:r>
              <a:t/>
            </a:r>
            <a:endParaRPr/>
          </a:p>
          <a:p xmlns:a="http://schemas.openxmlformats.org/drawingml/2006/main">
            <a:r>
              <a:t>中文提示：分数和硬条件取交集，审核是下一步。</a:t>
            </a:r>
            <a:endParaRPr/>
          </a:p>
          <a:p xmlns:a="http://schemas.openxmlformats.org/drawingml/2006/main">
            <a:r>
              <a:t/>
            </a:r>
            <a:endParaRPr/>
          </a:p>
          <a:p xmlns:a="http://schemas.openxmlformats.org/drawingml/2006/main">
            <a:r>
              <a:t>21 Oct timing: backup / questions only. Current supplied PDF: 40 minutes INCLUDING questions. This deck allocates 35 minutes to content + 5 minutes Q&amp;A. New circuit/tracing/log collection is local-only, not deployed to GKE. Historical model scores remain 70/75, reviewer shadowOnly / calibration_pending.</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analysis and presentation preparation used AI assistance. Reference labels include project AI annotations and are not verified human blind review. Planned responsibilities are retained, but actual hours and independent approval must come from the members. Do not claim a completed five-person rehearsal or UAT without records.</a:t>
            </a:r>
            <a:endParaRPr/>
          </a:p>
          <a:p xmlns:a="http://schemas.openxmlformats.org/drawingml/2006/main">
            <a:r>
              <a:t/>
            </a:r>
            <a:endParaRPr/>
          </a:p>
          <a:p xmlns:a="http://schemas.openxmlformats.org/drawingml/2006/main">
            <a:r>
              <a:t>Handoff 21 Oct: 35 minutes content plus 5 minutes Q&amp;A within the 40-minute slot. Evidence replay only. This material does not authorise a provider call or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Show these as four distinct rows, not a combined 30/30 claim. Wire v3 is the transport protocol. r2 is a later rule-definition refinement using unchanged wire v3, not a new validated semantic model. Original customer-generation scores 70/75 are another experiment entirely. 中文：每行版本独立，不互相继承。</a:t>
            </a:r>
          </a:p>
          <a:p xmlns:a="http://schemas.openxmlformats.org/drawingml/2006/main">
            <a:r>
              <a:t/>
            </a:r>
          </a:p>
          <a:p xmlns:a="http://schemas.openxmlformats.org/drawingml/2006/main">
            <a:r>
              <a:t>Handoff 21 Oct: 35 minutes content plus 5 minutes Q&amp;A within the 40-minute slot. Evidence replay only. This material does not authorise a provider call or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The reviewer identified the exact policy contradiction in case ten. This is not unrelated blocking or a dangerous answer being allowed. But STANDARD_POLICY was still passed, and the pre-frozen acceptance required that rule ID to fail. Keep the failure, do not remap the output. Usage: 30,188 input plus 11,882 output, total 42,070 tokens. One call per reference, no retries. Source: docs/evidence/hybrid-wire-v3-targeted-pairs-2026-10-21/FINAL-RESULT.json and POSTRUN-INTERPRETATION.txt. 中文：阻断5/5，但指定规则4/5，仍失败。</a:t>
            </a:r>
          </a:p>
          <a:p xmlns:a="http://schemas.openxmlformats.org/drawingml/2006/main">
            <a:r>
              <a:t/>
            </a:r>
          </a:p>
          <a:p xmlns:a="http://schemas.openxmlformats.org/drawingml/2006/main">
            <a:r>
              <a:t>Handoff 21 Oct: 35 minutes content plus 5 minutes Q&amp;A within the 40-minute slot. Evidence replay only. This material does not authorise a provider call or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We completed a definition refinement after the failed ten-case run. It distinguishes statement completeness, whole-answer consistency and assertion ownership. Offline program checks confirm the definition enters the request, exact source answers stay unchanged and synthetic statuses are not rewritten. We have not asked a real model to use r2. These references are AI annotations, not model scores. Source: docs/evidence/standard-policy-review-r2-offline-2026-10-21/FINAL-OFFLINE-VERIFICATION.json. 中文：定义改进已完成，真实理解验证未做；候选未启用。</a:t>
            </a:r>
          </a:p>
          <a:p xmlns:a="http://schemas.openxmlformats.org/drawingml/2006/main">
            <a:r>
              <a:t/>
            </a:r>
          </a:p>
          <a:p xmlns:a="http://schemas.openxmlformats.org/drawingml/2006/main">
            <a:r>
              <a:t>Handoff 21 Oct: 35 minutes content plus 5 minutes Q&amp;A within the 40-minute slot. Evidence replay only. This material does not authorise a provider call or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a42016e70943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b91fbe0ffe43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9d787350664e8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_DARK">
    <p:bg>
      <p:bgPr>
        <a:solidFill xmlns:a="http://schemas.openxmlformats.org/drawingml/2006/main">
          <a:srgbClr val="173F7E"/>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326391-7DD2-495B-85C0-18FE30C8B9B6}"/>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2800" b="1">
                <a:solidFill>
                  <a:srgbClr val="173F7E"/>
                </a:solidFill>
                <a:latin typeface="Arial"/>
                <a:ea typeface="Arial"/>
                <a:cs typeface="Arial"/>
              </a:defRPr>
            </a:lvl1pPr>
          </a:lstStyle>
          <a:p xmlns:a="http://schemas.openxmlformats.org/drawingml/2006/main">
            <a:pPr marL="0" indent="0" algn="l">
              <a:buNone/>
            </a:pPr>
            <a:endParaRPr sz="2800"/>
          </a:p>
        </p:txBody>
      </p:sp>
      <p:sp>
        <p:nvSpPr>
          <p:cNvPr id="3" name="Text 0">
            <a:extLst xmlns:a="http://schemas.openxmlformats.org/drawingml/2006/main">
              <a:ext uri="{FF2B5EF4-FFF2-40B4-BE49-F238E27FC236}">
                <a16:creationId xmlns:a16="http://schemas.microsoft.com/office/drawing/2014/main" id="{4DEC1131-F3D3-40CF-A3A0-568B6C28D421}"/>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08080"/>
                </a:solidFill>
                <a:latin typeface="Arial"/>
                <a:ea typeface="Arial"/>
                <a:cs typeface="Arial"/>
              </a:rPr>
              <a:t>SE34FT · Team 13 · ReleaseGuard</a:t>
            </a:r>
            <a:endParaRPr sz="1000"/>
          </a:p>
        </p:txBody>
      </p:sp>
      <p:sp>
        <p:nvSpPr>
          <p:cNvPr id="25" name="Slide Number Placeholder 0">
            <a:extLst xmlns:a="http://schemas.openxmlformats.org/drawingml/2006/main">
              <a:ext uri="{FF2B5EF4-FFF2-40B4-BE49-F238E27FC236}">
                <a16:creationId xmlns:a16="http://schemas.microsoft.com/office/drawing/2014/main" id="{9F98515A-DDE9-4944-A872-B6CD77FC6597}"/>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F7021451-1387-4CA6-816F-3879F97B5CBC}" type="slidenum">
              <a:rPr b="0"/>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edebeaf6cf41e0" /><Relationship Type="http://schemas.openxmlformats.org/officeDocument/2006/relationships/slideLayout" Target="/ppt/slideLayouts/slideLayout1.xml" Id="R9be83afe98ab401a" /><Relationship Type="http://schemas.openxmlformats.org/officeDocument/2006/relationships/slideLayout" Target="/ppt/slideLayouts/slideLayout2.xml" Id="Ra9cc950330ea4f18" /><Relationship Type="http://schemas.openxmlformats.org/officeDocument/2006/relationships/slideLayout" Target="/ppt/slideLayouts/slideLayout3.xml" Id="Rbf0a1c765d3f40f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9E8D7372-7B84-4406-B949-36842CBFA30A}"/>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e83afe98ab401a"/>
    <p:sldLayoutId xmlns:r="http://schemas.openxmlformats.org/officeDocument/2006/relationships" id="2147483650" r:id="Ra9cc950330ea4f18"/>
    <p:sldLayoutId xmlns:r="http://schemas.openxmlformats.org/officeDocument/2006/relationships" id="2147483651" r:id="Rbf0a1c765d3f40f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ReleaseGuard NUS">
  <a:themeElements>
    <a:clrScheme name="ReleaseGuard NUS">
      <a:dk1>
        <a:srgbClr val="1A1A1A"/>
      </a:dk1>
      <a:lt1>
        <a:srgbClr val="FFFFFF"/>
      </a:lt1>
      <a:dk2>
        <a:srgbClr val="173F7E"/>
      </a:dk2>
      <a:lt2>
        <a:srgbClr val="EEF3FA"/>
      </a:lt2>
      <a:accent1>
        <a:srgbClr val="4882DE"/>
      </a:accent1>
      <a:accent2>
        <a:srgbClr val="7ACFF5"/>
      </a:accent2>
      <a:accent3>
        <a:srgbClr val="F2873A"/>
      </a:accent3>
      <a:accent4>
        <a:srgbClr val="13B8CC"/>
      </a:accent4>
      <a:accent5>
        <a:srgbClr val="EC5A9D"/>
      </a:accent5>
      <a:accent6>
        <a:srgbClr val="2E9B3A"/>
      </a:accent6>
      <a:hlink>
        <a:srgbClr val="0070C0"/>
      </a:hlink>
      <a:folHlink>
        <a:srgbClr val="7F3F98"/>
      </a:folHlink>
    </a:clrScheme>
    <a:fontScheme name="ReleaseGuard N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leaseGuard NU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2f73666fb4484713" /><Relationship Type="http://schemas.openxmlformats.org/officeDocument/2006/relationships/notesSlide" Target="/ppt/notesSlides/notesSlide1.xml" Id="Rc210bab5b1e247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5351d555ac864a3c" /><Relationship Type="http://schemas.openxmlformats.org/officeDocument/2006/relationships/image" Target="/ppt/media/image.png" Id="Re94037b40f4d45cb" /><Relationship Type="http://schemas.openxmlformats.org/officeDocument/2006/relationships/notesSlide" Target="/ppt/notesSlides/notesSlide2.xml" Id="Rd295ff64a3ca42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daa0305622bc429c" /><Relationship Type="http://schemas.openxmlformats.org/officeDocument/2006/relationships/image" Target="/ppt/media/image2.png" Id="R47d07fa336044713" /><Relationship Type="http://schemas.openxmlformats.org/officeDocument/2006/relationships/notesSlide" Target="/ppt/notesSlides/notesSlide3.xml" Id="Ra2df8540e99e48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458d77af305d439c" /><Relationship Type="http://schemas.openxmlformats.org/officeDocument/2006/relationships/notesSlide" Target="/ppt/notesSlides/notesSlide4.xml" Id="Rbd1194ceea1841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39fd90ab436c407e" /><Relationship Type="http://schemas.openxmlformats.org/officeDocument/2006/relationships/notesSlide" Target="/ppt/notesSlides/notesSlide5.xml" Id="R8a247c61998942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6734c9de263d4b17" /><Relationship Type="http://schemas.openxmlformats.org/officeDocument/2006/relationships/image" Target="/ppt/media/image3.png" Id="Rb121e1df30bb4cf1" /><Relationship Type="http://schemas.openxmlformats.org/officeDocument/2006/relationships/notesSlide" Target="/ppt/notesSlides/notesSlide6.xml" Id="R0487dcd0ae5446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78764f5fe5384ab6" /><Relationship Type="http://schemas.openxmlformats.org/officeDocument/2006/relationships/image" Target="/ppt/media/image4.png" Id="R07e942813b8c4227" /><Relationship Type="http://schemas.openxmlformats.org/officeDocument/2006/relationships/notesSlide" Target="/ppt/notesSlides/notesSlide7.xml" Id="R0469abf8c8d745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789a8957da0e4b77" /><Relationship Type="http://schemas.openxmlformats.org/officeDocument/2006/relationships/image" Target="/ppt/media/image5.png" Id="Rfca14d62273344e6" /><Relationship Type="http://schemas.openxmlformats.org/officeDocument/2006/relationships/notesSlide" Target="/ppt/notesSlides/notesSlide8.xml" Id="R664b193a25234c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f4e31daaf3374add" /><Relationship Type="http://schemas.openxmlformats.org/officeDocument/2006/relationships/image" Target="/ppt/media/image6.png" Id="Rd0b5ca40874e4a6b" /><Relationship Type="http://schemas.openxmlformats.org/officeDocument/2006/relationships/notesSlide" Target="/ppt/notesSlides/notesSlide9.xml" Id="Raa6e0cfde53744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7b2d847bfd544ba0" /><Relationship Type="http://schemas.openxmlformats.org/officeDocument/2006/relationships/notesSlide" Target="/ppt/notesSlides/notesSlide10.xml" Id="R7f1dde5b05de4a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d742fe2f12e74ae2" /><Relationship Type="http://schemas.openxmlformats.org/officeDocument/2006/relationships/image" Target="/ppt/media/image7.png" Id="R6f2d2d723d1e41bf" /><Relationship Type="http://schemas.openxmlformats.org/officeDocument/2006/relationships/notesSlide" Target="/ppt/notesSlides/notesSlide11.xml" Id="R132dfa36406e4f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9b47902011424f8c" /><Relationship Type="http://schemas.openxmlformats.org/officeDocument/2006/relationships/image" Target="/ppt/media/image8.png" Id="Rc6be937777bf4ca5" /><Relationship Type="http://schemas.openxmlformats.org/officeDocument/2006/relationships/notesSlide" Target="/ppt/notesSlides/notesSlide12.xml" Id="R7ec49eae2bba43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05711ed831194228" /><Relationship Type="http://schemas.openxmlformats.org/officeDocument/2006/relationships/image" Target="/ppt/media/image9.png" Id="R5cb0d22a63f04b9c" /><Relationship Type="http://schemas.openxmlformats.org/officeDocument/2006/relationships/notesSlide" Target="/ppt/notesSlides/notesSlide13.xml" Id="R493f4a4265f440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b2e16d8a0d1f4b22" /><Relationship Type="http://schemas.openxmlformats.org/officeDocument/2006/relationships/image" Target="/ppt/media/image10.png" Id="Rbb86f2cf749f46cd" /><Relationship Type="http://schemas.openxmlformats.org/officeDocument/2006/relationships/notesSlide" Target="/ppt/notesSlides/notesSlide14.xml" Id="R3c6b53f798324e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d1038fc3ed9d40ac" /><Relationship Type="http://schemas.openxmlformats.org/officeDocument/2006/relationships/image" Target="/ppt/media/image11.png" Id="R5371ad0c9f564203" /><Relationship Type="http://schemas.openxmlformats.org/officeDocument/2006/relationships/image" Target="/ppt/media/image12.png" Id="Rbb776f17c4144ad3" /><Relationship Type="http://schemas.openxmlformats.org/officeDocument/2006/relationships/notesSlide" Target="/ppt/notesSlides/notesSlide15.xml" Id="R6627fef45ee94ca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2b7a0f5e9a634e9f" /><Relationship Type="http://schemas.openxmlformats.org/officeDocument/2006/relationships/notesSlide" Target="/ppt/notesSlides/notesSlide16.xml" Id="R94d0aa3fd3ac499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fc3e25bb48c4180" /><Relationship Type="http://schemas.openxmlformats.org/officeDocument/2006/relationships/notesSlide" Target="/ppt/notesSlides/notesSlide17.xml" Id="Rb2f83b2035ce4d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d1dd08292d04604" /><Relationship Type="http://schemas.openxmlformats.org/officeDocument/2006/relationships/image" Target="/ppt/media/image13.png" Id="R558bef3de5c0412d" /><Relationship Type="http://schemas.openxmlformats.org/officeDocument/2006/relationships/notesSlide" Target="/ppt/notesSlides/notesSlide18.xml" Id="R3aa3fb54d65448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facd6044f3c49d7" /><Relationship Type="http://schemas.openxmlformats.org/officeDocument/2006/relationships/image" Target="/ppt/media/image14.png" Id="R47a1d17a3f304c5f" /><Relationship Type="http://schemas.openxmlformats.org/officeDocument/2006/relationships/notesSlide" Target="/ppt/notesSlides/notesSlide19.xml" Id="Racc3d4434d3640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1a97be731b63482f" /><Relationship Type="http://schemas.openxmlformats.org/officeDocument/2006/relationships/image" Target="/ppt/media/image15.png" Id="R23a7e8825f78437a" /><Relationship Type="http://schemas.openxmlformats.org/officeDocument/2006/relationships/image" Target="/ppt/media/image16.png" Id="R626bb41f4cd242a4" /><Relationship Type="http://schemas.openxmlformats.org/officeDocument/2006/relationships/notesSlide" Target="/ppt/notesSlides/notesSlide20.xml" Id="R80cddbaff27a49c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d256b11168cd460c" /><Relationship Type="http://schemas.openxmlformats.org/officeDocument/2006/relationships/image" Target="/ppt/media/image17.png" Id="R134671acc8974792" /><Relationship Type="http://schemas.openxmlformats.org/officeDocument/2006/relationships/notesSlide" Target="/ppt/notesSlides/notesSlide21.xml" Id="R2fa93453b1e7464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f370a119b6034f21" /><Relationship Type="http://schemas.openxmlformats.org/officeDocument/2006/relationships/image" Target="/ppt/media/image18.png" Id="R81f6e191a13f42bb" /><Relationship Type="http://schemas.openxmlformats.org/officeDocument/2006/relationships/notesSlide" Target="/ppt/notesSlides/notesSlide22.xml" Id="Rfa16baf0183e499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5a680dfbf26d45a0" /><Relationship Type="http://schemas.openxmlformats.org/officeDocument/2006/relationships/notesSlide" Target="/ppt/notesSlides/notesSlide23.xml" Id="R851ff727da1e42e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bc4b77216e6749ac" /><Relationship Type="http://schemas.openxmlformats.org/officeDocument/2006/relationships/notesSlide" Target="/ppt/notesSlides/notesSlide24.xml" Id="R1f8462bc24a7464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46adaf290199400a" /><Relationship Type="http://schemas.openxmlformats.org/officeDocument/2006/relationships/notesSlide" Target="/ppt/notesSlides/notesSlide25.xml" Id="R3d72c02f0c1244d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88ac00d3f913494a" /><Relationship Type="http://schemas.openxmlformats.org/officeDocument/2006/relationships/notesSlide" Target="/ppt/notesSlides/notesSlide26.xml" Id="R1ef3abb6d6c1400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8319815ef6ef41bd" /><Relationship Type="http://schemas.openxmlformats.org/officeDocument/2006/relationships/notesSlide" Target="/ppt/notesSlides/notesSlide27.xml" Id="Rf2d93ce2d4de4e4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6cc7b7d0d424d30" /><Relationship Type="http://schemas.openxmlformats.org/officeDocument/2006/relationships/notesSlide" Target="/ppt/notesSlides/notesSlide28.xml" Id="R9ccb54be850c4c9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e59d70470a64ee6" /><Relationship Type="http://schemas.openxmlformats.org/officeDocument/2006/relationships/notesSlide" Target="/ppt/notesSlides/notesSlide29.xml" Id="Racde91995f874b0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29715ee5bba4cfb" /><Relationship Type="http://schemas.openxmlformats.org/officeDocument/2006/relationships/notesSlide" Target="/ppt/notesSlides/notesSlide30.xml" Id="Rb996a10e549f48e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logo tile">
            <a:extLst xmlns:a="http://schemas.openxmlformats.org/drawingml/2006/main">
              <a:ext uri="{FF2B5EF4-FFF2-40B4-BE49-F238E27FC236}">
                <a16:creationId xmlns:a16="http://schemas.microsoft.com/office/drawing/2014/main" id="{9B9E5DDD-1660-4B3F-9D1C-A1A17221F9C7}"/>
              </a:ext>
            </a:extLst>
          </p:cNvPr>
          <p:cNvSpPr>
            <a:spLocks xmlns:a="http://schemas.openxmlformats.org/drawingml/2006/main" noGrp="1"/>
          </p:cNvSpPr>
          <p:nvPr/>
        </p:nvSpPr>
        <p:spPr>
          <a:xfrm xmlns:a="http://schemas.openxmlformats.org/drawingml/2006/main">
            <a:off x="731520" y="1417320"/>
            <a:ext cx="914400" cy="914400"/>
          </a:xfrm>
          <a:prstGeom xmlns:a="http://schemas.openxmlformats.org/drawingml/2006/main" prst="roundRect">
            <a:avLst>
              <a:gd name="adj" fmla="val 18000"/>
            </a:avLst>
          </a:prstGeom>
          <a:solidFill xmlns:a="http://schemas.openxmlformats.org/drawingml/2006/main">
            <a:srgbClr val="1F6E6A"/>
          </a:solidFill>
          <a:ln xmlns:a="http://schemas.openxmlformats.org/drawingml/2006/main" w="12700">
            <a:solidFill>
              <a:srgbClr val="1F6E6A"/>
            </a:solidFill>
            <a:prstDash val="solid"/>
          </a:ln>
        </p:spPr>
      </p:sp>
      <p:sp>
        <p:nvSpPr>
          <p:cNvPr id="3" name="logo text">
            <a:extLst xmlns:a="http://schemas.openxmlformats.org/drawingml/2006/main">
              <a:ext uri="{FF2B5EF4-FFF2-40B4-BE49-F238E27FC236}">
                <a16:creationId xmlns:a16="http://schemas.microsoft.com/office/drawing/2014/main" id="{E7DBF248-4A1D-47DD-A6D7-E7CFF299A8A5}"/>
              </a:ext>
            </a:extLst>
          </p:cNvPr>
          <p:cNvSpPr>
            <a:spLocks xmlns:a="http://schemas.openxmlformats.org/drawingml/2006/main" noGrp="1"/>
          </p:cNvSpPr>
          <p:nvPr/>
        </p:nvSpPr>
        <p:spPr>
          <a:xfrm xmlns:a="http://schemas.openxmlformats.org/drawingml/2006/main">
            <a:off x="731520" y="1417320"/>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FFFFFF"/>
                </a:solidFill>
              </a:rPr>
              <a:t>rg</a:t>
            </a:r>
            <a:endParaRPr sz="3400"/>
          </a:p>
        </p:txBody>
      </p:sp>
      <p:sp>
        <p:nvSpPr>
          <p:cNvPr id="4" name="deck title">
            <a:extLst xmlns:a="http://schemas.openxmlformats.org/drawingml/2006/main">
              <a:ext uri="{FF2B5EF4-FFF2-40B4-BE49-F238E27FC236}">
                <a16:creationId xmlns:a16="http://schemas.microsoft.com/office/drawing/2014/main" id="{E2AE8930-05FC-4E76-9A00-FBD515EDF3E9}"/>
              </a:ext>
            </a:extLst>
          </p:cNvPr>
          <p:cNvSpPr>
            <a:spLocks xmlns:a="http://schemas.openxmlformats.org/drawingml/2006/main" noGrp="1"/>
          </p:cNvSpPr>
          <p:nvPr/>
        </p:nvSpPr>
        <p:spPr>
          <a:xfrm xmlns:a="http://schemas.openxmlformats.org/drawingml/2006/main">
            <a:off x="1874520" y="1325880"/>
            <a:ext cx="82296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rPr>
              <a:t>ReleaseGuard</a:t>
            </a:r>
            <a:endParaRPr sz="5400"/>
          </a:p>
        </p:txBody>
      </p:sp>
      <p:sp>
        <p:nvSpPr>
          <p:cNvPr id="5" name="subtitle">
            <a:extLst xmlns:a="http://schemas.openxmlformats.org/drawingml/2006/main">
              <a:ext uri="{FF2B5EF4-FFF2-40B4-BE49-F238E27FC236}">
                <a16:creationId xmlns:a16="http://schemas.microsoft.com/office/drawing/2014/main" id="{4336A2CB-48F4-4A2C-B552-CF5D81E65D2C}"/>
              </a:ext>
            </a:extLst>
          </p:cNvPr>
          <p:cNvSpPr>
            <a:spLocks xmlns:a="http://schemas.openxmlformats.org/drawingml/2006/main" noGrp="1"/>
          </p:cNvSpPr>
          <p:nvPr/>
        </p:nvSpPr>
        <p:spPr>
          <a:xfrm xmlns:a="http://schemas.openxmlformats.org/drawingml/2006/main">
            <a:off x="731520" y="2606040"/>
            <a:ext cx="10515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CADCFC"/>
                </a:solidFill>
              </a:rPr>
              <a:t>Evidence-backed release review for AI-assisted applications</a:t>
            </a:r>
            <a:endParaRPr sz="2400"/>
          </a:p>
        </p:txBody>
      </p:sp>
      <p:sp>
        <p:nvSpPr>
          <p:cNvPr id="6" name="course line">
            <a:extLst xmlns:a="http://schemas.openxmlformats.org/drawingml/2006/main">
              <a:ext uri="{FF2B5EF4-FFF2-40B4-BE49-F238E27FC236}">
                <a16:creationId xmlns:a16="http://schemas.microsoft.com/office/drawing/2014/main" id="{1946BFF5-692F-4316-BD3D-DA2024E18F3A}"/>
              </a:ext>
            </a:extLst>
          </p:cNvPr>
          <p:cNvSpPr>
            <a:spLocks xmlns:a="http://schemas.openxmlformats.org/drawingml/2006/main" noGrp="1"/>
          </p:cNvSpPr>
          <p:nvPr/>
        </p:nvSpPr>
        <p:spPr>
          <a:xfrm xmlns:a="http://schemas.openxmlformats.org/drawingml/2006/main">
            <a:off x="731520" y="3291840"/>
            <a:ext cx="10515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rPr>
              <a:t>SE34FT Team 13 · Practice Project, Graduate Certificate in Architecting Scalable Systems</a:t>
            </a:r>
            <a:endParaRPr sz="1600"/>
          </a:p>
        </p:txBody>
      </p:sp>
      <p:sp>
        <p:nvSpPr>
          <p:cNvPr id="7" name="team panel">
            <a:extLst xmlns:a="http://schemas.openxmlformats.org/drawingml/2006/main">
              <a:ext uri="{FF2B5EF4-FFF2-40B4-BE49-F238E27FC236}">
                <a16:creationId xmlns:a16="http://schemas.microsoft.com/office/drawing/2014/main" id="{B04D7345-031F-4D17-9BD6-18EBAD58B953}"/>
              </a:ext>
            </a:extLst>
          </p:cNvPr>
          <p:cNvSpPr>
            <a:spLocks xmlns:a="http://schemas.openxmlformats.org/drawingml/2006/main" noGrp="1"/>
          </p:cNvSpPr>
          <p:nvPr/>
        </p:nvSpPr>
        <p:spPr>
          <a:xfrm xmlns:a="http://schemas.openxmlformats.org/drawingml/2006/main">
            <a:off x="731520" y="4160520"/>
            <a:ext cx="10698480" cy="1234440"/>
          </a:xfrm>
          <a:prstGeom xmlns:a="http://schemas.openxmlformats.org/drawingml/2006/main" prst="rect">
            <a:avLst/>
          </a:prstGeom>
          <a:solidFill xmlns:a="http://schemas.openxmlformats.org/drawingml/2006/main">
            <a:srgbClr val="21508F"/>
          </a:solidFill>
          <a:ln xmlns:a="http://schemas.openxmlformats.org/drawingml/2006/main" w="12700">
            <a:solidFill>
              <a:srgbClr val="21508F"/>
            </a:solidFill>
            <a:prstDash val="solid"/>
          </a:ln>
        </p:spPr>
      </p:sp>
      <p:sp>
        <p:nvSpPr>
          <p:cNvPr id="8" name="team names">
            <a:extLst xmlns:a="http://schemas.openxmlformats.org/drawingml/2006/main">
              <a:ext uri="{FF2B5EF4-FFF2-40B4-BE49-F238E27FC236}">
                <a16:creationId xmlns:a16="http://schemas.microsoft.com/office/drawing/2014/main" id="{BD837E8B-936D-4AEF-A55E-893D9B786AAC}"/>
              </a:ext>
            </a:extLst>
          </p:cNvPr>
          <p:cNvSpPr>
            <a:spLocks xmlns:a="http://schemas.openxmlformats.org/drawingml/2006/main" noGrp="1"/>
          </p:cNvSpPr>
          <p:nvPr/>
        </p:nvSpPr>
        <p:spPr>
          <a:xfrm xmlns:a="http://schemas.openxmlformats.org/drawingml/2006/main">
            <a:off x="960120" y="4251960"/>
            <a:ext cx="1024128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FFFFF"/>
                </a:solidFill>
              </a:rPr>
              <a:t>TANG YUCHEN · ZHU PENGXU · LIN XINDA · LIAO CAN · LIAO BINFENG</a:t>
            </a:r>
            <a:endParaRPr sz="1700"/>
          </a:p>
          <a:p xmlns:a="http://schemas.openxmlformats.org/drawingml/2006/main">
            <a:pPr marL="0" indent="0">
              <a:buNone/>
            </a:pPr>
            <a:r>
              <a:rPr sz="1500">
                <a:solidFill>
                  <a:srgbClr val="CADCFC"/>
                </a:solidFill>
              </a:rPr>
              <a:t>26 October 2026 · 9:45–10:25 · Zoom</a:t>
            </a:r>
            <a:endParaRPr sz="1700"/>
          </a:p>
        </p:txBody>
      </p:sp>
    </p:spTree>
    <p:extLst>
      <p:ext uri="{BB962C8B-B14F-4D97-AF65-F5344CB8AC3E}">
        <p14:creationId xmlns:p14="http://schemas.microsoft.com/office/powerpoint/2010/main" val="7583100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B4EA5F-F7AE-446A-9274-9825E97AAA6D}"/>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A fluent answer can still break the policy</a:t>
            </a:r>
            <a:endParaRPr sz="2800"/>
          </a:p>
        </p:txBody>
      </p:sp>
      <p:sp>
        <p:nvSpPr>
          <p:cNvPr id="3" name="section tag">
            <a:extLst xmlns:a="http://schemas.openxmlformats.org/drawingml/2006/main">
              <a:ext uri="{FF2B5EF4-FFF2-40B4-BE49-F238E27FC236}">
                <a16:creationId xmlns:a16="http://schemas.microsoft.com/office/drawing/2014/main" id="{9789405A-E1F3-40B5-9578-5FA9AE4F96A8}"/>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1 · Overview</a:t>
            </a:r>
            <a:endParaRPr sz="1200"/>
          </a:p>
        </p:txBody>
      </p:sp>
      <p:sp>
        <p:nvSpPr>
          <p:cNvPr id="4" name="problem text">
            <a:extLst xmlns:a="http://schemas.openxmlformats.org/drawingml/2006/main">
              <a:ext uri="{FF2B5EF4-FFF2-40B4-BE49-F238E27FC236}">
                <a16:creationId xmlns:a16="http://schemas.microsoft.com/office/drawing/2014/main" id="{E25138E6-65B3-409D-9E44-FCC4C623AF8B}"/>
              </a:ext>
            </a:extLst>
          </p:cNvPr>
          <p:cNvSpPr>
            <a:spLocks xmlns:a="http://schemas.openxmlformats.org/drawingml/2006/main" noGrp="1"/>
          </p:cNvSpPr>
          <p:nvPr/>
        </p:nvSpPr>
        <p:spPr>
          <a:xfrm xmlns:a="http://schemas.openxmlformats.org/drawingml/2006/main">
            <a:off x="457200" y="1234440"/>
            <a:ext cx="5120640" cy="4846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3F7E"/>
                </a:solidFill>
              </a:rPr>
              <a:t>Business problem</a:t>
            </a:r>
            <a:endParaRPr sz="1800"/>
          </a:p>
          <a:p xmlns:a="http://schemas.openxmlformats.org/drawingml/2006/main">
            <a:pPr marL="342900" indent="-342900">
              <a:spcAft>
                <a:spcPts val="800"/>
              </a:spcAft>
              <a:buSzPct val="100000"/>
              <a:buChar char="•"/>
            </a:pPr>
            <a:r>
              <a:rPr sz="1500">
                <a:solidFill>
                  <a:srgbClr val="000000"/>
                </a:solidFill>
              </a:rPr>
              <a:t>Small teams change the prompt of an AI support assistant and must re-run the same acceptance cases, keeping the exact outputs and review decisions.</a:t>
            </a:r>
            <a:endParaRPr sz="1800"/>
          </a:p>
          <a:p xmlns:a="http://schemas.openxmlformats.org/drawingml/2006/main">
            <a:pPr marL="342900" indent="-342900">
              <a:spcAft>
                <a:spcPts val="800"/>
              </a:spcAft>
              <a:buSzPct val="100000"/>
              <a:buChar char="•"/>
            </a:pPr>
            <a:r>
              <a:rPr sz="1500">
                <a:solidFill>
                  <a:srgbClr val="000000"/>
                </a:solidFill>
              </a:rPr>
              <a:t>A fluent answer is not a compliant one: “Returns are accepted forever.” reads well but violates the returns policy.</a:t>
            </a:r>
            <a:endParaRPr sz="1800"/>
          </a:p>
          <a:p xmlns:a="http://schemas.openxmlformats.org/drawingml/2006/main">
            <a:pPr marL="342900" indent="-342900">
              <a:spcAft>
                <a:spcPts val="1400"/>
              </a:spcAft>
              <a:buSzPct val="100000"/>
              <a:buChar char="•"/>
            </a:pPr>
            <a:r>
              <a:rPr sz="1500">
                <a:solidFill>
                  <a:srgbClr val="000000"/>
                </a:solidFill>
              </a:rPr>
              <a:t>Running model cases inside a synchronous request suffers from provider latency and bursts, so evaluation must be asynchronous and horizontally scalable.</a:t>
            </a:r>
            <a:endParaRPr sz="1800"/>
          </a:p>
          <a:p xmlns:a="http://schemas.openxmlformats.org/drawingml/2006/main">
            <a:pPr marL="0" indent="0">
              <a:buNone/>
            </a:pPr>
            <a:r>
              <a:rPr sz="1800" b="1">
                <a:solidFill>
                  <a:srgbClr val="173F7E"/>
                </a:solidFill>
              </a:rPr>
              <a:t>Representative scenario</a:t>
            </a:r>
            <a:endParaRPr sz="1800"/>
          </a:p>
          <a:p xmlns:a="http://schemas.openxmlformats.org/drawingml/2006/main">
            <a:pPr marL="0" indent="0">
              <a:buNone/>
            </a:pPr>
            <a:r>
              <a:rPr sz="1500">
                <a:solidFill>
                  <a:srgbClr val="000000"/>
                </a:solidFill>
              </a:rPr>
              <a:t>A fictional retailer’s returns assistant · 10 fixed cases · prompt v1 vs v2</a:t>
            </a:r>
            <a:endParaRPr sz="1800"/>
          </a:p>
        </p:txBody>
      </p:sp>
      <p:pic>
        <p:nvPicPr>
          <p:cNvPr id="5" name="blocked candidate screenshot">
            <a:extLst xmlns:a="http://schemas.openxmlformats.org/drawingml/2006/main">
              <a:ext uri="{FF2B5EF4-FFF2-40B4-BE49-F238E27FC236}">
                <a16:creationId xmlns:a16="http://schemas.microsoft.com/office/drawing/2014/main" id="{8BE8587C-8D4D-45D5-8C73-3AA1A74B0713}"/>
              </a:ext>
            </a:extLst>
          </p:cNvPr>
          <p:cNvPicPr>
            <a:picLocks xmlns:a="http://schemas.openxmlformats.org/drawingml/2006/main" noChangeAspect="1"/>
          </p:cNvPicPr>
          <p:nvPr/>
        </p:nvPicPr>
        <p:blipFill>
          <a:blip xmlns:r="http://schemas.openxmlformats.org/officeDocument/2006/relationships" xmlns:a="http://schemas.openxmlformats.org/drawingml/2006/main" r:embed="Re94037b40f4d45cb"/>
          <a:stretch xmlns:a="http://schemas.openxmlformats.org/drawingml/2006/main">
            <a:fillRect l="0" t="0" r="0" b="0"/>
          </a:stretch>
        </p:blipFill>
        <p:spPr>
          <a:xfrm xmlns:a="http://schemas.openxmlformats.org/drawingml/2006/main">
            <a:off x="5943600" y="1325880"/>
            <a:ext cx="5788152" cy="3384597"/>
          </a:xfrm>
          <a:prstGeom xmlns:a="http://schemas.openxmlformats.org/drawingml/2006/main" prst="rect">
            <a:avLst/>
          </a:prstGeom>
        </p:spPr>
      </p:pic>
      <p:sp>
        <p:nvSpPr>
          <p:cNvPr id="6" name="screenshot frame">
            <a:extLst xmlns:a="http://schemas.openxmlformats.org/drawingml/2006/main">
              <a:ext uri="{FF2B5EF4-FFF2-40B4-BE49-F238E27FC236}">
                <a16:creationId xmlns:a16="http://schemas.microsoft.com/office/drawing/2014/main" id="{AA814D40-D359-4777-A36B-AF98C21AE4DD}"/>
              </a:ext>
            </a:extLst>
          </p:cNvPr>
          <p:cNvSpPr>
            <a:spLocks xmlns:a="http://schemas.openxmlformats.org/drawingml/2006/main" noGrp="1"/>
          </p:cNvSpPr>
          <p:nvPr/>
        </p:nvSpPr>
        <p:spPr>
          <a:xfrm xmlns:a="http://schemas.openxmlformats.org/drawingml/2006/main">
            <a:off x="5943600" y="1325880"/>
            <a:ext cx="5788152" cy="3384597"/>
          </a:xfrm>
          <a:prstGeom xmlns:a="http://schemas.openxmlformats.org/drawingml/2006/main" prst="rect">
            <a:avLst/>
          </a:prstGeom>
          <a:ln xmlns:a="http://schemas.openxmlformats.org/drawingml/2006/main" w="12700">
            <a:solidFill>
              <a:srgbClr val="BFBFBF"/>
            </a:solidFill>
            <a:prstDash val="solid"/>
          </a:ln>
        </p:spPr>
      </p:sp>
      <p:sp>
        <p:nvSpPr>
          <p:cNvPr id="7" name="caption">
            <a:extLst xmlns:a="http://schemas.openxmlformats.org/drawingml/2006/main">
              <a:ext uri="{FF2B5EF4-FFF2-40B4-BE49-F238E27FC236}">
                <a16:creationId xmlns:a16="http://schemas.microsoft.com/office/drawing/2014/main" id="{65907311-B343-49B2-AE03-C02C677806CC}"/>
              </a:ext>
            </a:extLst>
          </p:cNvPr>
          <p:cNvSpPr>
            <a:spLocks xmlns:a="http://schemas.openxmlformats.org/drawingml/2006/main" noGrp="1"/>
          </p:cNvSpPr>
          <p:nvPr/>
        </p:nvSpPr>
        <p:spPr>
          <a:xfrm xmlns:a="http://schemas.openxmlformats.org/drawingml/2006/main">
            <a:off x="5943600" y="4820205"/>
            <a:ext cx="57881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Replay candidate: rule score 90, but one critical case fails, so the gate blocks the release</a:t>
            </a:r>
            <a:endParaRPr sz="1200"/>
          </a:p>
        </p:txBody>
      </p:sp>
      <p:sp>
        <p:nvSpPr>
          <p:cNvPr id="25" name="Slide Number Placeholder 0">
            <a:extLst xmlns:a="http://schemas.openxmlformats.org/drawingml/2006/main">
              <a:ext uri="{FF2B5EF4-FFF2-40B4-BE49-F238E27FC236}">
                <a16:creationId xmlns:a16="http://schemas.microsoft.com/office/drawing/2014/main" id="{408DC6D2-BBF5-4E58-9DD3-2F67C18F564B}"/>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E2598689-54C9-18A7-3A19-ED76AA08988F}" type="slidenum">
              <a:rPr b="0"/>
              <a:t>2</a:t>
            </a:fld>
            <a:endParaRPr/>
          </a:p>
        </p:txBody>
      </p:sp>
    </p:spTree>
    <p:extLst>
      <p:ext uri="{BB962C8B-B14F-4D97-AF65-F5344CB8AC3E}">
        <p14:creationId xmlns:p14="http://schemas.microsoft.com/office/powerpoint/2010/main" val="4025777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09EBBD-258D-44EA-8B7D-ACC7B7339F98}"/>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Platform thinking: producers, seed, consumers</a:t>
            </a:r>
            <a:endParaRPr sz="2800"/>
          </a:p>
        </p:txBody>
      </p:sp>
      <p:sp>
        <p:nvSpPr>
          <p:cNvPr id="3" name="section tag">
            <a:extLst xmlns:a="http://schemas.openxmlformats.org/drawingml/2006/main">
              <a:ext uri="{FF2B5EF4-FFF2-40B4-BE49-F238E27FC236}">
                <a16:creationId xmlns:a16="http://schemas.microsoft.com/office/drawing/2014/main" id="{288D0206-D706-421D-A471-8A7DC9FA3C4B}"/>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1 · Overview</a:t>
            </a:r>
            <a:endParaRPr sz="1200"/>
          </a:p>
        </p:txBody>
      </p:sp>
      <p:pic>
        <p:nvPicPr>
          <p:cNvPr id="4" name="platform thinking diagram">
            <a:extLst xmlns:a="http://schemas.openxmlformats.org/drawingml/2006/main">
              <a:ext uri="{FF2B5EF4-FFF2-40B4-BE49-F238E27FC236}">
                <a16:creationId xmlns:a16="http://schemas.microsoft.com/office/drawing/2014/main" id="{7A04FFF1-71F7-4D31-8098-B752576E8A3B}"/>
              </a:ext>
            </a:extLst>
          </p:cNvPr>
          <p:cNvPicPr>
            <a:picLocks xmlns:a="http://schemas.openxmlformats.org/drawingml/2006/main" noChangeAspect="1"/>
          </p:cNvPicPr>
          <p:nvPr/>
        </p:nvPicPr>
        <p:blipFill>
          <a:blip xmlns:r="http://schemas.openxmlformats.org/officeDocument/2006/relationships" xmlns:a="http://schemas.openxmlformats.org/drawingml/2006/main" r:embed="R47d07fa336044713"/>
          <a:stretch xmlns:a="http://schemas.openxmlformats.org/drawingml/2006/main">
            <a:fillRect l="0" t="0" r="0" b="0"/>
          </a:stretch>
        </p:blipFill>
        <p:spPr>
          <a:xfrm xmlns:a="http://schemas.openxmlformats.org/drawingml/2006/main">
            <a:off x="365760" y="1188720"/>
            <a:ext cx="8412480" cy="4206240"/>
          </a:xfrm>
          <a:prstGeom xmlns:a="http://schemas.openxmlformats.org/drawingml/2006/main" prst="rect">
            <a:avLst/>
          </a:prstGeom>
        </p:spPr>
      </p:pic>
      <p:sp>
        <p:nvSpPr>
          <p:cNvPr id="5" name="in scope card">
            <a:extLst xmlns:a="http://schemas.openxmlformats.org/drawingml/2006/main">
              <a:ext uri="{FF2B5EF4-FFF2-40B4-BE49-F238E27FC236}">
                <a16:creationId xmlns:a16="http://schemas.microsoft.com/office/drawing/2014/main" id="{48487014-E0A9-4E08-8D82-BF53950CA678}"/>
              </a:ext>
            </a:extLst>
          </p:cNvPr>
          <p:cNvSpPr>
            <a:spLocks xmlns:a="http://schemas.openxmlformats.org/drawingml/2006/main" noGrp="1"/>
          </p:cNvSpPr>
          <p:nvPr/>
        </p:nvSpPr>
        <p:spPr>
          <a:xfrm xmlns:a="http://schemas.openxmlformats.org/drawingml/2006/main">
            <a:off x="9006840" y="1325880"/>
            <a:ext cx="2743200" cy="2194560"/>
          </a:xfrm>
          <a:prstGeom xmlns:a="http://schemas.openxmlformats.org/drawingml/2006/main" prst="rect">
            <a:avLst/>
          </a:prstGeom>
          <a:solidFill xmlns:a="http://schemas.openxmlformats.org/drawingml/2006/main">
            <a:srgbClr val="EEF3FA"/>
          </a:solidFill>
          <a:ln xmlns:a="http://schemas.openxmlformats.org/drawingml/2006/main" w="12700">
            <a:solidFill>
              <a:srgbClr val="EEF3FA"/>
            </a:solidFill>
            <a:prstDash val="solid"/>
          </a:ln>
        </p:spPr>
      </p:sp>
      <p:sp>
        <p:nvSpPr>
          <p:cNvPr id="6" name="in scope text">
            <a:extLst xmlns:a="http://schemas.openxmlformats.org/drawingml/2006/main">
              <a:ext uri="{FF2B5EF4-FFF2-40B4-BE49-F238E27FC236}">
                <a16:creationId xmlns:a16="http://schemas.microsoft.com/office/drawing/2014/main" id="{1D087072-F61F-4C1B-A67F-B94004D11C80}"/>
              </a:ext>
            </a:extLst>
          </p:cNvPr>
          <p:cNvSpPr>
            <a:spLocks xmlns:a="http://schemas.openxmlformats.org/drawingml/2006/main" noGrp="1"/>
          </p:cNvSpPr>
          <p:nvPr/>
        </p:nvSpPr>
        <p:spPr>
          <a:xfrm xmlns:a="http://schemas.openxmlformats.org/drawingml/2006/main">
            <a:off x="9144000" y="1417320"/>
            <a:ext cx="25146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73F7E"/>
                </a:solidFill>
              </a:rPr>
              <a:t>In scope</a:t>
            </a:r>
            <a:endParaRPr sz="1300"/>
          </a:p>
          <a:p xmlns:a="http://schemas.openxmlformats.org/drawingml/2006/main">
            <a:pPr marL="342900" indent="-342900">
              <a:buSzPct val="100000"/>
              <a:buChar char="•"/>
            </a:pPr>
            <a:r>
              <a:rPr sz="1300">
                <a:solidFill>
                  <a:srgbClr val="000000"/>
                </a:solidFill>
              </a:rPr>
              <a:t>Versioned assets</a:t>
            </a:r>
            <a:endParaRPr sz="1300"/>
          </a:p>
          <a:p xmlns:a="http://schemas.openxmlformats.org/drawingml/2006/main">
            <a:pPr marL="342900" indent="-342900">
              <a:buSzPct val="100000"/>
              <a:buChar char="•"/>
            </a:pPr>
            <a:r>
              <a:rPr sz="1300">
                <a:solidFill>
                  <a:srgbClr val="000000"/>
                </a:solidFill>
              </a:rPr>
              <a:t>Asynchronous evaluation + gate</a:t>
            </a:r>
            <a:endParaRPr sz="1300"/>
          </a:p>
          <a:p xmlns:a="http://schemas.openxmlformats.org/drawingml/2006/main">
            <a:pPr marL="342900" indent="-342900">
              <a:buSzPct val="100000"/>
              <a:buChar char="•"/>
            </a:pPr>
            <a:r>
              <a:rPr sz="1300">
                <a:solidFill>
                  <a:srgbClr val="000000"/>
                </a:solidFill>
              </a:rPr>
              <a:t>Independent human review</a:t>
            </a:r>
            <a:endParaRPr sz="1300"/>
          </a:p>
          <a:p xmlns:a="http://schemas.openxmlformats.org/drawingml/2006/main">
            <a:pPr marL="342900" indent="-342900">
              <a:buSzPct val="100000"/>
              <a:buChar char="•"/>
            </a:pPr>
            <a:r>
              <a:rPr sz="1300">
                <a:solidFill>
                  <a:srgbClr val="000000"/>
                </a:solidFill>
              </a:rPr>
              <a:t>Evidence export</a:t>
            </a:r>
            <a:endParaRPr sz="1300"/>
          </a:p>
          <a:p xmlns:a="http://schemas.openxmlformats.org/drawingml/2006/main">
            <a:pPr marL="342900" indent="-342900">
              <a:buSzPct val="100000"/>
              <a:buChar char="•"/>
            </a:pPr>
            <a:r>
              <a:rPr sz="1300">
                <a:solidFill>
                  <a:srgbClr val="000000"/>
                </a:solidFill>
              </a:rPr>
              <a:t>Worker autoscaling</a:t>
            </a:r>
            <a:endParaRPr sz="1300"/>
          </a:p>
        </p:txBody>
      </p:sp>
      <p:sp>
        <p:nvSpPr>
          <p:cNvPr id="7" name="out of scope card">
            <a:extLst xmlns:a="http://schemas.openxmlformats.org/drawingml/2006/main">
              <a:ext uri="{FF2B5EF4-FFF2-40B4-BE49-F238E27FC236}">
                <a16:creationId xmlns:a16="http://schemas.microsoft.com/office/drawing/2014/main" id="{D6EFBD45-E693-420D-B2C1-C37D658B6132}"/>
              </a:ext>
            </a:extLst>
          </p:cNvPr>
          <p:cNvSpPr>
            <a:spLocks xmlns:a="http://schemas.openxmlformats.org/drawingml/2006/main" noGrp="1"/>
          </p:cNvSpPr>
          <p:nvPr/>
        </p:nvSpPr>
        <p:spPr>
          <a:xfrm xmlns:a="http://schemas.openxmlformats.org/drawingml/2006/main">
            <a:off x="9006840" y="3703320"/>
            <a:ext cx="2743200" cy="2194560"/>
          </a:xfrm>
          <a:prstGeom xmlns:a="http://schemas.openxmlformats.org/drawingml/2006/main" prst="rect">
            <a:avLst/>
          </a:prstGeom>
          <a:solidFill xmlns:a="http://schemas.openxmlformats.org/drawingml/2006/main">
            <a:srgbClr val="F2F2F2"/>
          </a:solidFill>
          <a:ln xmlns:a="http://schemas.openxmlformats.org/drawingml/2006/main" w="12700">
            <a:solidFill>
              <a:srgbClr val="F2F2F2"/>
            </a:solidFill>
            <a:prstDash val="solid"/>
          </a:ln>
        </p:spPr>
      </p:sp>
      <p:sp>
        <p:nvSpPr>
          <p:cNvPr id="8" name="out of scope text">
            <a:extLst xmlns:a="http://schemas.openxmlformats.org/drawingml/2006/main">
              <a:ext uri="{FF2B5EF4-FFF2-40B4-BE49-F238E27FC236}">
                <a16:creationId xmlns:a16="http://schemas.microsoft.com/office/drawing/2014/main" id="{BE503C6C-97FB-4EF1-85E0-11F7EA65820D}"/>
              </a:ext>
            </a:extLst>
          </p:cNvPr>
          <p:cNvSpPr>
            <a:spLocks xmlns:a="http://schemas.openxmlformats.org/drawingml/2006/main" noGrp="1"/>
          </p:cNvSpPr>
          <p:nvPr/>
        </p:nvSpPr>
        <p:spPr>
          <a:xfrm xmlns:a="http://schemas.openxmlformats.org/drawingml/2006/main">
            <a:off x="9144000" y="3794760"/>
            <a:ext cx="25146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595959"/>
                </a:solidFill>
              </a:rPr>
              <a:t>Out of scope</a:t>
            </a:r>
            <a:endParaRPr sz="1300"/>
          </a:p>
          <a:p xmlns:a="http://schemas.openxmlformats.org/drawingml/2006/main">
            <a:pPr marL="342900" indent="-342900">
              <a:buSzPct val="100000"/>
              <a:buChar char="•"/>
            </a:pPr>
            <a:r>
              <a:rPr sz="1300">
                <a:solidFill>
                  <a:srgbClr val="000000"/>
                </a:solidFill>
              </a:rPr>
              <a:t>Model training</a:t>
            </a:r>
            <a:endParaRPr sz="1300"/>
          </a:p>
          <a:p xmlns:a="http://schemas.openxmlformats.org/drawingml/2006/main">
            <a:pPr marL="342900" indent="-342900">
              <a:buSzPct val="100000"/>
              <a:buChar char="•"/>
            </a:pPr>
            <a:r>
              <a:rPr sz="1300">
                <a:solidFill>
                  <a:srgbClr val="000000"/>
                </a:solidFill>
              </a:rPr>
              <a:t>Automatic deployment</a:t>
            </a:r>
            <a:endParaRPr sz="1300"/>
          </a:p>
          <a:p xmlns:a="http://schemas.openxmlformats.org/drawingml/2006/main">
            <a:pPr marL="342900" indent="-342900">
              <a:buSzPct val="100000"/>
              <a:buChar char="•"/>
            </a:pPr>
            <a:r>
              <a:rPr sz="1300">
                <a:solidFill>
                  <a:srgbClr val="000000"/>
                </a:solidFill>
              </a:rPr>
              <a:t>General semantic AI judge</a:t>
            </a:r>
            <a:endParaRPr sz="1300"/>
          </a:p>
          <a:p xmlns:a="http://schemas.openxmlformats.org/drawingml/2006/main">
            <a:pPr marL="342900" indent="-342900">
              <a:buSzPct val="100000"/>
              <a:buChar char="•"/>
            </a:pPr>
            <a:r>
              <a:rPr sz="1300">
                <a:solidFill>
                  <a:srgbClr val="000000"/>
                </a:solidFill>
              </a:rPr>
              <a:t>Multi-region DR</a:t>
            </a:r>
            <a:endParaRPr sz="1300"/>
          </a:p>
          <a:p xmlns:a="http://schemas.openxmlformats.org/drawingml/2006/main">
            <a:pPr marL="342900" indent="-342900">
              <a:buSzPct val="100000"/>
              <a:buChar char="•"/>
            </a:pPr>
            <a:r>
              <a:rPr sz="1300">
                <a:solidFill>
                  <a:srgbClr val="000000"/>
                </a:solidFill>
              </a:rPr>
              <a:t>Real customer data</a:t>
            </a:r>
            <a:endParaRPr sz="1300"/>
          </a:p>
        </p:txBody>
      </p:sp>
      <p:sp>
        <p:nvSpPr>
          <p:cNvPr id="25" name="Slide Number Placeholder 0">
            <a:extLst xmlns:a="http://schemas.openxmlformats.org/drawingml/2006/main">
              <a:ext uri="{FF2B5EF4-FFF2-40B4-BE49-F238E27FC236}">
                <a16:creationId xmlns:a16="http://schemas.microsoft.com/office/drawing/2014/main" id="{CBF331DD-F896-45CA-862F-3D766F94FD13}"/>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202359C0-8A7A-196E-DD58-8E6569619F09}" type="slidenum">
              <a:rPr b="0"/>
              <a:t>3</a:t>
            </a:fld>
            <a:endParaRPr/>
          </a:p>
        </p:txBody>
      </p:sp>
    </p:spTree>
    <p:extLst>
      <p:ext uri="{BB962C8B-B14F-4D97-AF65-F5344CB8AC3E}">
        <p14:creationId xmlns:p14="http://schemas.microsoft.com/office/powerpoint/2010/main" val="4290644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C2C4D8E-60C3-4A0F-B841-6F631AE70D52}"/>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Current status and actual milestones</a:t>
            </a:r>
            <a:endParaRPr sz="2800"/>
          </a:p>
        </p:txBody>
      </p:sp>
      <p:sp>
        <p:nvSpPr>
          <p:cNvPr id="3" name="section tag">
            <a:extLst xmlns:a="http://schemas.openxmlformats.org/drawingml/2006/main">
              <a:ext uri="{FF2B5EF4-FFF2-40B4-BE49-F238E27FC236}">
                <a16:creationId xmlns:a16="http://schemas.microsoft.com/office/drawing/2014/main" id="{F963FBEA-1293-40B9-B5FF-B56510542AE7}"/>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2 · Project Conduct</a:t>
            </a:r>
            <a:endParaRPr sz="1200"/>
          </a:p>
        </p:txBody>
      </p:sp>
      <p:sp>
        <p:nvSpPr>
          <p:cNvPr id="4" name="sprint 1 band">
            <a:extLst xmlns:a="http://schemas.openxmlformats.org/drawingml/2006/main">
              <a:ext uri="{FF2B5EF4-FFF2-40B4-BE49-F238E27FC236}">
                <a16:creationId xmlns:a16="http://schemas.microsoft.com/office/drawing/2014/main" id="{CCBA4C41-24D1-4545-B1E4-DD68813708B5}"/>
              </a:ext>
            </a:extLst>
          </p:cNvPr>
          <p:cNvSpPr>
            <a:spLocks xmlns:a="http://schemas.openxmlformats.org/drawingml/2006/main" noGrp="1"/>
          </p:cNvSpPr>
          <p:nvPr/>
        </p:nvSpPr>
        <p:spPr>
          <a:xfrm xmlns:a="http://schemas.openxmlformats.org/drawingml/2006/main">
            <a:off x="1600200" y="2953512"/>
            <a:ext cx="2971800" cy="329184"/>
          </a:xfrm>
          <a:prstGeom xmlns:a="http://schemas.openxmlformats.org/drawingml/2006/main" prst="rect">
            <a:avLst/>
          </a:prstGeom>
          <a:solidFill xmlns:a="http://schemas.openxmlformats.org/drawingml/2006/main">
            <a:srgbClr val="DCE6F2"/>
          </a:solidFill>
          <a:ln xmlns:a="http://schemas.openxmlformats.org/drawingml/2006/main" w="12700">
            <a:solidFill>
              <a:srgbClr val="DCE6F2"/>
            </a:solidFill>
            <a:prstDash val="solid"/>
          </a:ln>
        </p:spPr>
      </p:sp>
      <p:sp>
        <p:nvSpPr>
          <p:cNvPr id="5" name="sprint 1 label">
            <a:extLst xmlns:a="http://schemas.openxmlformats.org/drawingml/2006/main">
              <a:ext uri="{FF2B5EF4-FFF2-40B4-BE49-F238E27FC236}">
                <a16:creationId xmlns:a16="http://schemas.microsoft.com/office/drawing/2014/main" id="{8FD9EE63-730F-467F-9711-00851FF03F8C}"/>
              </a:ext>
            </a:extLst>
          </p:cNvPr>
          <p:cNvSpPr>
            <a:spLocks xmlns:a="http://schemas.openxmlformats.org/drawingml/2006/main" noGrp="1"/>
          </p:cNvSpPr>
          <p:nvPr/>
        </p:nvSpPr>
        <p:spPr>
          <a:xfrm xmlns:a="http://schemas.openxmlformats.org/drawingml/2006/main">
            <a:off x="1600200" y="2953512"/>
            <a:ext cx="2971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73F7E"/>
                </a:solidFill>
              </a:rPr>
              <a:t>Sprint 1 · 8–13 Oct</a:t>
            </a:r>
            <a:endParaRPr sz="1200"/>
          </a:p>
        </p:txBody>
      </p:sp>
      <p:sp>
        <p:nvSpPr>
          <p:cNvPr id="6" name="sprint 2 band">
            <a:extLst xmlns:a="http://schemas.openxmlformats.org/drawingml/2006/main">
              <a:ext uri="{FF2B5EF4-FFF2-40B4-BE49-F238E27FC236}">
                <a16:creationId xmlns:a16="http://schemas.microsoft.com/office/drawing/2014/main" id="{7DCA0A07-1FF2-4F7F-8398-E7A48CF04C95}"/>
              </a:ext>
            </a:extLst>
          </p:cNvPr>
          <p:cNvSpPr>
            <a:spLocks xmlns:a="http://schemas.openxmlformats.org/drawingml/2006/main" noGrp="1"/>
          </p:cNvSpPr>
          <p:nvPr/>
        </p:nvSpPr>
        <p:spPr>
          <a:xfrm xmlns:a="http://schemas.openxmlformats.org/drawingml/2006/main">
            <a:off x="4663440" y="2953512"/>
            <a:ext cx="3291840" cy="329184"/>
          </a:xfrm>
          <a:prstGeom xmlns:a="http://schemas.openxmlformats.org/drawingml/2006/main" prst="rect">
            <a:avLst/>
          </a:prstGeom>
          <a:solidFill xmlns:a="http://schemas.openxmlformats.org/drawingml/2006/main">
            <a:srgbClr val="C4D8F0"/>
          </a:solidFill>
          <a:ln xmlns:a="http://schemas.openxmlformats.org/drawingml/2006/main" w="12700">
            <a:solidFill>
              <a:srgbClr val="C4D8F0"/>
            </a:solidFill>
            <a:prstDash val="solid"/>
          </a:ln>
        </p:spPr>
      </p:sp>
      <p:sp>
        <p:nvSpPr>
          <p:cNvPr id="7" name="sprint 2 label">
            <a:extLst xmlns:a="http://schemas.openxmlformats.org/drawingml/2006/main">
              <a:ext uri="{FF2B5EF4-FFF2-40B4-BE49-F238E27FC236}">
                <a16:creationId xmlns:a16="http://schemas.microsoft.com/office/drawing/2014/main" id="{F13ACC0E-483E-463B-BCD6-46E34C301ABB}"/>
              </a:ext>
            </a:extLst>
          </p:cNvPr>
          <p:cNvSpPr>
            <a:spLocks xmlns:a="http://schemas.openxmlformats.org/drawingml/2006/main" noGrp="1"/>
          </p:cNvSpPr>
          <p:nvPr/>
        </p:nvSpPr>
        <p:spPr>
          <a:xfrm xmlns:a="http://schemas.openxmlformats.org/drawingml/2006/main">
            <a:off x="4663440" y="2953512"/>
            <a:ext cx="3291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73F7E"/>
                </a:solidFill>
              </a:rPr>
              <a:t>Sprint 2 · 14–20 Oct</a:t>
            </a:r>
            <a:endParaRPr sz="1200"/>
          </a:p>
        </p:txBody>
      </p:sp>
      <p:sp>
        <p:nvSpPr>
          <p:cNvPr id="8" name="timeline axis">
            <a:extLst xmlns:a="http://schemas.openxmlformats.org/drawingml/2006/main">
              <a:ext uri="{FF2B5EF4-FFF2-40B4-BE49-F238E27FC236}">
                <a16:creationId xmlns:a16="http://schemas.microsoft.com/office/drawing/2014/main" id="{D2321411-7698-44C4-9388-59B556DFBDDE}"/>
              </a:ext>
            </a:extLst>
          </p:cNvPr>
          <p:cNvSpPr>
            <a:spLocks xmlns:a="http://schemas.openxmlformats.org/drawingml/2006/main" noGrp="1"/>
          </p:cNvSpPr>
          <p:nvPr/>
        </p:nvSpPr>
        <p:spPr>
          <a:xfrm xmlns:a="http://schemas.openxmlformats.org/drawingml/2006/main">
            <a:off x="731520" y="2788920"/>
            <a:ext cx="10744200" cy="0"/>
          </a:xfrm>
          <a:prstGeom xmlns:a="http://schemas.openxmlformats.org/drawingml/2006/main" prst="line">
            <a:avLst/>
          </a:prstGeom>
          <a:noFill xmlns:a="http://schemas.openxmlformats.org/drawingml/2006/main"/>
          <a:ln xmlns:a="http://schemas.openxmlformats.org/drawingml/2006/main" w="38100">
            <a:solidFill>
              <a:srgbClr val="173F7E"/>
            </a:solidFill>
            <a:prstDash val="solid"/>
          </a:ln>
        </p:spPr>
      </p:sp>
      <p:sp>
        <p:nvSpPr>
          <p:cNvPr id="9" name="milestone 6 Oct">
            <a:extLst xmlns:a="http://schemas.openxmlformats.org/drawingml/2006/main">
              <a:ext uri="{FF2B5EF4-FFF2-40B4-BE49-F238E27FC236}">
                <a16:creationId xmlns:a16="http://schemas.microsoft.com/office/drawing/2014/main" id="{0F93E3FB-37E0-40F2-9416-2411CCF6AEC5}"/>
              </a:ext>
            </a:extLst>
          </p:cNvPr>
          <p:cNvSpPr>
            <a:spLocks xmlns:a="http://schemas.openxmlformats.org/drawingml/2006/main" noGrp="1"/>
          </p:cNvSpPr>
          <p:nvPr/>
        </p:nvSpPr>
        <p:spPr>
          <a:xfrm xmlns:a="http://schemas.openxmlformats.org/drawingml/2006/main">
            <a:off x="88696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10" name="date 6 Oct">
            <a:extLst xmlns:a="http://schemas.openxmlformats.org/drawingml/2006/main">
              <a:ext uri="{FF2B5EF4-FFF2-40B4-BE49-F238E27FC236}">
                <a16:creationId xmlns:a16="http://schemas.microsoft.com/office/drawing/2014/main" id="{7138BB2E-3E67-4CDA-B277-A3EEFD705130}"/>
              </a:ext>
            </a:extLst>
          </p:cNvPr>
          <p:cNvSpPr>
            <a:spLocks xmlns:a="http://schemas.openxmlformats.org/drawingml/2006/main" noGrp="1"/>
          </p:cNvSpPr>
          <p:nvPr/>
        </p:nvSpPr>
        <p:spPr>
          <a:xfrm xmlns:a="http://schemas.openxmlformats.org/drawingml/2006/main">
            <a:off x="32004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6 Oct</a:t>
            </a:r>
            <a:endParaRPr sz="1400"/>
          </a:p>
        </p:txBody>
      </p:sp>
      <p:sp>
        <p:nvSpPr>
          <p:cNvPr id="11" name="event 6 Oct">
            <a:extLst xmlns:a="http://schemas.openxmlformats.org/drawingml/2006/main">
              <a:ext uri="{FF2B5EF4-FFF2-40B4-BE49-F238E27FC236}">
                <a16:creationId xmlns:a16="http://schemas.microsoft.com/office/drawing/2014/main" id="{8E263791-3731-41FF-BB15-83AD0895EA93}"/>
              </a:ext>
            </a:extLst>
          </p:cNvPr>
          <p:cNvSpPr>
            <a:spLocks xmlns:a="http://schemas.openxmlformats.org/drawingml/2006/main" noGrp="1"/>
          </p:cNvSpPr>
          <p:nvPr/>
        </p:nvSpPr>
        <p:spPr>
          <a:xfrm xmlns:a="http://schemas.openxmlformats.org/drawingml/2006/main">
            <a:off x="292608" y="3410712"/>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Revised proposal</a:t>
            </a:r>
            <a:endParaRPr sz="1200"/>
          </a:p>
        </p:txBody>
      </p:sp>
      <p:sp>
        <p:nvSpPr>
          <p:cNvPr id="12" name="milestone 11 Oct">
            <a:extLst xmlns:a="http://schemas.openxmlformats.org/drawingml/2006/main">
              <a:ext uri="{FF2B5EF4-FFF2-40B4-BE49-F238E27FC236}">
                <a16:creationId xmlns:a16="http://schemas.microsoft.com/office/drawing/2014/main" id="{97A336F0-6176-4F38-8C45-B966BFDE23A3}"/>
              </a:ext>
            </a:extLst>
          </p:cNvPr>
          <p:cNvSpPr>
            <a:spLocks xmlns:a="http://schemas.openxmlformats.org/drawingml/2006/main" noGrp="1"/>
          </p:cNvSpPr>
          <p:nvPr/>
        </p:nvSpPr>
        <p:spPr>
          <a:xfrm xmlns:a="http://schemas.openxmlformats.org/drawingml/2006/main">
            <a:off x="216712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13" name="date 11 Oct">
            <a:extLst xmlns:a="http://schemas.openxmlformats.org/drawingml/2006/main">
              <a:ext uri="{FF2B5EF4-FFF2-40B4-BE49-F238E27FC236}">
                <a16:creationId xmlns:a16="http://schemas.microsoft.com/office/drawing/2014/main" id="{0642CC5A-CFC1-419B-914B-F51A1B71B5B4}"/>
              </a:ext>
            </a:extLst>
          </p:cNvPr>
          <p:cNvSpPr>
            <a:spLocks xmlns:a="http://schemas.openxmlformats.org/drawingml/2006/main" noGrp="1"/>
          </p:cNvSpPr>
          <p:nvPr/>
        </p:nvSpPr>
        <p:spPr>
          <a:xfrm xmlns:a="http://schemas.openxmlformats.org/drawingml/2006/main">
            <a:off x="160020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11 Oct</a:t>
            </a:r>
            <a:endParaRPr sz="1400"/>
          </a:p>
        </p:txBody>
      </p:sp>
      <p:sp>
        <p:nvSpPr>
          <p:cNvPr id="14" name="event 11 Oct">
            <a:extLst xmlns:a="http://schemas.openxmlformats.org/drawingml/2006/main">
              <a:ext uri="{FF2B5EF4-FFF2-40B4-BE49-F238E27FC236}">
                <a16:creationId xmlns:a16="http://schemas.microsoft.com/office/drawing/2014/main" id="{97CA52AE-A5E7-49B2-9F32-DECB2FE9E4C9}"/>
              </a:ext>
            </a:extLst>
          </p:cNvPr>
          <p:cNvSpPr>
            <a:spLocks xmlns:a="http://schemas.openxmlformats.org/drawingml/2006/main" noGrp="1"/>
          </p:cNvSpPr>
          <p:nvPr/>
        </p:nvSpPr>
        <p:spPr>
          <a:xfrm xmlns:a="http://schemas.openxmlformats.org/drawingml/2006/main">
            <a:off x="1572768" y="4206240"/>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GKE deploy · CI/CD + rollback · 20 real model calls · scaling tests</a:t>
            </a:r>
            <a:endParaRPr sz="1200"/>
          </a:p>
        </p:txBody>
      </p:sp>
      <p:sp>
        <p:nvSpPr>
          <p:cNvPr id="15" name="milestone 13–14 Oct">
            <a:extLst xmlns:a="http://schemas.openxmlformats.org/drawingml/2006/main">
              <a:ext uri="{FF2B5EF4-FFF2-40B4-BE49-F238E27FC236}">
                <a16:creationId xmlns:a16="http://schemas.microsoft.com/office/drawing/2014/main" id="{3484529F-0E31-4D3D-A41E-97D70A601CB8}"/>
              </a:ext>
            </a:extLst>
          </p:cNvPr>
          <p:cNvSpPr>
            <a:spLocks xmlns:a="http://schemas.openxmlformats.org/drawingml/2006/main" noGrp="1"/>
          </p:cNvSpPr>
          <p:nvPr/>
        </p:nvSpPr>
        <p:spPr>
          <a:xfrm xmlns:a="http://schemas.openxmlformats.org/drawingml/2006/main">
            <a:off x="344728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16" name="date 13–14 Oct">
            <a:extLst xmlns:a="http://schemas.openxmlformats.org/drawingml/2006/main">
              <a:ext uri="{FF2B5EF4-FFF2-40B4-BE49-F238E27FC236}">
                <a16:creationId xmlns:a16="http://schemas.microsoft.com/office/drawing/2014/main" id="{8420C193-F833-4DB9-8D1D-9C48CF63E8F4}"/>
              </a:ext>
            </a:extLst>
          </p:cNvPr>
          <p:cNvSpPr>
            <a:spLocks xmlns:a="http://schemas.openxmlformats.org/drawingml/2006/main" noGrp="1"/>
          </p:cNvSpPr>
          <p:nvPr/>
        </p:nvSpPr>
        <p:spPr>
          <a:xfrm xmlns:a="http://schemas.openxmlformats.org/drawingml/2006/main">
            <a:off x="288036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13–14 Oct</a:t>
            </a:r>
            <a:endParaRPr sz="1400"/>
          </a:p>
        </p:txBody>
      </p:sp>
      <p:sp>
        <p:nvSpPr>
          <p:cNvPr id="17" name="event 13–14 Oct">
            <a:extLst xmlns:a="http://schemas.openxmlformats.org/drawingml/2006/main">
              <a:ext uri="{FF2B5EF4-FFF2-40B4-BE49-F238E27FC236}">
                <a16:creationId xmlns:a16="http://schemas.microsoft.com/office/drawing/2014/main" id="{4785573B-5AB3-4E8A-9E62-398A2E98BADC}"/>
              </a:ext>
            </a:extLst>
          </p:cNvPr>
          <p:cNvSpPr>
            <a:spLocks xmlns:a="http://schemas.openxmlformats.org/drawingml/2006/main" noGrp="1"/>
          </p:cNvSpPr>
          <p:nvPr/>
        </p:nvSpPr>
        <p:spPr>
          <a:xfrm xmlns:a="http://schemas.openxmlformats.org/drawingml/2006/main">
            <a:off x="2852928" y="3410712"/>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25-item UAT · PR #4 UI fixes</a:t>
            </a:r>
            <a:endParaRPr sz="1200"/>
          </a:p>
        </p:txBody>
      </p:sp>
      <p:sp>
        <p:nvSpPr>
          <p:cNvPr id="18" name="milestone 15 Oct">
            <a:extLst xmlns:a="http://schemas.openxmlformats.org/drawingml/2006/main">
              <a:ext uri="{FF2B5EF4-FFF2-40B4-BE49-F238E27FC236}">
                <a16:creationId xmlns:a16="http://schemas.microsoft.com/office/drawing/2014/main" id="{40F49F3D-7CFA-4325-B666-F58830B9FC88}"/>
              </a:ext>
            </a:extLst>
          </p:cNvPr>
          <p:cNvSpPr>
            <a:spLocks xmlns:a="http://schemas.openxmlformats.org/drawingml/2006/main" noGrp="1"/>
          </p:cNvSpPr>
          <p:nvPr/>
        </p:nvSpPr>
        <p:spPr>
          <a:xfrm xmlns:a="http://schemas.openxmlformats.org/drawingml/2006/main">
            <a:off x="472744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19" name="date 15 Oct">
            <a:extLst xmlns:a="http://schemas.openxmlformats.org/drawingml/2006/main">
              <a:ext uri="{FF2B5EF4-FFF2-40B4-BE49-F238E27FC236}">
                <a16:creationId xmlns:a16="http://schemas.microsoft.com/office/drawing/2014/main" id="{799BE57B-6390-4FB3-B1E7-5AB77B299C9D}"/>
              </a:ext>
            </a:extLst>
          </p:cNvPr>
          <p:cNvSpPr>
            <a:spLocks xmlns:a="http://schemas.openxmlformats.org/drawingml/2006/main" noGrp="1"/>
          </p:cNvSpPr>
          <p:nvPr/>
        </p:nvSpPr>
        <p:spPr>
          <a:xfrm xmlns:a="http://schemas.openxmlformats.org/drawingml/2006/main">
            <a:off x="416052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15 Oct</a:t>
            </a:r>
            <a:endParaRPr sz="1400"/>
          </a:p>
        </p:txBody>
      </p:sp>
      <p:sp>
        <p:nvSpPr>
          <p:cNvPr id="20" name="event 15 Oct">
            <a:extLst xmlns:a="http://schemas.openxmlformats.org/drawingml/2006/main">
              <a:ext uri="{FF2B5EF4-FFF2-40B4-BE49-F238E27FC236}">
                <a16:creationId xmlns:a16="http://schemas.microsoft.com/office/drawing/2014/main" id="{23458198-E4D1-4F58-9F73-BC54732F8F1C}"/>
              </a:ext>
            </a:extLst>
          </p:cNvPr>
          <p:cNvSpPr>
            <a:spLocks xmlns:a="http://schemas.openxmlformats.org/drawingml/2006/main" noGrp="1"/>
          </p:cNvSpPr>
          <p:nvPr/>
        </p:nvSpPr>
        <p:spPr>
          <a:xfrm xmlns:a="http://schemas.openxmlformats.org/drawingml/2006/main">
            <a:off x="4133088" y="4206240"/>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Acceptance rules + lineage (PR #3)</a:t>
            </a:r>
            <a:endParaRPr sz="1200"/>
          </a:p>
        </p:txBody>
      </p:sp>
      <p:sp>
        <p:nvSpPr>
          <p:cNvPr id="21" name="milestone 16–19 Oct">
            <a:extLst xmlns:a="http://schemas.openxmlformats.org/drawingml/2006/main">
              <a:ext uri="{FF2B5EF4-FFF2-40B4-BE49-F238E27FC236}">
                <a16:creationId xmlns:a16="http://schemas.microsoft.com/office/drawing/2014/main" id="{777B3DB6-7E6F-4A04-A54F-85D079C5F96B}"/>
              </a:ext>
            </a:extLst>
          </p:cNvPr>
          <p:cNvSpPr>
            <a:spLocks xmlns:a="http://schemas.openxmlformats.org/drawingml/2006/main" noGrp="1"/>
          </p:cNvSpPr>
          <p:nvPr/>
        </p:nvSpPr>
        <p:spPr>
          <a:xfrm xmlns:a="http://schemas.openxmlformats.org/drawingml/2006/main">
            <a:off x="600760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22" name="date 16–19 Oct">
            <a:extLst xmlns:a="http://schemas.openxmlformats.org/drawingml/2006/main">
              <a:ext uri="{FF2B5EF4-FFF2-40B4-BE49-F238E27FC236}">
                <a16:creationId xmlns:a16="http://schemas.microsoft.com/office/drawing/2014/main" id="{F27E9497-B6A4-46C6-81EA-81B292E4E0D8}"/>
              </a:ext>
            </a:extLst>
          </p:cNvPr>
          <p:cNvSpPr>
            <a:spLocks xmlns:a="http://schemas.openxmlformats.org/drawingml/2006/main" noGrp="1"/>
          </p:cNvSpPr>
          <p:nvPr/>
        </p:nvSpPr>
        <p:spPr>
          <a:xfrm xmlns:a="http://schemas.openxmlformats.org/drawingml/2006/main">
            <a:off x="544068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16–19 Oct</a:t>
            </a:r>
            <a:endParaRPr sz="1400"/>
          </a:p>
        </p:txBody>
      </p:sp>
      <p:sp>
        <p:nvSpPr>
          <p:cNvPr id="23" name="event 16–19 Oct">
            <a:extLst xmlns:a="http://schemas.openxmlformats.org/drawingml/2006/main">
              <a:ext uri="{FF2B5EF4-FFF2-40B4-BE49-F238E27FC236}">
                <a16:creationId xmlns:a16="http://schemas.microsoft.com/office/drawing/2014/main" id="{B056CC71-51AA-482A-9383-3D4C48F448AC}"/>
              </a:ext>
            </a:extLst>
          </p:cNvPr>
          <p:cNvSpPr>
            <a:spLocks xmlns:a="http://schemas.openxmlformats.org/drawingml/2006/main" noGrp="1"/>
          </p:cNvSpPr>
          <p:nvPr/>
        </p:nvSpPr>
        <p:spPr>
          <a:xfrm xmlns:a="http://schemas.openxmlformats.org/drawingml/2006/main">
            <a:off x="5413248" y="3410712"/>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Model runs v6–v17 · reviewer v3</a:t>
            </a:r>
            <a:endParaRPr sz="1200"/>
          </a:p>
        </p:txBody>
      </p:sp>
      <p:sp>
        <p:nvSpPr>
          <p:cNvPr id="24" name="milestone 19 Oct">
            <a:extLst xmlns:a="http://schemas.openxmlformats.org/drawingml/2006/main">
              <a:ext uri="{FF2B5EF4-FFF2-40B4-BE49-F238E27FC236}">
                <a16:creationId xmlns:a16="http://schemas.microsoft.com/office/drawing/2014/main" id="{597940C1-08D0-47F1-90CE-1519F226F3DC}"/>
              </a:ext>
            </a:extLst>
          </p:cNvPr>
          <p:cNvSpPr>
            <a:spLocks xmlns:a="http://schemas.openxmlformats.org/drawingml/2006/main" noGrp="1"/>
          </p:cNvSpPr>
          <p:nvPr/>
        </p:nvSpPr>
        <p:spPr>
          <a:xfrm xmlns:a="http://schemas.openxmlformats.org/drawingml/2006/main">
            <a:off x="7287768" y="2670048"/>
            <a:ext cx="237744" cy="237744"/>
          </a:xfrm>
          <a:prstGeom xmlns:a="http://schemas.openxmlformats.org/drawingml/2006/main" prst="ellipse">
            <a:avLst/>
          </a:prstGeom>
          <a:solidFill xmlns:a="http://schemas.openxmlformats.org/drawingml/2006/main">
            <a:srgbClr val="173F7E"/>
          </a:solidFill>
          <a:ln xmlns:a="http://schemas.openxmlformats.org/drawingml/2006/main" w="25400">
            <a:solidFill>
              <a:srgbClr val="173F7E"/>
            </a:solidFill>
            <a:prstDash val="solid"/>
          </a:ln>
        </p:spPr>
      </p:sp>
      <p:sp>
        <p:nvSpPr>
          <p:cNvPr id="25" name="date 19 Oct">
            <a:extLst xmlns:a="http://schemas.openxmlformats.org/drawingml/2006/main">
              <a:ext uri="{FF2B5EF4-FFF2-40B4-BE49-F238E27FC236}">
                <a16:creationId xmlns:a16="http://schemas.microsoft.com/office/drawing/2014/main" id="{4717E12F-96DD-41D5-BFAF-CBBEC3FD07F4}"/>
              </a:ext>
            </a:extLst>
          </p:cNvPr>
          <p:cNvSpPr>
            <a:spLocks xmlns:a="http://schemas.openxmlformats.org/drawingml/2006/main" noGrp="1"/>
          </p:cNvSpPr>
          <p:nvPr/>
        </p:nvSpPr>
        <p:spPr>
          <a:xfrm xmlns:a="http://schemas.openxmlformats.org/drawingml/2006/main">
            <a:off x="672084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19 Oct</a:t>
            </a:r>
            <a:endParaRPr sz="1400"/>
          </a:p>
        </p:txBody>
      </p:sp>
      <p:sp>
        <p:nvSpPr>
          <p:cNvPr id="26" name="event 19 Oct">
            <a:extLst xmlns:a="http://schemas.openxmlformats.org/drawingml/2006/main">
              <a:ext uri="{FF2B5EF4-FFF2-40B4-BE49-F238E27FC236}">
                <a16:creationId xmlns:a16="http://schemas.microsoft.com/office/drawing/2014/main" id="{556A8350-F3D3-4E9D-A029-587BDE977380}"/>
              </a:ext>
            </a:extLst>
          </p:cNvPr>
          <p:cNvSpPr>
            <a:spLocks xmlns:a="http://schemas.openxmlformats.org/drawingml/2006/main" noGrp="1"/>
          </p:cNvSpPr>
          <p:nvPr/>
        </p:nvSpPr>
        <p:spPr>
          <a:xfrm xmlns:a="http://schemas.openxmlformats.org/drawingml/2006/main">
            <a:off x="6693408" y="4206240"/>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Handoff freeze · clean-checkout verification</a:t>
            </a:r>
            <a:endParaRPr sz="1200"/>
          </a:p>
        </p:txBody>
      </p:sp>
      <p:sp>
        <p:nvSpPr>
          <p:cNvPr id="27" name="milestone 26 Oct">
            <a:extLst xmlns:a="http://schemas.openxmlformats.org/drawingml/2006/main">
              <a:ext uri="{FF2B5EF4-FFF2-40B4-BE49-F238E27FC236}">
                <a16:creationId xmlns:a16="http://schemas.microsoft.com/office/drawing/2014/main" id="{2D7FDC97-B07F-4C47-A757-AE8B09303D6F}"/>
              </a:ext>
            </a:extLst>
          </p:cNvPr>
          <p:cNvSpPr>
            <a:spLocks xmlns:a="http://schemas.openxmlformats.org/drawingml/2006/main" noGrp="1"/>
          </p:cNvSpPr>
          <p:nvPr/>
        </p:nvSpPr>
        <p:spPr>
          <a:xfrm xmlns:a="http://schemas.openxmlformats.org/drawingml/2006/main">
            <a:off x="9116568" y="2670048"/>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2873A"/>
            </a:solidFill>
            <a:prstDash val="solid"/>
          </a:ln>
        </p:spPr>
      </p:sp>
      <p:sp>
        <p:nvSpPr>
          <p:cNvPr id="28" name="date 26 Oct">
            <a:extLst xmlns:a="http://schemas.openxmlformats.org/drawingml/2006/main">
              <a:ext uri="{FF2B5EF4-FFF2-40B4-BE49-F238E27FC236}">
                <a16:creationId xmlns:a16="http://schemas.microsoft.com/office/drawing/2014/main" id="{FC145D36-CA37-437E-AAC5-063275419C4C}"/>
              </a:ext>
            </a:extLst>
          </p:cNvPr>
          <p:cNvSpPr>
            <a:spLocks xmlns:a="http://schemas.openxmlformats.org/drawingml/2006/main" noGrp="1"/>
          </p:cNvSpPr>
          <p:nvPr/>
        </p:nvSpPr>
        <p:spPr>
          <a:xfrm xmlns:a="http://schemas.openxmlformats.org/drawingml/2006/main">
            <a:off x="854964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2873A"/>
                </a:solidFill>
              </a:rPr>
              <a:t>26 Oct</a:t>
            </a:r>
            <a:endParaRPr sz="1400"/>
          </a:p>
        </p:txBody>
      </p:sp>
      <p:sp>
        <p:nvSpPr>
          <p:cNvPr id="29" name="event 26 Oct">
            <a:extLst xmlns:a="http://schemas.openxmlformats.org/drawingml/2006/main">
              <a:ext uri="{FF2B5EF4-FFF2-40B4-BE49-F238E27FC236}">
                <a16:creationId xmlns:a16="http://schemas.microsoft.com/office/drawing/2014/main" id="{7A8493E0-DBA0-42F6-BE0A-21D7E4B41987}"/>
              </a:ext>
            </a:extLst>
          </p:cNvPr>
          <p:cNvSpPr>
            <a:spLocks xmlns:a="http://schemas.openxmlformats.org/drawingml/2006/main" noGrp="1"/>
          </p:cNvSpPr>
          <p:nvPr/>
        </p:nvSpPr>
        <p:spPr>
          <a:xfrm xmlns:a="http://schemas.openxmlformats.org/drawingml/2006/main">
            <a:off x="8522208" y="3410712"/>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Presentation</a:t>
            </a:r>
            <a:endParaRPr sz="1200"/>
          </a:p>
        </p:txBody>
      </p:sp>
      <p:sp>
        <p:nvSpPr>
          <p:cNvPr id="30" name="milestone 16 Nov">
            <a:extLst xmlns:a="http://schemas.openxmlformats.org/drawingml/2006/main">
              <a:ext uri="{FF2B5EF4-FFF2-40B4-BE49-F238E27FC236}">
                <a16:creationId xmlns:a16="http://schemas.microsoft.com/office/drawing/2014/main" id="{EC08A1FC-5E53-42B2-8EF0-88D05A99D1F4}"/>
              </a:ext>
            </a:extLst>
          </p:cNvPr>
          <p:cNvSpPr>
            <a:spLocks xmlns:a="http://schemas.openxmlformats.org/drawingml/2006/main" noGrp="1"/>
          </p:cNvSpPr>
          <p:nvPr/>
        </p:nvSpPr>
        <p:spPr>
          <a:xfrm xmlns:a="http://schemas.openxmlformats.org/drawingml/2006/main">
            <a:off x="10762488" y="2670048"/>
            <a:ext cx="237744" cy="237744"/>
          </a:xfrm>
          <a:prstGeom xmlns:a="http://schemas.openxmlformats.org/drawingml/2006/main" prst="ellipse">
            <a:avLst/>
          </a:prstGeom>
          <a:solidFill xmlns:a="http://schemas.openxmlformats.org/drawingml/2006/main">
            <a:srgbClr val="FFFFFF"/>
          </a:solidFill>
          <a:ln xmlns:a="http://schemas.openxmlformats.org/drawingml/2006/main" w="25400">
            <a:solidFill>
              <a:srgbClr val="A6A6A6"/>
            </a:solidFill>
            <a:prstDash val="solid"/>
          </a:ln>
        </p:spPr>
      </p:sp>
      <p:sp>
        <p:nvSpPr>
          <p:cNvPr id="31" name="date 16 Nov">
            <a:extLst xmlns:a="http://schemas.openxmlformats.org/drawingml/2006/main">
              <a:ext uri="{FF2B5EF4-FFF2-40B4-BE49-F238E27FC236}">
                <a16:creationId xmlns:a16="http://schemas.microsoft.com/office/drawing/2014/main" id="{34997BA7-2592-4C14-BE10-4A01D3B792F1}"/>
              </a:ext>
            </a:extLst>
          </p:cNvPr>
          <p:cNvSpPr>
            <a:spLocks xmlns:a="http://schemas.openxmlformats.org/drawingml/2006/main" noGrp="1"/>
          </p:cNvSpPr>
          <p:nvPr/>
        </p:nvSpPr>
        <p:spPr>
          <a:xfrm xmlns:a="http://schemas.openxmlformats.org/drawingml/2006/main">
            <a:off x="10195560"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3F7E"/>
                </a:solidFill>
              </a:rPr>
              <a:t>16 Nov</a:t>
            </a:r>
            <a:endParaRPr sz="1400"/>
          </a:p>
        </p:txBody>
      </p:sp>
      <p:sp>
        <p:nvSpPr>
          <p:cNvPr id="32" name="event 16 Nov">
            <a:extLst xmlns:a="http://schemas.openxmlformats.org/drawingml/2006/main">
              <a:ext uri="{FF2B5EF4-FFF2-40B4-BE49-F238E27FC236}">
                <a16:creationId xmlns:a16="http://schemas.microsoft.com/office/drawing/2014/main" id="{CCC6933D-A51F-43FF-86D0-91D78B3339A4}"/>
              </a:ext>
            </a:extLst>
          </p:cNvPr>
          <p:cNvSpPr>
            <a:spLocks xmlns:a="http://schemas.openxmlformats.org/drawingml/2006/main" noGrp="1"/>
          </p:cNvSpPr>
          <p:nvPr/>
        </p:nvSpPr>
        <p:spPr>
          <a:xfrm xmlns:a="http://schemas.openxmlformats.org/drawingml/2006/main">
            <a:off x="10168128" y="4206240"/>
            <a:ext cx="142646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262626"/>
                </a:solidFill>
              </a:rPr>
              <a:t>Final report</a:t>
            </a:r>
            <a:endParaRPr sz="1200"/>
          </a:p>
        </p:txBody>
      </p:sp>
      <p:sp>
        <p:nvSpPr>
          <p:cNvPr id="33" name="today marker">
            <a:extLst xmlns:a="http://schemas.openxmlformats.org/drawingml/2006/main">
              <a:ext uri="{FF2B5EF4-FFF2-40B4-BE49-F238E27FC236}">
                <a16:creationId xmlns:a16="http://schemas.microsoft.com/office/drawing/2014/main" id="{417FF6EF-55AD-4996-A351-71930AB8B365}"/>
              </a:ext>
            </a:extLst>
          </p:cNvPr>
          <p:cNvSpPr>
            <a:spLocks xmlns:a="http://schemas.openxmlformats.org/drawingml/2006/main" noGrp="1"/>
          </p:cNvSpPr>
          <p:nvPr/>
        </p:nvSpPr>
        <p:spPr>
          <a:xfrm xmlns:a="http://schemas.openxmlformats.org/drawingml/2006/main" rot="10800000">
            <a:off x="8211312" y="2404872"/>
            <a:ext cx="219456" cy="182880"/>
          </a:xfrm>
          <a:prstGeom xmlns:a="http://schemas.openxmlformats.org/drawingml/2006/main" prst="triangle">
            <a:avLst/>
          </a:prstGeom>
          <a:solidFill xmlns:a="http://schemas.openxmlformats.org/drawingml/2006/main">
            <a:srgbClr val="F2873A"/>
          </a:solidFill>
          <a:ln xmlns:a="http://schemas.openxmlformats.org/drawingml/2006/main" w="12700">
            <a:solidFill>
              <a:srgbClr val="F2873A"/>
            </a:solidFill>
            <a:prstDash val="solid"/>
          </a:ln>
        </p:spPr>
      </p:sp>
      <p:sp>
        <p:nvSpPr>
          <p:cNvPr id="34" name="today label">
            <a:extLst xmlns:a="http://schemas.openxmlformats.org/drawingml/2006/main">
              <a:ext uri="{FF2B5EF4-FFF2-40B4-BE49-F238E27FC236}">
                <a16:creationId xmlns:a16="http://schemas.microsoft.com/office/drawing/2014/main" id="{8E79C40C-4DE0-43BA-88C4-3014A94A2F29}"/>
              </a:ext>
            </a:extLst>
          </p:cNvPr>
          <p:cNvSpPr>
            <a:spLocks xmlns:a="http://schemas.openxmlformats.org/drawingml/2006/main" noGrp="1"/>
          </p:cNvSpPr>
          <p:nvPr/>
        </p:nvSpPr>
        <p:spPr>
          <a:xfrm xmlns:a="http://schemas.openxmlformats.org/drawingml/2006/main">
            <a:off x="7726680" y="2011680"/>
            <a:ext cx="1188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2873A"/>
                </a:solidFill>
              </a:rPr>
              <a:t>Today 21 Oct</a:t>
            </a:r>
            <a:endParaRPr sz="1200"/>
          </a:p>
        </p:txBody>
      </p:sp>
      <p:sp>
        <p:nvSpPr>
          <p:cNvPr id="35" name="timeline note">
            <a:extLst xmlns:a="http://schemas.openxmlformats.org/drawingml/2006/main">
              <a:ext uri="{FF2B5EF4-FFF2-40B4-BE49-F238E27FC236}">
                <a16:creationId xmlns:a16="http://schemas.microsoft.com/office/drawing/2014/main" id="{65EEEB63-C021-4B5D-A8BC-7DE1D7A82748}"/>
              </a:ext>
            </a:extLst>
          </p:cNvPr>
          <p:cNvSpPr>
            <a:spLocks xmlns:a="http://schemas.openxmlformats.org/drawingml/2006/main" noGrp="1"/>
          </p:cNvSpPr>
          <p:nvPr/>
        </p:nvSpPr>
        <p:spPr>
          <a:xfrm xmlns:a="http://schemas.openxmlformats.org/drawingml/2006/main">
            <a:off x="457200" y="123444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21 Oct: local resilience verified. Ten-case reviewer run failed its fixed criterion. r2 remains offline only.</a:t>
            </a:r>
            <a:endParaRPr sz="1200"/>
          </a:p>
        </p:txBody>
      </p:sp>
      <p:sp>
        <p:nvSpPr>
          <p:cNvPr id="36" name="status Done">
            <a:extLst xmlns:a="http://schemas.openxmlformats.org/drawingml/2006/main">
              <a:ext uri="{FF2B5EF4-FFF2-40B4-BE49-F238E27FC236}">
                <a16:creationId xmlns:a16="http://schemas.microsoft.com/office/drawing/2014/main" id="{846D2625-C8A2-4036-B25A-273B69A7A6D2}"/>
              </a:ext>
            </a:extLst>
          </p:cNvPr>
          <p:cNvSpPr>
            <a:spLocks xmlns:a="http://schemas.openxmlformats.org/drawingml/2006/main" noGrp="1"/>
          </p:cNvSpPr>
          <p:nvPr/>
        </p:nvSpPr>
        <p:spPr>
          <a:xfrm xmlns:a="http://schemas.openxmlformats.org/drawingml/2006/main">
            <a:off x="457200" y="4983480"/>
            <a:ext cx="3639312" cy="1234440"/>
          </a:xfrm>
          <a:prstGeom xmlns:a="http://schemas.openxmlformats.org/drawingml/2006/main" prst="roundRect">
            <a:avLst>
              <a:gd name="adj" fmla="val 5926"/>
            </a:avLst>
          </a:prstGeom>
          <a:solidFill xmlns:a="http://schemas.openxmlformats.org/drawingml/2006/main">
            <a:srgbClr val="E5F4E4"/>
          </a:solidFill>
          <a:ln xmlns:a="http://schemas.openxmlformats.org/drawingml/2006/main" w="12700">
            <a:solidFill>
              <a:srgbClr val="E5F4E4"/>
            </a:solidFill>
            <a:prstDash val="solid"/>
          </a:ln>
        </p:spPr>
      </p:sp>
      <p:sp>
        <p:nvSpPr>
          <p:cNvPr id="37" name="status text Done">
            <a:extLst xmlns:a="http://schemas.openxmlformats.org/drawingml/2006/main">
              <a:ext uri="{FF2B5EF4-FFF2-40B4-BE49-F238E27FC236}">
                <a16:creationId xmlns:a16="http://schemas.microsoft.com/office/drawing/2014/main" id="{2C66A365-74F9-4E4B-9AD6-B6052DA8F0BB}"/>
              </a:ext>
            </a:extLst>
          </p:cNvPr>
          <p:cNvSpPr>
            <a:spLocks xmlns:a="http://schemas.openxmlformats.org/drawingml/2006/main" noGrp="1"/>
          </p:cNvSpPr>
          <p:nvPr/>
        </p:nvSpPr>
        <p:spPr>
          <a:xfrm xmlns:a="http://schemas.openxmlformats.org/drawingml/2006/main">
            <a:off x="594360" y="5047488"/>
            <a:ext cx="3383280"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2E9B3A"/>
                </a:solidFill>
              </a:rPr>
              <a:t>Done</a:t>
            </a:r>
            <a:endParaRPr sz="1500"/>
          </a:p>
          <a:p xmlns:a="http://schemas.openxmlformats.org/drawingml/2006/main">
            <a:pPr marL="0" indent="0">
              <a:buNone/>
            </a:pPr>
            <a:r>
              <a:rPr sz="1200">
                <a:solidFill>
                  <a:srgbClr val="262626"/>
                </a:solidFill>
              </a:rPr>
              <a:t>3 services + workers · async evaluation + gate · independent review + audit · GKE deploy · CI/CD with rollback · autoscaling 1→3→1 · UAT</a:t>
            </a:r>
            <a:endParaRPr sz="1500"/>
          </a:p>
        </p:txBody>
      </p:sp>
      <p:sp>
        <p:nvSpPr>
          <p:cNvPr id="38" name="status Partial">
            <a:extLst xmlns:a="http://schemas.openxmlformats.org/drawingml/2006/main">
              <a:ext uri="{FF2B5EF4-FFF2-40B4-BE49-F238E27FC236}">
                <a16:creationId xmlns:a16="http://schemas.microsoft.com/office/drawing/2014/main" id="{BD9E7DEC-092D-495C-9143-1A4A1630BB0D}"/>
              </a:ext>
            </a:extLst>
          </p:cNvPr>
          <p:cNvSpPr>
            <a:spLocks xmlns:a="http://schemas.openxmlformats.org/drawingml/2006/main" noGrp="1"/>
          </p:cNvSpPr>
          <p:nvPr/>
        </p:nvSpPr>
        <p:spPr>
          <a:xfrm xmlns:a="http://schemas.openxmlformats.org/drawingml/2006/main">
            <a:off x="4279392" y="4983480"/>
            <a:ext cx="3639312" cy="1234440"/>
          </a:xfrm>
          <a:prstGeom xmlns:a="http://schemas.openxmlformats.org/drawingml/2006/main" prst="roundRect">
            <a:avLst>
              <a:gd name="adj" fmla="val 5926"/>
            </a:avLst>
          </a:prstGeom>
          <a:solidFill xmlns:a="http://schemas.openxmlformats.org/drawingml/2006/main">
            <a:srgbClr val="F9ECE7"/>
          </a:solidFill>
          <a:ln xmlns:a="http://schemas.openxmlformats.org/drawingml/2006/main" w="12700">
            <a:solidFill>
              <a:srgbClr val="F9ECE7"/>
            </a:solidFill>
            <a:prstDash val="solid"/>
          </a:ln>
        </p:spPr>
      </p:sp>
      <p:sp>
        <p:nvSpPr>
          <p:cNvPr id="39" name="status text Partial">
            <a:extLst xmlns:a="http://schemas.openxmlformats.org/drawingml/2006/main">
              <a:ext uri="{FF2B5EF4-FFF2-40B4-BE49-F238E27FC236}">
                <a16:creationId xmlns:a16="http://schemas.microsoft.com/office/drawing/2014/main" id="{7FB7615D-5B9E-4125-BB65-C2003AE6C341}"/>
              </a:ext>
            </a:extLst>
          </p:cNvPr>
          <p:cNvSpPr>
            <a:spLocks xmlns:a="http://schemas.openxmlformats.org/drawingml/2006/main" noGrp="1"/>
          </p:cNvSpPr>
          <p:nvPr/>
        </p:nvSpPr>
        <p:spPr>
          <a:xfrm xmlns:a="http://schemas.openxmlformats.org/drawingml/2006/main">
            <a:off x="4416552" y="5047488"/>
            <a:ext cx="3383280"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C0581F"/>
                </a:solidFill>
              </a:rPr>
              <a:t>Partial</a:t>
            </a:r>
            <a:endParaRPr sz="1500"/>
          </a:p>
          <a:p xmlns:a="http://schemas.openxmlformats.org/drawingml/2006/main">
            <a:pPr marL="0" indent="0">
              <a:buNone/>
            </a:pPr>
            <a:r>
              <a:rPr sz="1200">
                <a:solidFill>
                  <a:srgbClr val="262626"/>
                </a:solidFill>
              </a:rPr>
              <a:t>Reviewer: shadow only. Ten-case run: target rules 4/5. r2: offline only. Last full regression: 782/783.</a:t>
            </a:r>
            <a:endParaRPr sz="1500"/>
          </a:p>
        </p:txBody>
      </p:sp>
      <p:sp>
        <p:nvSpPr>
          <p:cNvPr id="40" name="status Open">
            <a:extLst xmlns:a="http://schemas.openxmlformats.org/drawingml/2006/main">
              <a:ext uri="{FF2B5EF4-FFF2-40B4-BE49-F238E27FC236}">
                <a16:creationId xmlns:a16="http://schemas.microsoft.com/office/drawing/2014/main" id="{2E0656D1-B2D3-4D4B-8284-EA97698B72A6}"/>
              </a:ext>
            </a:extLst>
          </p:cNvPr>
          <p:cNvSpPr>
            <a:spLocks xmlns:a="http://schemas.openxmlformats.org/drawingml/2006/main" noGrp="1"/>
          </p:cNvSpPr>
          <p:nvPr/>
        </p:nvSpPr>
        <p:spPr>
          <a:xfrm xmlns:a="http://schemas.openxmlformats.org/drawingml/2006/main">
            <a:off x="8101584" y="4983480"/>
            <a:ext cx="3639312" cy="1234440"/>
          </a:xfrm>
          <a:prstGeom xmlns:a="http://schemas.openxmlformats.org/drawingml/2006/main" prst="roundRect">
            <a:avLst>
              <a:gd name="adj" fmla="val 5926"/>
            </a:avLst>
          </a:prstGeom>
          <a:solidFill xmlns:a="http://schemas.openxmlformats.org/drawingml/2006/main">
            <a:srgbClr val="F0EFEC"/>
          </a:solidFill>
          <a:ln xmlns:a="http://schemas.openxmlformats.org/drawingml/2006/main" w="12700">
            <a:solidFill>
              <a:srgbClr val="F0EFEC"/>
            </a:solidFill>
            <a:prstDash val="solid"/>
          </a:ln>
        </p:spPr>
      </p:sp>
      <p:sp>
        <p:nvSpPr>
          <p:cNvPr id="41" name="status text Open">
            <a:extLst xmlns:a="http://schemas.openxmlformats.org/drawingml/2006/main">
              <a:ext uri="{FF2B5EF4-FFF2-40B4-BE49-F238E27FC236}">
                <a16:creationId xmlns:a16="http://schemas.microsoft.com/office/drawing/2014/main" id="{2D1A0D70-4CCF-4C2E-BDF4-04A59F33D78F}"/>
              </a:ext>
            </a:extLst>
          </p:cNvPr>
          <p:cNvSpPr>
            <a:spLocks xmlns:a="http://schemas.openxmlformats.org/drawingml/2006/main" noGrp="1"/>
          </p:cNvSpPr>
          <p:nvPr/>
        </p:nvSpPr>
        <p:spPr>
          <a:xfrm xmlns:a="http://schemas.openxmlformats.org/drawingml/2006/main">
            <a:off x="8238744" y="5047488"/>
            <a:ext cx="3383280"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595959"/>
                </a:solidFill>
              </a:rPr>
              <a:t>Open</a:t>
            </a:r>
            <a:endParaRPr sz="1500"/>
          </a:p>
          <a:p xmlns:a="http://schemas.openxmlformats.org/drawingml/2006/main">
            <a:pPr marL="0" indent="0">
              <a:buNone/>
            </a:pPr>
            <a:r>
              <a:rPr sz="1200">
                <a:solidFill>
                  <a:srgbClr val="262626"/>
                </a:solidFill>
              </a:rPr>
              <a:t>Multi-person human UAT · sustained load test · production HA</a:t>
            </a:r>
            <a:endParaRPr sz="1500"/>
          </a:p>
        </p:txBody>
      </p:sp>
      <p:sp>
        <p:nvSpPr>
          <p:cNvPr id="42" name="Slide Number Placeholder 0">
            <a:extLst xmlns:a="http://schemas.openxmlformats.org/drawingml/2006/main">
              <a:ext uri="{FF2B5EF4-FFF2-40B4-BE49-F238E27FC236}">
                <a16:creationId xmlns:a16="http://schemas.microsoft.com/office/drawing/2014/main" id="{1BE5AAA6-89C9-4B20-8DFE-260C4D98583F}"/>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EFD6AB9A-5F9E-5F59-51AB-3C8734130965}" type="slidenum">
              <a:rPr b="0"/>
              <a:t>4</a:t>
            </a:fld>
            <a:endParaRPr/>
          </a:p>
        </p:txBody>
      </p:sp>
    </p:spTree>
    <p:extLst>
      <p:ext uri="{BB962C8B-B14F-4D97-AF65-F5344CB8AC3E}">
        <p14:creationId xmlns:p14="http://schemas.microsoft.com/office/powerpoint/2010/main" val="144050783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1ECAB2-78C0-4632-852D-837E35013D1B}"/>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Team responsibilities and effort</a:t>
            </a:r>
            <a:endParaRPr sz="2800"/>
          </a:p>
        </p:txBody>
      </p:sp>
      <p:sp>
        <p:nvSpPr>
          <p:cNvPr id="3" name="section tag">
            <a:extLst xmlns:a="http://schemas.openxmlformats.org/drawingml/2006/main">
              <a:ext uri="{FF2B5EF4-FFF2-40B4-BE49-F238E27FC236}">
                <a16:creationId xmlns:a16="http://schemas.microsoft.com/office/drawing/2014/main" id="{E2B80F0E-D33B-41F5-9222-E41986F5FFC1}"/>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2 · Project Conduct</a:t>
            </a:r>
            <a:endParaRPr sz="1200"/>
          </a:p>
        </p:txBody>
      </p:sp>
      <p:graphicFrame>
        <p:nvGraphicFramePr>
          <p:cNvPr id="6" name="team table">
            <a:extLst xmlns:a="http://schemas.openxmlformats.org/drawingml/2006/main">
              <a:ext uri="{FF2B5EF4-FFF2-40B4-BE49-F238E27FC236}">
                <a16:creationId xmlns:a16="http://schemas.microsoft.com/office/drawing/2014/main" id="{C1321297-A931-478D-8901-5143D6AC93A8}"/>
              </a:ext>
            </a:extLst>
          </p:cNvPr>
          <p:cNvGraphicFramePr/>
          <p:nvPr/>
        </p:nvGraphicFramePr>
        <p:xfrm>
          <a:off xmlns:a="http://schemas.openxmlformats.org/drawingml/2006/main" x="457200" y="1280160"/>
          <a:ext xmlns:a="http://schemas.openxmlformats.org/drawingml/2006/main" cx="11274552" cy="914400"/>
        </p:xfrm>
        <a:graphic xmlns:a="http://schemas.openxmlformats.org/drawingml/2006/main">
          <a:graphicData uri="http://schemas.openxmlformats.org/drawingml/2006/table">
            <a:tbl>
              <a:tblPr/>
              <a:tblGrid>
                <a:gridCol w="2194560"/>
                <a:gridCol w="3291840"/>
                <a:gridCol w="3959352"/>
                <a:gridCol w="1828800"/>
              </a:tblGrid>
              <a:tr h="0">
                <a:tc>
                  <a:txBody>
                    <a:bodyPr/>
                    <a:lstStyle/>
                    <a:p>
                      <a:pPr marL="0" indent="0">
                        <a:buNone/>
                      </a:pPr>
                      <a:r>
                        <a:rPr sz="1500" b="1">
                          <a:solidFill>
                            <a:srgbClr val="FFFFFF"/>
                          </a:solidFill>
                          <a:latin typeface="Arial"/>
                          <a:ea typeface="Arial"/>
                          <a:cs typeface="Arial"/>
                        </a:rPr>
                        <a:t>Member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Responsibility</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Main deliverables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Rough total effort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400">
                          <a:solidFill>
                            <a:srgbClr val="111111"/>
                          </a:solidFill>
                          <a:latin typeface="Arial"/>
                          <a:ea typeface="Arial"/>
                          <a:cs typeface="Arial"/>
                        </a:rPr>
                        <a:t>A · TANG YUCHEN</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Requirements, UI, UAT, presentation</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Console pages · 25-item UAT record · PR #4</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400">
                          <a:solidFill>
                            <a:srgbClr val="111111"/>
                          </a:solidFill>
                          <a:latin typeface="Arial"/>
                          <a:ea typeface="Arial"/>
                          <a:cs typeface="Arial"/>
                        </a:rPr>
                        <a:t>B · ZHU PENGXU</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APIs, data, domain and review invariants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Review invariants · acceptance rules and lineage · PR #3</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400">
                          <a:solidFill>
                            <a:srgbClr val="111111"/>
                          </a:solidFill>
                          <a:latin typeface="Arial"/>
                          <a:ea typeface="Arial"/>
                          <a:cs typeface="Arial"/>
                        </a:rPr>
                        <a:t>C · LIN XINDA</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Support app, provider, evaluation experiments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Customer A/B run · reviewer v3 protocol and development runs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400">
                          <a:solidFill>
                            <a:srgbClr val="111111"/>
                          </a:solidFill>
                          <a:latin typeface="Arial"/>
                          <a:ea typeface="Arial"/>
                          <a:cs typeface="Arial"/>
                        </a:rPr>
                        <a:t>D · LIAO CAN</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Containers, cloud, CI/CD, recovery</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GKE trial · CI/CD with rollback · backup and restore</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400">
                          <a:solidFill>
                            <a:srgbClr val="111111"/>
                          </a:solidFill>
                          <a:latin typeface="Arial"/>
                          <a:ea typeface="Arial"/>
                          <a:cs typeface="Arial"/>
                        </a:rPr>
                        <a:t>E · LIAO BINFENG</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Security, performance, fault testing</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PR #2 · load, fault and scaling evidence</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b="1">
                          <a:solidFill>
                            <a:srgbClr val="C0581F"/>
                          </a:solidFill>
                          <a:latin typeface="Arial"/>
                          <a:ea typeface="Arial"/>
                          <a:cs typeface="Arial"/>
                        </a:rPr>
                        <a:t>TBC</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bl>
          </a:graphicData>
        </a:graphic>
      </p:graphicFrame>
      <p:sp>
        <p:nvSpPr>
          <p:cNvPr id="5" name="effort note card">
            <a:extLst xmlns:a="http://schemas.openxmlformats.org/drawingml/2006/main">
              <a:ext uri="{FF2B5EF4-FFF2-40B4-BE49-F238E27FC236}">
                <a16:creationId xmlns:a16="http://schemas.microsoft.com/office/drawing/2014/main" id="{BBBE1B9F-327F-4B23-A781-502A371F2FFF}"/>
              </a:ext>
            </a:extLst>
          </p:cNvPr>
          <p:cNvSpPr>
            <a:spLocks xmlns:a="http://schemas.openxmlformats.org/drawingml/2006/main" noGrp="1"/>
          </p:cNvSpPr>
          <p:nvPr/>
        </p:nvSpPr>
        <p:spPr>
          <a:xfrm xmlns:a="http://schemas.openxmlformats.org/drawingml/2006/main">
            <a:off x="457200" y="4572000"/>
            <a:ext cx="11274552" cy="1097280"/>
          </a:xfrm>
          <a:prstGeom xmlns:a="http://schemas.openxmlformats.org/drawingml/2006/main" prst="rect">
            <a:avLst/>
          </a:prstGeom>
          <a:solidFill xmlns:a="http://schemas.openxmlformats.org/drawingml/2006/main">
            <a:srgbClr val="EEF3FA"/>
          </a:solidFill>
          <a:ln xmlns:a="http://schemas.openxmlformats.org/drawingml/2006/main" w="12700">
            <a:solidFill>
              <a:srgbClr val="EEF3FA"/>
            </a:solidFill>
            <a:prstDash val="solid"/>
          </a:ln>
        </p:spPr>
      </p:sp>
      <p:sp>
        <p:nvSpPr>
          <p:cNvPr id="26" name="effort note">
            <a:extLst xmlns:a="http://schemas.openxmlformats.org/drawingml/2006/main">
              <a:ext uri="{FF2B5EF4-FFF2-40B4-BE49-F238E27FC236}">
                <a16:creationId xmlns:a16="http://schemas.microsoft.com/office/drawing/2014/main" id="{FCE41D56-FFA0-4206-B5F3-E478AAE160FF}"/>
              </a:ext>
            </a:extLst>
          </p:cNvPr>
          <p:cNvSpPr>
            <a:spLocks xmlns:a="http://schemas.openxmlformats.org/drawingml/2006/main" noGrp="1"/>
          </p:cNvSpPr>
          <p:nvPr/>
        </p:nvSpPr>
        <p:spPr>
          <a:xfrm xmlns:a="http://schemas.openxmlformats.org/drawingml/2006/main">
            <a:off x="640080" y="4636008"/>
            <a:ext cx="1088136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0000"/>
                </a:solidFill>
              </a:rPr>
              <a:t>Planned: </a:t>
            </a:r>
            <a:r>
              <a:rPr sz="1400">
                <a:solidFill>
                  <a:srgbClr val="000000"/>
                </a:solidFill>
              </a:rPr>
              <a:t>50 person-days in the proposal (10 per member). Actual effort is each member’s own estimate.</a:t>
            </a:r>
            <a:endParaRPr sz="1400"/>
          </a:p>
          <a:p xmlns:a="http://schemas.openxmlformats.org/drawingml/2006/main">
            <a:pPr marL="0" indent="0">
              <a:buNone/>
            </a:pPr>
            <a:r>
              <a:rPr sz="1400" b="1">
                <a:solidFill>
                  <a:srgbClr val="000000"/>
                </a:solidFill>
              </a:rPr>
              <a:t>Definition of done: </a:t>
            </a:r>
            <a:r>
              <a:rPr sz="1400">
                <a:solidFill>
                  <a:srgbClr val="000000"/>
                </a:solidFill>
              </a:rPr>
              <a:t>reproducible build and tests · immutable evidence · permission and release invariants · independent review.</a:t>
            </a:r>
            <a:endParaRPr sz="1400"/>
          </a:p>
        </p:txBody>
      </p:sp>
      <p:sp>
        <p:nvSpPr>
          <p:cNvPr id="25" name="Slide Number Placeholder 0">
            <a:extLst xmlns:a="http://schemas.openxmlformats.org/drawingml/2006/main">
              <a:ext uri="{FF2B5EF4-FFF2-40B4-BE49-F238E27FC236}">
                <a16:creationId xmlns:a16="http://schemas.microsoft.com/office/drawing/2014/main" id="{1C2A6B23-70A2-40C0-9736-8103963AF0A4}"/>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EE5B3003-2C54-13C6-9832-7637201064DE}" type="slidenum">
              <a:rPr b="0"/>
              <a:t>5</a:t>
            </a:fld>
            <a:endParaRPr/>
          </a:p>
        </p:txBody>
      </p:sp>
    </p:spTree>
    <p:extLst>
      <p:ext uri="{BB962C8B-B14F-4D97-AF65-F5344CB8AC3E}">
        <p14:creationId xmlns:p14="http://schemas.microsoft.com/office/powerpoint/2010/main" val="6581238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7E36A5F-3D3A-400D-BD29-CD23BC42779F}"/>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Key architectural decisions</a:t>
            </a:r>
            <a:endParaRPr sz="2800"/>
          </a:p>
        </p:txBody>
      </p:sp>
      <p:sp>
        <p:nvSpPr>
          <p:cNvPr id="3" name="section tag">
            <a:extLst xmlns:a="http://schemas.openxmlformats.org/drawingml/2006/main">
              <a:ext uri="{FF2B5EF4-FFF2-40B4-BE49-F238E27FC236}">
                <a16:creationId xmlns:a16="http://schemas.microsoft.com/office/drawing/2014/main" id="{31C136F0-FEA2-4991-8248-14329E581484}"/>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3 · Logical Architecture</a:t>
            </a:r>
            <a:endParaRPr sz="1200"/>
          </a:p>
        </p:txBody>
      </p:sp>
      <p:pic>
        <p:nvPicPr>
          <p:cNvPr id="4" name="architecture decisions">
            <a:extLst xmlns:a="http://schemas.openxmlformats.org/drawingml/2006/main">
              <a:ext uri="{FF2B5EF4-FFF2-40B4-BE49-F238E27FC236}">
                <a16:creationId xmlns:a16="http://schemas.microsoft.com/office/drawing/2014/main" id="{594C7950-DD4B-4ADB-9A13-4100CEAF6ED3}"/>
              </a:ext>
            </a:extLst>
          </p:cNvPr>
          <p:cNvPicPr>
            <a:picLocks xmlns:a="http://schemas.openxmlformats.org/drawingml/2006/main" noChangeAspect="1"/>
          </p:cNvPicPr>
          <p:nvPr/>
        </p:nvPicPr>
        <p:blipFill>
          <a:blip xmlns:r="http://schemas.openxmlformats.org/officeDocument/2006/relationships" xmlns:a="http://schemas.openxmlformats.org/drawingml/2006/main" r:embed="Rb121e1df30bb4cf1"/>
          <a:stretch xmlns:a="http://schemas.openxmlformats.org/drawingml/2006/main">
            <a:fillRect l="0" t="0" r="0" b="0"/>
          </a:stretch>
        </p:blipFill>
        <p:spPr>
          <a:xfrm xmlns:a="http://schemas.openxmlformats.org/drawingml/2006/main">
            <a:off x="365760" y="1188720"/>
            <a:ext cx="11457432" cy="4955339"/>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B5C0ACD2-DEDB-422D-B10C-A6DAFDE33112}"/>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8C630A04-5A25-9E0C-9436-126091DB86B3}" type="slidenum">
              <a:rPr b="0"/>
              <a:t>6</a:t>
            </a:fld>
            <a:endParaRPr/>
          </a:p>
        </p:txBody>
      </p:sp>
    </p:spTree>
    <p:extLst>
      <p:ext uri="{BB962C8B-B14F-4D97-AF65-F5344CB8AC3E}">
        <p14:creationId xmlns:p14="http://schemas.microsoft.com/office/powerpoint/2010/main" val="14297902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478E70-2ADD-4D2B-980E-E4D3B5FFACE9}"/>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Logical architecture: detailed deployment view</a:t>
            </a:r>
            <a:endParaRPr sz="2800"/>
          </a:p>
        </p:txBody>
      </p:sp>
      <p:sp>
        <p:nvSpPr>
          <p:cNvPr id="3" name="section tag">
            <a:extLst xmlns:a="http://schemas.openxmlformats.org/drawingml/2006/main">
              <a:ext uri="{FF2B5EF4-FFF2-40B4-BE49-F238E27FC236}">
                <a16:creationId xmlns:a16="http://schemas.microsoft.com/office/drawing/2014/main" id="{28CEA3A8-67BB-4C0F-AB68-752F33C8710D}"/>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3 · Logical Architecture</a:t>
            </a:r>
            <a:endParaRPr sz="1200"/>
          </a:p>
        </p:txBody>
      </p:sp>
      <p:pic>
        <p:nvPicPr>
          <p:cNvPr id="4" name="logical detail deployment diagram">
            <a:extLst xmlns:a="http://schemas.openxmlformats.org/drawingml/2006/main">
              <a:ext uri="{FF2B5EF4-FFF2-40B4-BE49-F238E27FC236}">
                <a16:creationId xmlns:a16="http://schemas.microsoft.com/office/drawing/2014/main" id="{07262D54-C189-4BF2-906E-541CCE13A0DF}"/>
              </a:ext>
            </a:extLst>
          </p:cNvPr>
          <p:cNvPicPr>
            <a:picLocks xmlns:a="http://schemas.openxmlformats.org/drawingml/2006/main" noChangeAspect="1"/>
          </p:cNvPicPr>
          <p:nvPr/>
        </p:nvPicPr>
        <p:blipFill>
          <a:blip xmlns:r="http://schemas.openxmlformats.org/officeDocument/2006/relationships" xmlns:a="http://schemas.openxmlformats.org/drawingml/2006/main" r:embed="R07e942813b8c4227"/>
          <a:stretch xmlns:a="http://schemas.openxmlformats.org/drawingml/2006/main">
            <a:fillRect l="0" t="0" r="0" b="0"/>
          </a:stretch>
        </p:blipFill>
        <p:spPr>
          <a:xfrm xmlns:a="http://schemas.openxmlformats.org/drawingml/2006/main">
            <a:off x="387096" y="1188720"/>
            <a:ext cx="11414760" cy="4892040"/>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ECC5AB56-8F64-45B3-8781-07CDDF2BE300}"/>
              </a:ext>
            </a:extLst>
          </p:cNvPr>
          <p:cNvSpPr>
            <a:spLocks xmlns:a="http://schemas.openxmlformats.org/drawingml/2006/main" noGrp="1"/>
          </p:cNvSpPr>
          <p:nvPr/>
        </p:nvSpPr>
        <p:spPr>
          <a:xfrm xmlns:a="http://schemas.openxmlformats.org/drawingml/2006/main">
            <a:off x="457200" y="6053328"/>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Each subsystem owns its data · workers belong to the Evaluation context · the model adapter is an anticorruption layer</a:t>
            </a:r>
            <a:endParaRPr sz="1200"/>
          </a:p>
        </p:txBody>
      </p:sp>
      <p:sp>
        <p:nvSpPr>
          <p:cNvPr id="25" name="Slide Number Placeholder 0">
            <a:extLst xmlns:a="http://schemas.openxmlformats.org/drawingml/2006/main">
              <a:ext uri="{FF2B5EF4-FFF2-40B4-BE49-F238E27FC236}">
                <a16:creationId xmlns:a16="http://schemas.microsoft.com/office/drawing/2014/main" id="{E71E7823-3B34-403B-955C-F6A2428F4C46}"/>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D3D7D1C8-AE23-AA48-DF65-C742588DBE47}" type="slidenum">
              <a:rPr b="0"/>
              <a:t>7</a:t>
            </a:fld>
            <a:endParaRPr/>
          </a:p>
        </p:txBody>
      </p:sp>
    </p:spTree>
    <p:extLst>
      <p:ext uri="{BB962C8B-B14F-4D97-AF65-F5344CB8AC3E}">
        <p14:creationId xmlns:p14="http://schemas.microsoft.com/office/powerpoint/2010/main" val="3773036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0B76C6-FF78-4446-9D5B-372567C9DCEF}"/>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DDD: bounded contexts and context map</a:t>
            </a:r>
            <a:endParaRPr sz="2800"/>
          </a:p>
        </p:txBody>
      </p:sp>
      <p:sp>
        <p:nvSpPr>
          <p:cNvPr id="3" name="section tag">
            <a:extLst xmlns:a="http://schemas.openxmlformats.org/drawingml/2006/main">
              <a:ext uri="{FF2B5EF4-FFF2-40B4-BE49-F238E27FC236}">
                <a16:creationId xmlns:a16="http://schemas.microsoft.com/office/drawing/2014/main" id="{186DB53C-D22D-42D2-96A5-315D47ABDEDA}"/>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3 · Logical Architecture</a:t>
            </a:r>
            <a:endParaRPr sz="1200"/>
          </a:p>
        </p:txBody>
      </p:sp>
      <p:pic>
        <p:nvPicPr>
          <p:cNvPr id="4" name="context map">
            <a:extLst xmlns:a="http://schemas.openxmlformats.org/drawingml/2006/main">
              <a:ext uri="{FF2B5EF4-FFF2-40B4-BE49-F238E27FC236}">
                <a16:creationId xmlns:a16="http://schemas.microsoft.com/office/drawing/2014/main" id="{4328FDB1-6BB6-4F34-8F19-30A2708844D5}"/>
              </a:ext>
            </a:extLst>
          </p:cNvPr>
          <p:cNvPicPr>
            <a:picLocks xmlns:a="http://schemas.openxmlformats.org/drawingml/2006/main" noChangeAspect="1"/>
          </p:cNvPicPr>
          <p:nvPr/>
        </p:nvPicPr>
        <p:blipFill>
          <a:blip xmlns:r="http://schemas.openxmlformats.org/officeDocument/2006/relationships" xmlns:a="http://schemas.openxmlformats.org/drawingml/2006/main" r:embed="Rfca14d62273344e6"/>
          <a:stretch xmlns:a="http://schemas.openxmlformats.org/drawingml/2006/main">
            <a:fillRect l="0" t="0" r="0" b="0"/>
          </a:stretch>
        </p:blipFill>
        <p:spPr>
          <a:xfrm xmlns:a="http://schemas.openxmlformats.org/drawingml/2006/main">
            <a:off x="677524" y="1188720"/>
            <a:ext cx="10833904" cy="4754880"/>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93D1B3F1-7136-4D9D-A130-A7821B502B90}"/>
              </a:ext>
            </a:extLst>
          </p:cNvPr>
          <p:cNvSpPr>
            <a:spLocks xmlns:a="http://schemas.openxmlformats.org/drawingml/2006/main" noGrp="1"/>
          </p:cNvSpPr>
          <p:nvPr/>
        </p:nvSpPr>
        <p:spPr>
          <a:xfrm xmlns:a="http://schemas.openxmlformats.org/drawingml/2006/main">
            <a:off x="457200" y="6053328"/>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Ubiquitous language: execution succeeded ≠ rule eligible ≠ approved</a:t>
            </a:r>
            <a:endParaRPr sz="1200"/>
          </a:p>
        </p:txBody>
      </p:sp>
      <p:sp>
        <p:nvSpPr>
          <p:cNvPr id="25" name="Slide Number Placeholder 0">
            <a:extLst xmlns:a="http://schemas.openxmlformats.org/drawingml/2006/main">
              <a:ext uri="{FF2B5EF4-FFF2-40B4-BE49-F238E27FC236}">
                <a16:creationId xmlns:a16="http://schemas.microsoft.com/office/drawing/2014/main" id="{C6E44D81-E128-402D-B0DF-8BF007DEC7AB}"/>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BA58DA2A-B818-18A9-29C1-B697728D5BCE}" type="slidenum">
              <a:rPr b="0"/>
              <a:t>8</a:t>
            </a:fld>
            <a:endParaRPr/>
          </a:p>
        </p:txBody>
      </p:sp>
    </p:spTree>
    <p:extLst>
      <p:ext uri="{BB962C8B-B14F-4D97-AF65-F5344CB8AC3E}">
        <p14:creationId xmlns:p14="http://schemas.microsoft.com/office/powerpoint/2010/main" val="142286596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9D12E-F1E2-4DFB-A019-60007AE6F5A4}"/>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How producers and consumers integrate</a:t>
            </a:r>
            <a:endParaRPr sz="2800"/>
          </a:p>
        </p:txBody>
      </p:sp>
      <p:sp>
        <p:nvSpPr>
          <p:cNvPr id="3" name="section tag">
            <a:extLst xmlns:a="http://schemas.openxmlformats.org/drawingml/2006/main">
              <a:ext uri="{FF2B5EF4-FFF2-40B4-BE49-F238E27FC236}">
                <a16:creationId xmlns:a16="http://schemas.microsoft.com/office/drawing/2014/main" id="{24DE8CBC-8C45-4156-B0EE-62CA36E301F9}"/>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3 · Logical Architecture</a:t>
            </a:r>
            <a:endParaRPr sz="1200"/>
          </a:p>
        </p:txBody>
      </p:sp>
      <p:pic>
        <p:nvPicPr>
          <p:cNvPr id="4" name="integration endpoints">
            <a:extLst xmlns:a="http://schemas.openxmlformats.org/drawingml/2006/main">
              <a:ext uri="{FF2B5EF4-FFF2-40B4-BE49-F238E27FC236}">
                <a16:creationId xmlns:a16="http://schemas.microsoft.com/office/drawing/2014/main" id="{7CE7B18F-0F96-4A68-B66B-2E17B3ADE64D}"/>
              </a:ext>
            </a:extLst>
          </p:cNvPr>
          <p:cNvPicPr>
            <a:picLocks xmlns:a="http://schemas.openxmlformats.org/drawingml/2006/main" noChangeAspect="1"/>
          </p:cNvPicPr>
          <p:nvPr/>
        </p:nvPicPr>
        <p:blipFill>
          <a:blip xmlns:r="http://schemas.openxmlformats.org/officeDocument/2006/relationships" xmlns:a="http://schemas.openxmlformats.org/drawingml/2006/main" r:embed="Rd0b5ca40874e4a6b"/>
          <a:stretch xmlns:a="http://schemas.openxmlformats.org/drawingml/2006/main">
            <a:fillRect l="0" t="0" r="0" b="0"/>
          </a:stretch>
        </p:blipFill>
        <p:spPr>
          <a:xfrm xmlns:a="http://schemas.openxmlformats.org/drawingml/2006/main">
            <a:off x="365760" y="1188720"/>
            <a:ext cx="11457432" cy="4411111"/>
          </a:xfrm>
          <a:prstGeom xmlns:a="http://schemas.openxmlformats.org/drawingml/2006/main" prst="rect">
            <a:avLst/>
          </a:prstGeom>
        </p:spPr>
      </p:pic>
      <p:sp>
        <p:nvSpPr>
          <p:cNvPr id="5" name="producer consumer note">
            <a:extLst xmlns:a="http://schemas.openxmlformats.org/drawingml/2006/main">
              <a:ext uri="{FF2B5EF4-FFF2-40B4-BE49-F238E27FC236}">
                <a16:creationId xmlns:a16="http://schemas.microsoft.com/office/drawing/2014/main" id="{0DE6B300-F150-4A45-9D99-926814E8E1B3}"/>
              </a:ext>
            </a:extLst>
          </p:cNvPr>
          <p:cNvSpPr>
            <a:spLocks xmlns:a="http://schemas.openxmlformats.org/drawingml/2006/main" noGrp="1"/>
          </p:cNvSpPr>
          <p:nvPr/>
        </p:nvSpPr>
        <p:spPr>
          <a:xfrm xmlns:a="http://schemas.openxmlformats.org/drawingml/2006/main">
            <a:off x="457200" y="5715000"/>
            <a:ext cx="1127455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73F7E"/>
                </a:solidFill>
              </a:rPr>
              <a:t>Producers </a:t>
            </a:r>
            <a:r>
              <a:rPr sz="1400">
                <a:solidFill>
                  <a:srgbClr val="000000"/>
                </a:solidFill>
              </a:rPr>
              <a:t>register an application and append suite versions.   </a:t>
            </a:r>
            <a:r>
              <a:rPr sz="1400" b="1">
                <a:solidFill>
                  <a:srgbClr val="173F7E"/>
                </a:solidFill>
              </a:rPr>
              <a:t>Consumers </a:t>
            </a:r>
            <a:r>
              <a:rPr sz="1400">
                <a:solidFill>
                  <a:srgbClr val="000000"/>
                </a:solidFill>
              </a:rPr>
              <a:t>call the same APIs; the CLI returns exit code 3 when the gate blocks, so a CI pipeline can stop a release.</a:t>
            </a:r>
            <a:endParaRPr sz="1400"/>
          </a:p>
        </p:txBody>
      </p:sp>
      <p:sp>
        <p:nvSpPr>
          <p:cNvPr id="25" name="Slide Number Placeholder 0">
            <a:extLst xmlns:a="http://schemas.openxmlformats.org/drawingml/2006/main">
              <a:ext uri="{FF2B5EF4-FFF2-40B4-BE49-F238E27FC236}">
                <a16:creationId xmlns:a16="http://schemas.microsoft.com/office/drawing/2014/main" id="{83494F46-B553-41D1-8BBA-FECD512BD6D3}"/>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388657AE-30A1-5A7A-6A7F-315D84436430}" type="slidenum">
              <a:rPr b="0"/>
              <a:t>9</a:t>
            </a:fld>
            <a:endParaRPr/>
          </a:p>
        </p:txBody>
      </p:sp>
    </p:spTree>
    <p:extLst>
      <p:ext uri="{BB962C8B-B14F-4D97-AF65-F5344CB8AC3E}">
        <p14:creationId xmlns:p14="http://schemas.microsoft.com/office/powerpoint/2010/main" val="6977906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B59613-FC8F-4245-8BC5-60B83F638361}"/>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Physical architecture decisions</a:t>
            </a:r>
            <a:endParaRPr sz="2800"/>
          </a:p>
        </p:txBody>
      </p:sp>
      <p:sp>
        <p:nvSpPr>
          <p:cNvPr id="3" name="section tag">
            <a:extLst xmlns:a="http://schemas.openxmlformats.org/drawingml/2006/main">
              <a:ext uri="{FF2B5EF4-FFF2-40B4-BE49-F238E27FC236}">
                <a16:creationId xmlns:a16="http://schemas.microsoft.com/office/drawing/2014/main" id="{33054827-4884-452B-BA5D-1EC97AA1EF63}"/>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4 · Physical Architecture</a:t>
            </a:r>
            <a:endParaRPr sz="1200"/>
          </a:p>
        </p:txBody>
      </p:sp>
      <p:graphicFrame>
        <p:nvGraphicFramePr>
          <p:cNvPr id="11" name="physical decisions table">
            <a:extLst xmlns:a="http://schemas.openxmlformats.org/drawingml/2006/main">
              <a:ext uri="{FF2B5EF4-FFF2-40B4-BE49-F238E27FC236}">
                <a16:creationId xmlns:a16="http://schemas.microsoft.com/office/drawing/2014/main" id="{F4CAD76D-440A-4811-AA8A-5E25C092D949}"/>
              </a:ext>
            </a:extLst>
          </p:cNvPr>
          <p:cNvGraphicFramePr/>
          <p:nvPr/>
        </p:nvGraphicFramePr>
        <p:xfrm>
          <a:off xmlns:a="http://schemas.openxmlformats.org/drawingml/2006/main" x="457200" y="1325880"/>
          <a:ext xmlns:a="http://schemas.openxmlformats.org/drawingml/2006/main" cx="11274552" cy="914400"/>
        </p:xfrm>
        <a:graphic xmlns:a="http://schemas.openxmlformats.org/drawingml/2006/main">
          <a:graphicData uri="http://schemas.openxmlformats.org/drawingml/2006/table">
            <a:tbl>
              <a:tblPr/>
              <a:tblGrid>
                <a:gridCol w="4023360"/>
                <a:gridCol w="3931920"/>
                <a:gridCol w="3319272"/>
              </a:tblGrid>
              <a:tr h="0">
                <a:tc>
                  <a:txBody>
                    <a:bodyPr/>
                    <a:lstStyle/>
                    <a:p>
                      <a:pPr marL="0" indent="0">
                        <a:buNone/>
                      </a:pPr>
                      <a:r>
                        <a:rPr sz="1500" b="1">
                          <a:solidFill>
                            <a:srgbClr val="FFFFFF"/>
                          </a:solidFill>
                          <a:latin typeface="Arial"/>
                          <a:ea typeface="Arial"/>
                          <a:cs typeface="Arial"/>
                        </a:rPr>
                        <a:t>Decision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Why</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Trade-off</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500">
                          <a:solidFill>
                            <a:srgbClr val="111111"/>
                          </a:solidFill>
                          <a:latin typeface="Arial"/>
                          <a:ea typeface="Arial"/>
                          <a:cs typeface="Arial"/>
                        </a:rPr>
                        <a:t>GKE in asia-southeast1-a, 2 × e2-standard-2 nodes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Fits the free trial; close to users in Singapore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Single zone; no zone-level failover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PostgreSQL, RabbitMQ and Keycloak run inside the cluster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Low cost and full control of configuration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No managed HA or managed backup</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KEDA scales workers on queue depth, not CPU</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Model calls are I/O-bound: CPU stays low while work piles up</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Cold-start delay; needs warm metrics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Workload Identity Federation, digest-pinned images, TLS / AMQPS, NetworkPolicy</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No stored cloud keys; the deployed image is exactly the tested one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More setup; egress not yet fully restricted</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bl>
          </a:graphicData>
        </a:graphic>
      </p:graphicFrame>
      <p:sp>
        <p:nvSpPr>
          <p:cNvPr id="5" name="cost note card">
            <a:extLst xmlns:a="http://schemas.openxmlformats.org/drawingml/2006/main">
              <a:ext uri="{FF2B5EF4-FFF2-40B4-BE49-F238E27FC236}">
                <a16:creationId xmlns:a16="http://schemas.microsoft.com/office/drawing/2014/main" id="{9E28A460-58A3-461F-B8F2-150A70750629}"/>
              </a:ext>
            </a:extLst>
          </p:cNvPr>
          <p:cNvSpPr>
            <a:spLocks xmlns:a="http://schemas.openxmlformats.org/drawingml/2006/main" noGrp="1"/>
          </p:cNvSpPr>
          <p:nvPr/>
        </p:nvSpPr>
        <p:spPr>
          <a:xfrm xmlns:a="http://schemas.openxmlformats.org/drawingml/2006/main">
            <a:off x="457200" y="4434840"/>
            <a:ext cx="11274552" cy="868680"/>
          </a:xfrm>
          <a:prstGeom xmlns:a="http://schemas.openxmlformats.org/drawingml/2006/main" prst="rect">
            <a:avLst/>
          </a:prstGeom>
          <a:solidFill xmlns:a="http://schemas.openxmlformats.org/drawingml/2006/main">
            <a:srgbClr val="EEF3FA"/>
          </a:solidFill>
          <a:ln xmlns:a="http://schemas.openxmlformats.org/drawingml/2006/main" w="12700">
            <a:solidFill>
              <a:srgbClr val="EEF3FA"/>
            </a:solidFill>
            <a:prstDash val="solid"/>
          </a:ln>
        </p:spPr>
      </p:sp>
      <p:sp>
        <p:nvSpPr>
          <p:cNvPr id="6" name="cost note">
            <a:extLst xmlns:a="http://schemas.openxmlformats.org/drawingml/2006/main">
              <a:ext uri="{FF2B5EF4-FFF2-40B4-BE49-F238E27FC236}">
                <a16:creationId xmlns:a16="http://schemas.microsoft.com/office/drawing/2014/main" id="{FCEA2BCC-2887-4591-90B1-45B3F65ACB1B}"/>
              </a:ext>
            </a:extLst>
          </p:cNvPr>
          <p:cNvSpPr>
            <a:spLocks xmlns:a="http://schemas.openxmlformats.org/drawingml/2006/main" noGrp="1"/>
          </p:cNvSpPr>
          <p:nvPr/>
        </p:nvSpPr>
        <p:spPr>
          <a:xfrm xmlns:a="http://schemas.openxmlformats.org/drawingml/2006/main">
            <a:off x="640080" y="4480560"/>
            <a:ext cx="108813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00000"/>
                </a:solidFill>
              </a:rPr>
              <a:t>Budget guard: free-trial account, S$40 budget alert, node pool scaled to zero after acceptance while persistent disks keep the data.</a:t>
            </a:r>
            <a:endParaRPr sz="1400"/>
          </a:p>
        </p:txBody>
      </p:sp>
      <p:sp>
        <p:nvSpPr>
          <p:cNvPr id="25" name="Slide Number Placeholder 0">
            <a:extLst xmlns:a="http://schemas.openxmlformats.org/drawingml/2006/main">
              <a:ext uri="{FF2B5EF4-FFF2-40B4-BE49-F238E27FC236}">
                <a16:creationId xmlns:a16="http://schemas.microsoft.com/office/drawing/2014/main" id="{B28B11C5-DF82-4D7E-8DDA-1C4A0D18DA2D}"/>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DB7BEEEC-A170-5376-2B6E-CB54687B0CB1}" type="slidenum">
              <a:rPr b="0"/>
              <a:t>10</a:t>
            </a:fld>
            <a:endParaRPr/>
          </a:p>
        </p:txBody>
      </p:sp>
    </p:spTree>
    <p:extLst>
      <p:ext uri="{BB962C8B-B14F-4D97-AF65-F5344CB8AC3E}">
        <p14:creationId xmlns:p14="http://schemas.microsoft.com/office/powerpoint/2010/main" val="58588767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82A3A56-49F1-47A1-8E97-81C20DD76B22}"/>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Physical deployment on Google Cloud</a:t>
            </a:r>
            <a:endParaRPr sz="2800"/>
          </a:p>
        </p:txBody>
      </p:sp>
      <p:sp>
        <p:nvSpPr>
          <p:cNvPr id="3" name="section tag">
            <a:extLst xmlns:a="http://schemas.openxmlformats.org/drawingml/2006/main">
              <a:ext uri="{FF2B5EF4-FFF2-40B4-BE49-F238E27FC236}">
                <a16:creationId xmlns:a16="http://schemas.microsoft.com/office/drawing/2014/main" id="{DB95761D-B2F4-44FF-94B2-08067B5B91D3}"/>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4 · Physical Architecture</a:t>
            </a:r>
            <a:endParaRPr sz="1200"/>
          </a:p>
        </p:txBody>
      </p:sp>
      <p:pic>
        <p:nvPicPr>
          <p:cNvPr id="4" name="physical deployment diagram">
            <a:extLst xmlns:a="http://schemas.openxmlformats.org/drawingml/2006/main">
              <a:ext uri="{FF2B5EF4-FFF2-40B4-BE49-F238E27FC236}">
                <a16:creationId xmlns:a16="http://schemas.microsoft.com/office/drawing/2014/main" id="{500D6CED-856D-4DF3-87C0-7C961243CEAD}"/>
              </a:ext>
            </a:extLst>
          </p:cNvPr>
          <p:cNvPicPr>
            <a:picLocks xmlns:a="http://schemas.openxmlformats.org/drawingml/2006/main" noChangeAspect="1"/>
          </p:cNvPicPr>
          <p:nvPr/>
        </p:nvPicPr>
        <p:blipFill>
          <a:blip xmlns:r="http://schemas.openxmlformats.org/officeDocument/2006/relationships" xmlns:a="http://schemas.openxmlformats.org/drawingml/2006/main" r:embed="R6f2d2d723d1e41bf"/>
          <a:stretch xmlns:a="http://schemas.openxmlformats.org/drawingml/2006/main">
            <a:fillRect l="0" t="0" r="0" b="0"/>
          </a:stretch>
        </p:blipFill>
        <p:spPr>
          <a:xfrm xmlns:a="http://schemas.openxmlformats.org/drawingml/2006/main">
            <a:off x="365760" y="1188720"/>
            <a:ext cx="11457432" cy="4146499"/>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0C69EC02-D0A1-4EBC-B082-D7D70E0CDACA}"/>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30394428-F1DC-E5F6-DB0C-7DE31F3D8A23}" type="slidenum">
              <a:rPr b="0"/>
              <a:t>11</a:t>
            </a:fld>
            <a:endParaRPr/>
          </a:p>
        </p:txBody>
      </p:sp>
      <p:sp>
        <p:nvSpPr>
          <p:cNvPr id="26" name="cloud history boundary">
            <a:extLst xmlns:a="http://schemas.openxmlformats.org/drawingml/2006/main">
              <a:ext uri="{FF2B5EF4-FFF2-40B4-BE49-F238E27FC236}">
                <a16:creationId xmlns:a16="http://schemas.microsoft.com/office/drawing/2014/main" id="{45FC22D8-0312-4D74-8424-0C80BBE45A8C}"/>
              </a:ext>
            </a:extLst>
          </p:cNvPr>
          <p:cNvSpPr>
            <a:spLocks xmlns:a="http://schemas.openxmlformats.org/drawingml/2006/main" noGrp="1"/>
          </p:cNvSpPr>
          <p:nvPr/>
        </p:nvSpPr>
        <p:spPr>
          <a:xfrm xmlns:a="http://schemas.openxmlformats.org/drawingml/2006/main">
            <a:off x="457200" y="5867400"/>
            <a:ext cx="11268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95959"/>
                </a:solidFill>
              </a:defRPr>
            </a:defPPr>
          </a:lstStyle>
          <a:p xmlns:a="http://schemas.openxmlformats.org/drawingml/2006/main">
            <a:pPr>
              <a:buNone/>
              <a:defRPr sz="1275" b="0">
                <a:solidFill>
                  <a:srgbClr val="595959"/>
                </a:solidFill>
              </a:defRPr>
            </a:pPr>
            <a:r>
              <a:rPr sz="1275" b="0">
                <a:solidFill>
                  <a:srgbClr val="595959"/>
                </a:solidFill>
              </a:rPr>
              <a:t>Historical GKE trial (11 Oct). The 21 Oct circuit / tracing / log add-on is local-only, not deployed to this cluster.</a:t>
            </a:r>
          </a:p>
        </p:txBody>
      </p:sp>
    </p:spTree>
    <p:extLst>
      <p:ext uri="{BB962C8B-B14F-4D97-AF65-F5344CB8AC3E}">
        <p14:creationId xmlns:p14="http://schemas.microsoft.com/office/powerpoint/2010/main" val="23513140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E56C7E-D066-4542-882A-4D1387E929E6}"/>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Persistence design</a:t>
            </a:r>
            <a:endParaRPr sz="2800"/>
          </a:p>
        </p:txBody>
      </p:sp>
      <p:sp>
        <p:nvSpPr>
          <p:cNvPr id="3" name="section tag">
            <a:extLst xmlns:a="http://schemas.openxmlformats.org/drawingml/2006/main">
              <a:ext uri="{FF2B5EF4-FFF2-40B4-BE49-F238E27FC236}">
                <a16:creationId xmlns:a16="http://schemas.microsoft.com/office/drawing/2014/main" id="{8305BD42-1B3D-49B1-B069-7C34539934AF}"/>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4 · Physical Architecture</a:t>
            </a:r>
            <a:endParaRPr sz="1200"/>
          </a:p>
        </p:txBody>
      </p:sp>
      <p:pic>
        <p:nvPicPr>
          <p:cNvPr id="4" name="persistence design diagram">
            <a:extLst xmlns:a="http://schemas.openxmlformats.org/drawingml/2006/main">
              <a:ext uri="{FF2B5EF4-FFF2-40B4-BE49-F238E27FC236}">
                <a16:creationId xmlns:a16="http://schemas.microsoft.com/office/drawing/2014/main" id="{130DE607-A22C-4667-B1A3-87159D8B6C67}"/>
              </a:ext>
            </a:extLst>
          </p:cNvPr>
          <p:cNvPicPr>
            <a:picLocks xmlns:a="http://schemas.openxmlformats.org/drawingml/2006/main" noChangeAspect="1"/>
          </p:cNvPicPr>
          <p:nvPr/>
        </p:nvPicPr>
        <p:blipFill>
          <a:blip xmlns:r="http://schemas.openxmlformats.org/officeDocument/2006/relationships" xmlns:a="http://schemas.openxmlformats.org/drawingml/2006/main" r:embed="Rc6be937777bf4ca5"/>
          <a:stretch xmlns:a="http://schemas.openxmlformats.org/drawingml/2006/main">
            <a:fillRect l="0" t="0" r="0" b="0"/>
          </a:stretch>
        </p:blipFill>
        <p:spPr>
          <a:xfrm xmlns:a="http://schemas.openxmlformats.org/drawingml/2006/main">
            <a:off x="365760" y="1188720"/>
            <a:ext cx="11457432" cy="4010101"/>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D336C5A7-D83F-4B95-926E-9792E3C480FF}"/>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4DB16885-0D3F-A391-B669-3211DB3B26E8}" type="slidenum">
              <a:rPr b="0"/>
              <a:t>12</a:t>
            </a:fld>
            <a:endParaRPr/>
          </a:p>
        </p:txBody>
      </p:sp>
      <p:sp>
        <p:nvSpPr>
          <p:cNvPr id="26" name="persistence add-on">
            <a:extLst xmlns:a="http://schemas.openxmlformats.org/drawingml/2006/main">
              <a:ext uri="{FF2B5EF4-FFF2-40B4-BE49-F238E27FC236}">
                <a16:creationId xmlns:a16="http://schemas.microsoft.com/office/drawing/2014/main" id="{FA11C440-CA1B-4523-937B-1BCA98B8EA62}"/>
              </a:ext>
            </a:extLst>
          </p:cNvPr>
          <p:cNvSpPr>
            <a:spLocks xmlns:a="http://schemas.openxmlformats.org/drawingml/2006/main" noGrp="1"/>
          </p:cNvSpPr>
          <p:nvPr/>
        </p:nvSpPr>
        <p:spPr>
          <a:xfrm xmlns:a="http://schemas.openxmlformats.org/drawingml/2006/main">
            <a:off x="457200" y="5772150"/>
            <a:ext cx="11268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95959"/>
                </a:solidFill>
              </a:defRPr>
            </a:defPPr>
          </a:lstStyle>
          <a:p xmlns:a="http://schemas.openxmlformats.org/drawingml/2006/main">
            <a:pPr>
              <a:buNone/>
              <a:defRPr sz="1350" b="0">
                <a:solidFill>
                  <a:srgbClr val="595959"/>
                </a:solidFill>
              </a:defRPr>
            </a:pPr>
            <a:r>
              <a:rPr sz="1350" b="0">
                <a:solidFill>
                  <a:srgbClr val="595959"/>
                </a:solidFill>
              </a:rPr>
              <a:t>21 Oct local add-on: trace_context on jobs / outbox; provider_circuits in a Support-owned database.</a:t>
            </a:r>
          </a:p>
        </p:txBody>
      </p:sp>
    </p:spTree>
    <p:extLst>
      <p:ext uri="{BB962C8B-B14F-4D97-AF65-F5344CB8AC3E}">
        <p14:creationId xmlns:p14="http://schemas.microsoft.com/office/powerpoint/2010/main" val="91373522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98EBD06-4DDE-4B10-9B42-19D1DC768DD8}"/>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Detailed design of a representative use case</a:t>
            </a:r>
            <a:endParaRPr sz="2800"/>
          </a:p>
        </p:txBody>
      </p:sp>
      <p:sp>
        <p:nvSpPr>
          <p:cNvPr id="3" name="section tag">
            <a:extLst xmlns:a="http://schemas.openxmlformats.org/drawingml/2006/main">
              <a:ext uri="{FF2B5EF4-FFF2-40B4-BE49-F238E27FC236}">
                <a16:creationId xmlns:a16="http://schemas.microsoft.com/office/drawing/2014/main" id="{4F718126-CAA7-400B-863E-54AC537AEA14}"/>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4 · Physical Architecture</a:t>
            </a:r>
            <a:endParaRPr sz="1200"/>
          </a:p>
        </p:txBody>
      </p:sp>
      <p:pic>
        <p:nvPicPr>
          <p:cNvPr id="4" name="sequence diagram">
            <a:extLst xmlns:a="http://schemas.openxmlformats.org/drawingml/2006/main">
              <a:ext uri="{FF2B5EF4-FFF2-40B4-BE49-F238E27FC236}">
                <a16:creationId xmlns:a16="http://schemas.microsoft.com/office/drawing/2014/main" id="{06226C45-FCA5-4BAB-8780-31BA33CF02B5}"/>
              </a:ext>
            </a:extLst>
          </p:cNvPr>
          <p:cNvPicPr>
            <a:picLocks xmlns:a="http://schemas.openxmlformats.org/drawingml/2006/main" noChangeAspect="1"/>
          </p:cNvPicPr>
          <p:nvPr/>
        </p:nvPicPr>
        <p:blipFill>
          <a:blip xmlns:r="http://schemas.openxmlformats.org/officeDocument/2006/relationships" xmlns:a="http://schemas.openxmlformats.org/drawingml/2006/main" r:embed="R5cb0d22a63f04b9c"/>
          <a:stretch xmlns:a="http://schemas.openxmlformats.org/drawingml/2006/main">
            <a:fillRect l="0" t="0" r="0" b="0"/>
          </a:stretch>
        </p:blipFill>
        <p:spPr>
          <a:xfrm xmlns:a="http://schemas.openxmlformats.org/drawingml/2006/main">
            <a:off x="1490789" y="1143000"/>
            <a:ext cx="9207374" cy="516636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759A5242-D36E-4F9E-A2DC-B09B76388373}"/>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2DD23107-4986-8758-3A93-3D74F35908CC}" type="slidenum">
              <a:rPr b="0"/>
              <a:t>13</a:t>
            </a:fld>
            <a:endParaRPr/>
          </a:p>
        </p:txBody>
      </p:sp>
    </p:spTree>
    <p:extLst>
      <p:ext uri="{BB962C8B-B14F-4D97-AF65-F5344CB8AC3E}">
        <p14:creationId xmlns:p14="http://schemas.microsoft.com/office/powerpoint/2010/main" val="158726574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8CF9A8-8FAB-43E1-B86A-97D8228B6A21}"/>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Source code and artifact management</a:t>
            </a:r>
            <a:endParaRPr sz="2800"/>
          </a:p>
        </p:txBody>
      </p:sp>
      <p:sp>
        <p:nvSpPr>
          <p:cNvPr id="3" name="section tag">
            <a:extLst xmlns:a="http://schemas.openxmlformats.org/drawingml/2006/main">
              <a:ext uri="{FF2B5EF4-FFF2-40B4-BE49-F238E27FC236}">
                <a16:creationId xmlns:a16="http://schemas.microsoft.com/office/drawing/2014/main" id="{3442175C-A3CD-4F3D-B805-3492B264BAEC}"/>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5 · DevOps</a:t>
            </a:r>
            <a:endParaRPr sz="1200"/>
          </a:p>
        </p:txBody>
      </p:sp>
      <p:pic>
        <p:nvPicPr>
          <p:cNvPr id="4" name="source and artifact flow">
            <a:extLst xmlns:a="http://schemas.openxmlformats.org/drawingml/2006/main">
              <a:ext uri="{FF2B5EF4-FFF2-40B4-BE49-F238E27FC236}">
                <a16:creationId xmlns:a16="http://schemas.microsoft.com/office/drawing/2014/main" id="{824D774C-4F74-4B50-AAC9-B4CF10737DB8}"/>
              </a:ext>
            </a:extLst>
          </p:cNvPr>
          <p:cNvPicPr>
            <a:picLocks xmlns:a="http://schemas.openxmlformats.org/drawingml/2006/main" noChangeAspect="1"/>
          </p:cNvPicPr>
          <p:nvPr/>
        </p:nvPicPr>
        <p:blipFill>
          <a:blip xmlns:r="http://schemas.openxmlformats.org/officeDocument/2006/relationships" xmlns:a="http://schemas.openxmlformats.org/drawingml/2006/main" r:embed="Rbb86f2cf749f46cd"/>
          <a:stretch xmlns:a="http://schemas.openxmlformats.org/drawingml/2006/main">
            <a:fillRect l="0" t="0" r="0" b="0"/>
          </a:stretch>
        </p:blipFill>
        <p:spPr>
          <a:xfrm xmlns:a="http://schemas.openxmlformats.org/drawingml/2006/main">
            <a:off x="394320" y="1188720"/>
            <a:ext cx="11400312" cy="4937760"/>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44C584D2-FA0B-42F8-A035-AADB74FAA77E}"/>
              </a:ext>
            </a:extLst>
          </p:cNvPr>
          <p:cNvSpPr>
            <a:spLocks xmlns:a="http://schemas.openxmlformats.org/drawingml/2006/main" noGrp="1"/>
          </p:cNvSpPr>
          <p:nvPr/>
        </p:nvSpPr>
        <p:spPr>
          <a:xfrm xmlns:a="http://schemas.openxmlformats.org/drawingml/2006/main">
            <a:off x="457200" y="6080760"/>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Historical branch / PR evidence. Current handoff is a feature-branch update, without merge or deployment.</a:t>
            </a:r>
            <a:endParaRPr sz="1200"/>
          </a:p>
        </p:txBody>
      </p:sp>
      <p:sp>
        <p:nvSpPr>
          <p:cNvPr id="25" name="Slide Number Placeholder 0">
            <a:extLst xmlns:a="http://schemas.openxmlformats.org/drawingml/2006/main">
              <a:ext uri="{FF2B5EF4-FFF2-40B4-BE49-F238E27FC236}">
                <a16:creationId xmlns:a16="http://schemas.microsoft.com/office/drawing/2014/main" id="{E4708F55-1048-4252-814D-419554797E20}"/>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327921A4-25C4-3DB4-06B1-32693CEE2241}" type="slidenum">
              <a:rPr b="0"/>
              <a:t>14</a:t>
            </a:fld>
            <a:endParaRPr/>
          </a:p>
        </p:txBody>
      </p:sp>
    </p:spTree>
    <p:extLst>
      <p:ext uri="{BB962C8B-B14F-4D97-AF65-F5344CB8AC3E}">
        <p14:creationId xmlns:p14="http://schemas.microsoft.com/office/powerpoint/2010/main" val="2902062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307788-F232-4528-9A31-9B5C3A51960A}"/>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CI/CD pipeline as fitness functions</a:t>
            </a:r>
            <a:endParaRPr sz="2800"/>
          </a:p>
        </p:txBody>
      </p:sp>
      <p:sp>
        <p:nvSpPr>
          <p:cNvPr id="3" name="section tag">
            <a:extLst xmlns:a="http://schemas.openxmlformats.org/drawingml/2006/main">
              <a:ext uri="{FF2B5EF4-FFF2-40B4-BE49-F238E27FC236}">
                <a16:creationId xmlns:a16="http://schemas.microsoft.com/office/drawing/2014/main" id="{9BE49C98-FFAF-49AD-AB7C-80C20161D50B}"/>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5 · DevOps</a:t>
            </a:r>
            <a:endParaRPr sz="1200"/>
          </a:p>
        </p:txBody>
      </p:sp>
      <p:pic>
        <p:nvPicPr>
          <p:cNvPr id="4" name="pipeline diagram">
            <a:extLst xmlns:a="http://schemas.openxmlformats.org/drawingml/2006/main">
              <a:ext uri="{FF2B5EF4-FFF2-40B4-BE49-F238E27FC236}">
                <a16:creationId xmlns:a16="http://schemas.microsoft.com/office/drawing/2014/main" id="{0B7CD35B-FB9F-4965-905E-E3126ACC9262}"/>
              </a:ext>
            </a:extLst>
          </p:cNvPr>
          <p:cNvPicPr>
            <a:picLocks xmlns:a="http://schemas.openxmlformats.org/drawingml/2006/main" noChangeAspect="1"/>
          </p:cNvPicPr>
          <p:nvPr/>
        </p:nvPicPr>
        <p:blipFill>
          <a:blip xmlns:r="http://schemas.openxmlformats.org/officeDocument/2006/relationships" xmlns:a="http://schemas.openxmlformats.org/drawingml/2006/main" r:embed="R5371ad0c9f564203"/>
          <a:stretch xmlns:a="http://schemas.openxmlformats.org/drawingml/2006/main">
            <a:fillRect l="0" t="0" r="0" b="0"/>
          </a:stretch>
        </p:blipFill>
        <p:spPr>
          <a:xfrm xmlns:a="http://schemas.openxmlformats.org/drawingml/2006/main">
            <a:off x="365760" y="1143000"/>
            <a:ext cx="8595360" cy="4996053"/>
          </a:xfrm>
          <a:prstGeom xmlns:a="http://schemas.openxmlformats.org/drawingml/2006/main" prst="rect">
            <a:avLst/>
          </a:prstGeom>
        </p:spPr>
      </p:pic>
      <p:pic>
        <p:nvPicPr>
          <p:cNvPr id="5" name="CD run screenshot">
            <a:extLst xmlns:a="http://schemas.openxmlformats.org/drawingml/2006/main">
              <a:ext uri="{FF2B5EF4-FFF2-40B4-BE49-F238E27FC236}">
                <a16:creationId xmlns:a16="http://schemas.microsoft.com/office/drawing/2014/main" id="{03B59F4C-5AF4-400D-B29C-3B1CE213E871}"/>
              </a:ext>
            </a:extLst>
          </p:cNvPr>
          <p:cNvPicPr>
            <a:picLocks xmlns:a="http://schemas.openxmlformats.org/drawingml/2006/main" noChangeAspect="1"/>
          </p:cNvPicPr>
          <p:nvPr/>
        </p:nvPicPr>
        <p:blipFill>
          <a:blip xmlns:r="http://schemas.openxmlformats.org/officeDocument/2006/relationships" xmlns:a="http://schemas.openxmlformats.org/drawingml/2006/main" r:embed="Rbb776f17c4144ad3"/>
          <a:stretch xmlns:a="http://schemas.openxmlformats.org/drawingml/2006/main">
            <a:fillRect l="0" t="0" r="0" b="0"/>
          </a:stretch>
        </p:blipFill>
        <p:spPr>
          <a:xfrm xmlns:a="http://schemas.openxmlformats.org/drawingml/2006/main">
            <a:off x="9144000" y="1371600"/>
            <a:ext cx="2606040" cy="896257"/>
          </a:xfrm>
          <a:prstGeom xmlns:a="http://schemas.openxmlformats.org/drawingml/2006/main" prst="rect">
            <a:avLst/>
          </a:prstGeom>
        </p:spPr>
      </p:pic>
      <p:sp>
        <p:nvSpPr>
          <p:cNvPr id="6" name="run notes">
            <a:extLst xmlns:a="http://schemas.openxmlformats.org/drawingml/2006/main">
              <a:ext uri="{FF2B5EF4-FFF2-40B4-BE49-F238E27FC236}">
                <a16:creationId xmlns:a16="http://schemas.microsoft.com/office/drawing/2014/main" id="{02B4C0A8-7F68-4EE1-915D-40E4242636AC}"/>
              </a:ext>
            </a:extLst>
          </p:cNvPr>
          <p:cNvSpPr>
            <a:spLocks xmlns:a="http://schemas.openxmlformats.org/drawingml/2006/main" noGrp="1"/>
          </p:cNvSpPr>
          <p:nvPr/>
        </p:nvSpPr>
        <p:spPr>
          <a:xfrm xmlns:a="http://schemas.openxmlformats.org/drawingml/2006/main">
            <a:off x="9144000" y="2468880"/>
            <a:ext cx="260604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3F7E"/>
                </a:solidFill>
              </a:rPr>
              <a:t>Matched historical runs</a:t>
            </a:r>
            <a:endParaRPr sz="1300"/>
          </a:p>
          <a:p xmlns:a="http://schemas.openxmlformats.org/drawingml/2006/main">
            <a:pPr marL="0" indent="0">
              <a:buNone/>
            </a:pPr>
            <a:r>
              <a:rPr sz="1300">
                <a:solidFill>
                  <a:srgbClr val="000000"/>
                </a:solidFill>
              </a:rPr>
              <a:t>CI 38148253863 and CD 38148479735 on the same commit 362e8dd: candidate, rollback and redeploy all passed smoke tests.</a:t>
            </a:r>
            <a:endParaRPr sz="1300"/>
          </a:p>
          <a:p xmlns:a="http://schemas.openxmlformats.org/drawingml/2006/main">
            <a:pPr marL="0" indent="0">
              <a:buNone/>
            </a:pPr>
            <a:r>
              <a:rPr sz="600">
                <a:solidFill>
                  <a:srgbClr val="000000"/>
                </a:solidFill>
              </a:rPr>
              <a:t> </a:t>
            </a:r>
            <a:endParaRPr sz="1300"/>
          </a:p>
          <a:p xmlns:a="http://schemas.openxmlformats.org/drawingml/2006/main">
            <a:pPr marL="0" indent="0">
              <a:buNone/>
            </a:pPr>
            <a:r>
              <a:rPr sz="1300" b="1">
                <a:solidFill>
                  <a:srgbClr val="173F7E"/>
                </a:solidFill>
              </a:rPr>
              <a:t>Blocked example</a:t>
            </a:r>
            <a:endParaRPr sz="1300"/>
          </a:p>
          <a:p xmlns:a="http://schemas.openxmlformats.org/drawingml/2006/main">
            <a:pPr marL="0" indent="0">
              <a:buNone/>
            </a:pPr>
            <a:r>
              <a:rPr sz="1300">
                <a:solidFill>
                  <a:srgbClr val="000000"/>
                </a:solidFill>
              </a:rPr>
              <a:t>CD 38136628114 refused a failed CI run; nothing was deployed.</a:t>
            </a:r>
            <a:endParaRPr sz="1300"/>
          </a:p>
        </p:txBody>
      </p:sp>
      <p:sp>
        <p:nvSpPr>
          <p:cNvPr id="25" name="Slide Number Placeholder 0">
            <a:extLst xmlns:a="http://schemas.openxmlformats.org/drawingml/2006/main">
              <a:ext uri="{FF2B5EF4-FFF2-40B4-BE49-F238E27FC236}">
                <a16:creationId xmlns:a16="http://schemas.microsoft.com/office/drawing/2014/main" id="{F843F954-C05A-48DF-BF13-9C2B8583C0FE}"/>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EA83FA91-883A-0168-8075-96CEB9DCA3C2}" type="slidenum">
              <a:rPr b="0"/>
              <a:t>15</a:t>
            </a:fld>
            <a:endParaRPr/>
          </a:p>
        </p:txBody>
      </p:sp>
    </p:spTree>
    <p:extLst>
      <p:ext uri="{BB962C8B-B14F-4D97-AF65-F5344CB8AC3E}">
        <p14:creationId xmlns:p14="http://schemas.microsoft.com/office/powerpoint/2010/main" val="84761314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59AFA2-8E41-4593-B22A-E02A81B791FD}"/>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Technical findings and issues</a:t>
            </a:r>
            <a:endParaRPr sz="2800"/>
          </a:p>
        </p:txBody>
      </p:sp>
      <p:sp>
        <p:nvSpPr>
          <p:cNvPr id="3" name="section tag">
            <a:extLst xmlns:a="http://schemas.openxmlformats.org/drawingml/2006/main">
              <a:ext uri="{FF2B5EF4-FFF2-40B4-BE49-F238E27FC236}">
                <a16:creationId xmlns:a16="http://schemas.microsoft.com/office/drawing/2014/main" id="{B7761C80-C970-45B5-BBDE-B20381361724}"/>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5 · DevOps</a:t>
            </a:r>
            <a:endParaRPr sz="1200"/>
          </a:p>
        </p:txBody>
      </p:sp>
      <p:graphicFrame>
        <p:nvGraphicFramePr>
          <p:cNvPr id="17" name="findings table">
            <a:extLst xmlns:a="http://schemas.openxmlformats.org/drawingml/2006/main">
              <a:ext uri="{FF2B5EF4-FFF2-40B4-BE49-F238E27FC236}">
                <a16:creationId xmlns:a16="http://schemas.microsoft.com/office/drawing/2014/main" id="{FE81F77D-A8B6-4B88-8B4D-4E1BA95E469F}"/>
              </a:ext>
            </a:extLst>
          </p:cNvPr>
          <p:cNvGraphicFramePr/>
          <p:nvPr/>
        </p:nvGraphicFramePr>
        <p:xfrm>
          <a:off xmlns:a="http://schemas.openxmlformats.org/drawingml/2006/main" x="457200" y="1280160"/>
          <a:ext xmlns:a="http://schemas.openxmlformats.org/drawingml/2006/main" cx="11274552" cy="914400"/>
        </p:xfrm>
        <a:graphic xmlns:a="http://schemas.openxmlformats.org/drawingml/2006/main">
          <a:graphicData uri="http://schemas.openxmlformats.org/drawingml/2006/table">
            <a:tbl>
              <a:tblPr/>
              <a:tblGrid>
                <a:gridCol w="3566160"/>
                <a:gridCol w="3840480"/>
                <a:gridCol w="3867912"/>
              </a:tblGrid>
              <a:tr h="0">
                <a:tc>
                  <a:txBody>
                    <a:bodyPr/>
                    <a:lstStyle/>
                    <a:p>
                      <a:pPr marL="0" indent="0">
                        <a:buNone/>
                      </a:pPr>
                      <a:r>
                        <a:rPr sz="1500" b="1">
                          <a:solidFill>
                            <a:srgbClr val="FFFFFF"/>
                          </a:solidFill>
                          <a:latin typeface="Arial"/>
                          <a:ea typeface="Arial"/>
                          <a:cs typeface="Arial"/>
                        </a:rPr>
                        <a:t>Problem</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Root cause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Resolution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400">
                          <a:solidFill>
                            <a:srgbClr val="111111"/>
                          </a:solidFill>
                          <a:latin typeface="Arial"/>
                          <a:ea typeface="Arial"/>
                          <a:cs typeface="Arial"/>
                        </a:rPr>
                        <a:t>Redeploy step of the first CD failed</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Kubernetes field-manager conflict on full apply</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Update only the image fields; the fixed CD passed</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400">
                          <a:solidFill>
                            <a:srgbClr val="111111"/>
                          </a:solidFill>
                          <a:latin typeface="Arial"/>
                          <a:ea typeface="Arial"/>
                          <a:cs typeface="Arial"/>
                        </a:rPr>
                        <a:t>A container build failed in CI</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Public fixture files were missing from the build stage</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Added the fixtures to the image build</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400">
                          <a:solidFill>
                            <a:srgbClr val="111111"/>
                          </a:solidFill>
                          <a:latin typeface="Arial"/>
                          <a:ea typeface="Arial"/>
                          <a:cs typeface="Arial"/>
                        </a:rPr>
                        <a:t>First 3 autoscaling attempts did not reach 3 Ready replicas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CPU request too high (Pending pod); HPA metrics not ready on cold start</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Request 250m → 150m, warm the HPA; 4th run scaled 1 → 3 → 1</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400">
                          <a:solidFill>
                            <a:srgbClr val="111111"/>
                          </a:solidFill>
                          <a:latin typeface="Arial"/>
                          <a:ea typeface="Arial"/>
                          <a:cs typeface="Arial"/>
                        </a:rPr>
                        <a:t>Phrase-matching evaluator blocked valid answers and missed new violations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Bounded phrase rules cannot handle negation or extra claims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400">
                          <a:solidFill>
                            <a:srgbClr val="111111"/>
                          </a:solidFill>
                          <a:latin typeface="Arial"/>
                          <a:ea typeface="Arial"/>
                          <a:cs typeface="Arial"/>
                        </a:rPr>
                        <a:t>Deterministic contracts; semantic reviewer kept in shadow mode</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400">
                          <a:solidFill>
                            <a:srgbClr val="111111"/>
                          </a:solidFill>
                          <a:latin typeface="Arial"/>
                          <a:ea typeface="Arial"/>
                          <a:cs typeface="Arial"/>
                        </a:rPr>
                        <a:t>JSON mode returned incomplete fields</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JSON mode guarantees syntax, not the schema</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400">
                          <a:solidFill>
                            <a:srgbClr val="111111"/>
                          </a:solidFill>
                          <a:latin typeface="Arial"/>
                          <a:ea typeface="Arial"/>
                          <a:cs typeface="Arial"/>
                        </a:rPr>
                        <a:t>Strict json_schema; save the raw response before parsing</a:t>
                      </a:r>
                      <a:endParaRPr sz="14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bl>
          </a:graphicData>
        </a:graphic>
      </p:graphicFrame>
      <p:sp>
        <p:nvSpPr>
          <p:cNvPr id="5" name="regression note">
            <a:extLst xmlns:a="http://schemas.openxmlformats.org/drawingml/2006/main">
              <a:ext uri="{FF2B5EF4-FFF2-40B4-BE49-F238E27FC236}">
                <a16:creationId xmlns:a16="http://schemas.microsoft.com/office/drawing/2014/main" id="{6F421687-3386-4264-B561-F2F04702FD0E}"/>
              </a:ext>
            </a:extLst>
          </p:cNvPr>
          <p:cNvSpPr>
            <a:spLocks xmlns:a="http://schemas.openxmlformats.org/drawingml/2006/main" noGrp="1"/>
          </p:cNvSpPr>
          <p:nvPr/>
        </p:nvSpPr>
        <p:spPr>
          <a:xfrm xmlns:a="http://schemas.openxmlformats.org/drawingml/2006/main">
            <a:off x="457200" y="4892040"/>
            <a:ext cx="112745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73F7E"/>
                </a:solidFill>
              </a:rPr>
              <a:t>Last full regression: 782/783. New 10-case run: target rules 4/5. r2 definition: offline only.</a:t>
            </a:r>
            <a:endParaRPr sz="1400"/>
          </a:p>
        </p:txBody>
      </p:sp>
      <p:sp>
        <p:nvSpPr>
          <p:cNvPr id="25" name="Slide Number Placeholder 0">
            <a:extLst xmlns:a="http://schemas.openxmlformats.org/drawingml/2006/main">
              <a:ext uri="{FF2B5EF4-FFF2-40B4-BE49-F238E27FC236}">
                <a16:creationId xmlns:a16="http://schemas.microsoft.com/office/drawing/2014/main" id="{4D3C7019-916D-4DD5-8F28-D0C1FAFD5D6C}"/>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DC9C7607-4BA3-B4DC-A00F-2E67A9FCFF7E}" type="slidenum">
              <a:rPr b="0"/>
              <a:t>16</a:t>
            </a:fld>
            <a:endParaRPr/>
          </a:p>
        </p:txBody>
      </p:sp>
    </p:spTree>
    <p:extLst>
      <p:ext uri="{BB962C8B-B14F-4D97-AF65-F5344CB8AC3E}">
        <p14:creationId xmlns:p14="http://schemas.microsoft.com/office/powerpoint/2010/main" val="12750942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silience title">
            <a:extLst xmlns:a="http://schemas.openxmlformats.org/drawingml/2006/main">
              <a:ext uri="{FF2B5EF4-FFF2-40B4-BE49-F238E27FC236}">
                <a16:creationId xmlns:a16="http://schemas.microsoft.com/office/drawing/2014/main" id="{52E0CA10-884F-4601-B52D-55BC4A3F052E}"/>
              </a:ext>
            </a:extLst>
          </p:cNvPr>
          <p:cNvSpPr>
            <a:spLocks xmlns:a="http://schemas.openxmlformats.org/drawingml/2006/main" noGrp="1"/>
          </p:cNvSpPr>
          <p:nvPr/>
        </p:nvSpPr>
        <p:spPr>
          <a:xfrm xmlns:a="http://schemas.openxmlformats.org/drawingml/2006/main">
            <a:off x="457200" y="29527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00" b="1">
                <a:solidFill>
                  <a:srgbClr val="173F7E"/>
                </a:solidFill>
              </a:defRPr>
            </a:defPPr>
          </a:lstStyle>
          <a:p xmlns:a="http://schemas.openxmlformats.org/drawingml/2006/main">
            <a:pPr>
              <a:buNone/>
              <a:defRPr sz="2800" b="1">
                <a:solidFill>
                  <a:srgbClr val="173F7E"/>
                </a:solidFill>
              </a:defRPr>
            </a:pPr>
            <a:r>
              <a:rPr sz="2800" b="1">
                <a:solidFill>
                  <a:srgbClr val="173F7E"/>
                </a:solidFill>
              </a:rPr>
              <a:t>Provider circuit breaker</a:t>
            </a:r>
          </a:p>
        </p:txBody>
      </p:sp>
      <p:sp>
        <p:nvSpPr>
          <p:cNvPr id="2" name="section tag">
            <a:extLst xmlns:a="http://schemas.openxmlformats.org/drawingml/2006/main">
              <a:ext uri="{FF2B5EF4-FFF2-40B4-BE49-F238E27FC236}">
                <a16:creationId xmlns:a16="http://schemas.microsoft.com/office/drawing/2014/main" id="{B24A5347-D6F5-49D6-BA4B-0E49D464685D}"/>
              </a:ext>
            </a:extLst>
          </p:cNvPr>
          <p:cNvSpPr>
            <a:spLocks xmlns:a="http://schemas.openxmlformats.org/drawingml/2006/main" noGrp="1"/>
          </p:cNvSpPr>
          <p:nvPr/>
        </p:nvSpPr>
        <p:spPr>
          <a:xfrm xmlns:a="http://schemas.openxmlformats.org/drawingml/2006/main">
            <a:off x="9429750" y="10001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95959"/>
                </a:solidFill>
              </a:defRPr>
            </a:defPPr>
          </a:lstStyle>
          <a:p xmlns:a="http://schemas.openxmlformats.org/drawingml/2006/main">
            <a:pPr>
              <a:buNone/>
              <a:defRPr sz="1200" b="0">
                <a:solidFill>
                  <a:srgbClr val="595959"/>
                </a:solidFill>
              </a:defRPr>
            </a:pPr>
            <a:r>
              <a:rPr sz="1200" b="0">
                <a:solidFill>
                  <a:srgbClr val="595959"/>
                </a:solidFill>
              </a:rPr>
              <a:t>Local verification · 21 Oct</a:t>
            </a:r>
          </a:p>
        </p:txBody>
      </p:sp>
      <p:sp>
        <p:nvSpPr>
          <p:cNvPr id="3" name="footer">
            <a:extLst xmlns:a="http://schemas.openxmlformats.org/drawingml/2006/main">
              <a:ext uri="{FF2B5EF4-FFF2-40B4-BE49-F238E27FC236}">
                <a16:creationId xmlns:a16="http://schemas.microsoft.com/office/drawing/2014/main" id="{DC3766AF-E61A-448F-806A-466D00051065}"/>
              </a:ext>
            </a:extLst>
          </p:cNvPr>
          <p:cNvSpPr>
            <a:spLocks xmlns:a="http://schemas.openxmlformats.org/drawingml/2006/main" noGrp="1"/>
          </p:cNvSpPr>
          <p:nvPr/>
        </p:nvSpPr>
        <p:spPr>
          <a:xfrm xmlns:a="http://schemas.openxmlformats.org/drawingml/2006/main">
            <a:off x="457200" y="64579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buNone/>
              <a:defRPr sz="1000" b="0">
                <a:solidFill>
                  <a:srgbClr val="808080"/>
                </a:solidFill>
              </a:defRPr>
            </a:pPr>
            <a:r>
              <a:rPr sz="1000" b="0">
                <a:solidFill>
                  <a:srgbClr val="808080"/>
                </a:solidFill>
              </a:rPr>
              <a:t>SE34FT · Team 13 · ReleaseGuard</a:t>
            </a:r>
          </a:p>
        </p:txBody>
      </p:sp>
      <p:sp>
        <p:nvSpPr>
          <p:cNvPr id="4" name="implementation">
            <a:extLst xmlns:a="http://schemas.openxmlformats.org/drawingml/2006/main">
              <a:ext uri="{FF2B5EF4-FFF2-40B4-BE49-F238E27FC236}">
                <a16:creationId xmlns:a16="http://schemas.microsoft.com/office/drawing/2014/main" id="{41C6E64F-9631-4A0B-A61B-8F77B68BF353}"/>
              </a:ext>
            </a:extLst>
          </p:cNvPr>
          <p:cNvSpPr>
            <a:spLocks xmlns:a="http://schemas.openxmlformats.org/drawingml/2006/main" noGrp="1"/>
          </p:cNvSpPr>
          <p:nvPr/>
        </p:nvSpPr>
        <p:spPr>
          <a:xfrm xmlns:a="http://schemas.openxmlformats.org/drawingml/2006/main">
            <a:off x="457200" y="13620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73F7E"/>
                </a:solidFill>
              </a:defRPr>
            </a:defPPr>
          </a:lstStyle>
          <a:p xmlns:a="http://schemas.openxmlformats.org/drawingml/2006/main">
            <a:pPr>
              <a:buNone/>
              <a:defRPr sz="1950" b="1">
                <a:solidFill>
                  <a:srgbClr val="173F7E"/>
                </a:solidFill>
              </a:defRPr>
            </a:pPr>
            <a:r>
              <a:rPr sz="1950" b="1">
                <a:solidFill>
                  <a:srgbClr val="173F7E"/>
                </a:solidFill>
              </a:rPr>
              <a:t>Support adapter owns circuit state</a:t>
            </a:r>
          </a:p>
        </p:txBody>
      </p:sp>
      <p:sp>
        <p:nvSpPr>
          <p:cNvPr id="5" name="settings">
            <a:extLst xmlns:a="http://schemas.openxmlformats.org/drawingml/2006/main">
              <a:ext uri="{FF2B5EF4-FFF2-40B4-BE49-F238E27FC236}">
                <a16:creationId xmlns:a16="http://schemas.microsoft.com/office/drawing/2014/main" id="{D3A5EC95-8827-4F1C-972A-56A901AA5490}"/>
              </a:ext>
            </a:extLst>
          </p:cNvPr>
          <p:cNvSpPr>
            <a:spLocks xmlns:a="http://schemas.openxmlformats.org/drawingml/2006/main" noGrp="1"/>
          </p:cNvSpPr>
          <p:nvPr/>
        </p:nvSpPr>
        <p:spPr>
          <a:xfrm xmlns:a="http://schemas.openxmlformats.org/drawingml/2006/main">
            <a:off x="457200" y="18669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11111"/>
                </a:solidFill>
              </a:defRPr>
            </a:defPPr>
          </a:lstStyle>
          <a:p xmlns:a="http://schemas.openxmlformats.org/drawingml/2006/main">
            <a:pPr>
              <a:buNone/>
              <a:defRPr sz="1725" b="0">
                <a:solidFill>
                  <a:srgbClr val="111111"/>
                </a:solidFill>
              </a:defRPr>
            </a:pPr>
            <a:r>
              <a:rPr sz="1725" b="0">
                <a:solidFill>
                  <a:srgbClr val="111111"/>
                </a:solidFill>
              </a:rPr>
              <a:t>Production defaults: 3 availability failures, 30 s cooldown, one probe. Shared PostgreSQL is optional; memory fallback protects one process only.</a:t>
            </a:r>
          </a:p>
        </p:txBody>
      </p:sp>
      <p:graphicFrame>
        <p:nvGraphicFramePr>
          <p:cNvPr id="6" name="">
            <a:extLst xmlns:a="http://schemas.openxmlformats.org/drawingml/2006/main">
              <a:ext uri="{FF2B5EF4-FFF2-40B4-BE49-F238E27FC236}">
                <a16:creationId xmlns:a16="http://schemas.microsoft.com/office/drawing/2014/main" id="{2FEBC35B-CAF7-47E8-A436-9542D1DD2868}"/>
              </a:ext>
            </a:extLst>
          </p:cNvPr>
          <p:cNvGraphicFramePr/>
          <p:nvPr/>
        </p:nvGraphicFramePr>
        <p:xfrm>
          <a:off xmlns:a="http://schemas.openxmlformats.org/drawingml/2006/main" x="457200" y="2762250"/>
          <a:ext xmlns:a="http://schemas.openxmlformats.org/drawingml/2006/main" cx="11268075" cy="2428875"/>
        </p:xfrm>
        <a:graphic xmlns:a="http://schemas.openxmlformats.org/drawingml/2006/main">
          <a:graphicData uri="http://schemas.openxmlformats.org/drawingml/2006/table">
            <a:tbl>
              <a:tblPr/>
              <a:tblGrid>
                <a:gridCol w="6096000"/>
                <a:gridCol w="5172075"/>
              </a:tblGrid>
              <a:tr h="485775">
                <a:tc>
                  <a:txBody>
                    <a:bodyPr/>
                    <a:lstStyle/>
                    <a:p>
                      <a:r>
                        <a:rPr sz="1650" b="1">
                          <a:solidFill>
                            <a:srgbClr val="FFFFFF"/>
                          </a:solidFill>
                        </a:rPr>
                        <a:t>Local fault fixture</a:t>
                      </a:r>
                    </a:p>
                  </a:txBody>
                  <a:tcPr marL="91440" marR="91440" marT="45720" marB="45720">
                    <a:solidFill>
                      <a:srgbClr val="4882DE"/>
                    </a:solidFill>
                  </a:tcPr>
                </a:tc>
                <a:tc>
                  <a:txBody>
                    <a:bodyPr/>
                    <a:lstStyle/>
                    <a:p>
                      <a:r>
                        <a:rPr sz="1650" b="1">
                          <a:solidFill>
                            <a:srgbClr val="FFFFFF"/>
                          </a:solidFill>
                        </a:rPr>
                        <a:t>Observed result</a:t>
                      </a:r>
                    </a:p>
                  </a:txBody>
                  <a:tcPr marL="91440" marR="91440" marT="45720" marB="45720">
                    <a:solidFill>
                      <a:srgbClr val="4882DE"/>
                    </a:solidFill>
                  </a:tcPr>
                </a:tc>
              </a:tr>
              <a:tr h="485775">
                <a:tc>
                  <a:txBody>
                    <a:bodyPr/>
                    <a:lstStyle/>
                    <a:p>
                      <a:r>
                        <a:rPr sz="1650" b="0">
                          <a:solidFill>
                            <a:srgbClr val="111111"/>
                          </a:solidFill>
                        </a:rPr>
                        <a:t>3 consecutive HTTP 503 responses</a:t>
                      </a:r>
                    </a:p>
                  </a:txBody>
                  <a:tcPr marL="91440" marR="91440" marT="45720" marB="45720">
                    <a:solidFill>
                      <a:srgbClr val="E7EBF1"/>
                    </a:solidFill>
                  </a:tcPr>
                </a:tc>
                <a:tc>
                  <a:txBody>
                    <a:bodyPr/>
                    <a:lstStyle/>
                    <a:p>
                      <a:r>
                        <a:rPr sz="1650" b="0">
                          <a:solidFill>
                            <a:srgbClr val="111111"/>
                          </a:solidFill>
                        </a:rPr>
                        <a:t>Circuit opens</a:t>
                      </a:r>
                    </a:p>
                  </a:txBody>
                  <a:tcPr marL="91440" marR="91440" marT="45720" marB="45720">
                    <a:solidFill>
                      <a:srgbClr val="E7EBF1"/>
                    </a:solidFill>
                  </a:tcPr>
                </a:tc>
              </a:tr>
              <a:tr h="485775">
                <a:tc>
                  <a:txBody>
                    <a:bodyPr/>
                    <a:lstStyle/>
                    <a:p>
                      <a:r>
                        <a:rPr sz="1650" b="0">
                          <a:solidFill>
                            <a:srgbClr val="111111"/>
                          </a:solidFill>
                        </a:rPr>
                        <a:t>20 concurrent calls across 2 adapters</a:t>
                      </a:r>
                    </a:p>
                  </a:txBody>
                  <a:tcPr marL="91440" marR="91440" marT="45720" marB="45720">
                    <a:solidFill>
                      <a:srgbClr val="D2D8E2"/>
                    </a:solidFill>
                  </a:tcPr>
                </a:tc>
                <a:tc>
                  <a:txBody>
                    <a:bodyPr/>
                    <a:lstStyle/>
                    <a:p>
                      <a:r>
                        <a:rPr sz="1650" b="0">
                          <a:solidFill>
                            <a:srgbClr val="111111"/>
                          </a:solidFill>
                        </a:rPr>
                        <a:t>20 rejected, 0 extra HTTP requests</a:t>
                      </a:r>
                    </a:p>
                  </a:txBody>
                  <a:tcPr marL="91440" marR="91440" marT="45720" marB="45720">
                    <a:solidFill>
                      <a:srgbClr val="D2D8E2"/>
                    </a:solidFill>
                  </a:tcPr>
                </a:tc>
              </a:tr>
              <a:tr h="485775">
                <a:tc>
                  <a:txBody>
                    <a:bodyPr/>
                    <a:lstStyle/>
                    <a:p>
                      <a:r>
                        <a:rPr sz="1650" b="0">
                          <a:solidFill>
                            <a:srgbClr val="111111"/>
                          </a:solidFill>
                        </a:rPr>
                        <a:t>Cooldown ends, two adapters race</a:t>
                      </a:r>
                    </a:p>
                  </a:txBody>
                  <a:tcPr marL="91440" marR="91440" marT="45720" marB="45720">
                    <a:solidFill>
                      <a:srgbClr val="E7EBF1"/>
                    </a:solidFill>
                  </a:tcPr>
                </a:tc>
                <a:tc>
                  <a:txBody>
                    <a:bodyPr/>
                    <a:lstStyle/>
                    <a:p>
                      <a:r>
                        <a:rPr sz="1650" b="0">
                          <a:solidFill>
                            <a:srgbClr val="111111"/>
                          </a:solidFill>
                        </a:rPr>
                        <a:t>Exactly 1 half-open probe</a:t>
                      </a:r>
                    </a:p>
                  </a:txBody>
                  <a:tcPr marL="91440" marR="91440" marT="45720" marB="45720">
                    <a:solidFill>
                      <a:srgbClr val="E7EBF1"/>
                    </a:solidFill>
                  </a:tcPr>
                </a:tc>
              </a:tr>
              <a:tr h="485775">
                <a:tc>
                  <a:txBody>
                    <a:bodyPr/>
                    <a:lstStyle/>
                    <a:p>
                      <a:r>
                        <a:rPr sz="1650" b="0">
                          <a:solidFill>
                            <a:srgbClr val="111111"/>
                          </a:solidFill>
                        </a:rPr>
                        <a:t>Probe succeeds, next call succeeds</a:t>
                      </a:r>
                    </a:p>
                  </a:txBody>
                  <a:tcPr marL="91440" marR="91440" marT="45720" marB="45720">
                    <a:solidFill>
                      <a:srgbClr val="D2D8E2"/>
                    </a:solidFill>
                  </a:tcPr>
                </a:tc>
                <a:tc>
                  <a:txBody>
                    <a:bodyPr/>
                    <a:lstStyle/>
                    <a:p>
                      <a:r>
                        <a:rPr sz="1650" b="0">
                          <a:solidFill>
                            <a:srgbClr val="111111"/>
                          </a:solidFill>
                        </a:rPr>
                        <a:t>Circuit closes, 5 HTTP requests total</a:t>
                      </a:r>
                    </a:p>
                  </a:txBody>
                  <a:tcPr marL="91440" marR="91440" marT="45720" marB="45720">
                    <a:solidFill>
                      <a:srgbClr val="D2D8E2"/>
                    </a:solidFill>
                  </a:tcPr>
                </a:tc>
              </a:tr>
            </a:tbl>
          </a:graphicData>
        </a:graphic>
      </p:graphicFrame>
      <p:sp>
        <p:nvSpPr>
          <p:cNvPr id="7" name="boundary">
            <a:extLst xmlns:a="http://schemas.openxmlformats.org/drawingml/2006/main">
              <a:ext uri="{FF2B5EF4-FFF2-40B4-BE49-F238E27FC236}">
                <a16:creationId xmlns:a16="http://schemas.microsoft.com/office/drawing/2014/main" id="{9A1CB522-981F-4530-873F-19D6D8871F73}"/>
              </a:ext>
            </a:extLst>
          </p:cNvPr>
          <p:cNvSpPr>
            <a:spLocks xmlns:a="http://schemas.openxmlformats.org/drawingml/2006/main" noGrp="1"/>
          </p:cNvSpPr>
          <p:nvPr/>
        </p:nvSpPr>
        <p:spPr>
          <a:xfrm xmlns:a="http://schemas.openxmlformats.org/drawingml/2006/main">
            <a:off x="457200" y="54673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595959"/>
                </a:solidFill>
              </a:defRPr>
            </a:defPPr>
          </a:lstStyle>
          <a:p xmlns:a="http://schemas.openxmlformats.org/drawingml/2006/main">
            <a:pPr>
              <a:buNone/>
              <a:defRPr sz="1500" b="0">
                <a:solidFill>
                  <a:srgbClr val="595959"/>
                </a:solidFill>
              </a:defRPr>
            </a:pPr>
            <a:r>
              <a:rPr sz="1500" b="0">
                <a:solidFill>
                  <a:srgbClr val="595959"/>
                </a:solidFill>
              </a:rPr>
              <a:t>Actual local HTTP fixture + two independent adapters sharing Support-owned PostgreSQL. No Groq call. Test cooldown: 300 ms, not the production default.</a:t>
            </a:r>
          </a:p>
        </p:txBody>
      </p:sp>
      <p:sp>
        <p:nvSpPr>
          <p:cNvPr id="8" name="page number">
            <a:extLst xmlns:a="http://schemas.openxmlformats.org/drawingml/2006/main">
              <a:ext uri="{FF2B5EF4-FFF2-40B4-BE49-F238E27FC236}">
                <a16:creationId xmlns:a16="http://schemas.microsoft.com/office/drawing/2014/main" id="{F21F23BC-01B7-4EA9-85F2-8E7AACB39EAA}"/>
              </a:ext>
            </a:extLst>
          </p:cNvPr>
          <p:cNvSpPr>
            <a:spLocks xmlns:a="http://schemas.openxmlformats.org/drawingml/2006/main" noGrp="1"/>
          </p:cNvSpPr>
          <p:nvPr/>
        </p:nvSpPr>
        <p:spPr>
          <a:xfrm xmlns:a="http://schemas.openxmlformats.org/drawingml/2006/main">
            <a:off x="11268075"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buNone/>
              <a:defRPr sz="1000" b="0">
                <a:solidFill>
                  <a:srgbClr val="808080"/>
                </a:solidFill>
              </a:defRPr>
            </a:pPr>
            <a:r>
              <a:rPr sz="1000" b="0">
                <a:solidFill>
                  <a:srgbClr val="808080"/>
                </a:solidFill>
              </a:rPr>
              <a:t>17</a:t>
            </a:r>
          </a:p>
        </p:txBody>
      </p:sp>
    </p:spTree>
    <p:extLst>
      <p:ext uri="{BB962C8B-B14F-4D97-AF65-F5344CB8AC3E}">
        <p14:creationId xmlns:p14="http://schemas.microsoft.com/office/powerpoint/2010/main" val="17873464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silience title">
            <a:extLst xmlns:a="http://schemas.openxmlformats.org/drawingml/2006/main">
              <a:ext uri="{FF2B5EF4-FFF2-40B4-BE49-F238E27FC236}">
                <a16:creationId xmlns:a16="http://schemas.microsoft.com/office/drawing/2014/main" id="{44F8CBFD-8103-46AB-A02D-DBD08F29B281}"/>
              </a:ext>
            </a:extLst>
          </p:cNvPr>
          <p:cNvSpPr>
            <a:spLocks xmlns:a="http://schemas.openxmlformats.org/drawingml/2006/main" noGrp="1"/>
          </p:cNvSpPr>
          <p:nvPr/>
        </p:nvSpPr>
        <p:spPr>
          <a:xfrm xmlns:a="http://schemas.openxmlformats.org/drawingml/2006/main">
            <a:off x="457200" y="29527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00" b="1">
                <a:solidFill>
                  <a:srgbClr val="173F7E"/>
                </a:solidFill>
              </a:defRPr>
            </a:defPPr>
          </a:lstStyle>
          <a:p xmlns:a="http://schemas.openxmlformats.org/drawingml/2006/main">
            <a:pPr>
              <a:buNone/>
              <a:defRPr sz="2800" b="1">
                <a:solidFill>
                  <a:srgbClr val="173F7E"/>
                </a:solidFill>
              </a:defRPr>
            </a:pPr>
            <a:r>
              <a:rPr sz="2800" b="1">
                <a:solidFill>
                  <a:srgbClr val="173F7E"/>
                </a:solidFill>
              </a:rPr>
              <a:t>Distributed tracing across HTTP and RabbitMQ</a:t>
            </a:r>
          </a:p>
        </p:txBody>
      </p:sp>
      <p:sp>
        <p:nvSpPr>
          <p:cNvPr id="2" name="section tag">
            <a:extLst xmlns:a="http://schemas.openxmlformats.org/drawingml/2006/main">
              <a:ext uri="{FF2B5EF4-FFF2-40B4-BE49-F238E27FC236}">
                <a16:creationId xmlns:a16="http://schemas.microsoft.com/office/drawing/2014/main" id="{D884C2E6-F4E7-4948-A84D-072B766389F7}"/>
              </a:ext>
            </a:extLst>
          </p:cNvPr>
          <p:cNvSpPr>
            <a:spLocks xmlns:a="http://schemas.openxmlformats.org/drawingml/2006/main" noGrp="1"/>
          </p:cNvSpPr>
          <p:nvPr/>
        </p:nvSpPr>
        <p:spPr>
          <a:xfrm xmlns:a="http://schemas.openxmlformats.org/drawingml/2006/main">
            <a:off x="9429750" y="10001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95959"/>
                </a:solidFill>
              </a:defRPr>
            </a:defPPr>
          </a:lstStyle>
          <a:p xmlns:a="http://schemas.openxmlformats.org/drawingml/2006/main">
            <a:pPr>
              <a:buNone/>
              <a:defRPr sz="1200" b="0">
                <a:solidFill>
                  <a:srgbClr val="595959"/>
                </a:solidFill>
              </a:defRPr>
            </a:pPr>
            <a:r>
              <a:rPr sz="1200" b="0">
                <a:solidFill>
                  <a:srgbClr val="595959"/>
                </a:solidFill>
              </a:rPr>
              <a:t>Local verification · 21 Oct</a:t>
            </a:r>
          </a:p>
        </p:txBody>
      </p:sp>
      <p:sp>
        <p:nvSpPr>
          <p:cNvPr id="3" name="footer">
            <a:extLst xmlns:a="http://schemas.openxmlformats.org/drawingml/2006/main">
              <a:ext uri="{FF2B5EF4-FFF2-40B4-BE49-F238E27FC236}">
                <a16:creationId xmlns:a16="http://schemas.microsoft.com/office/drawing/2014/main" id="{CF015D14-1E71-4F4E-896C-1EEDCC8775A0}"/>
              </a:ext>
            </a:extLst>
          </p:cNvPr>
          <p:cNvSpPr>
            <a:spLocks xmlns:a="http://schemas.openxmlformats.org/drawingml/2006/main" noGrp="1"/>
          </p:cNvSpPr>
          <p:nvPr/>
        </p:nvSpPr>
        <p:spPr>
          <a:xfrm xmlns:a="http://schemas.openxmlformats.org/drawingml/2006/main">
            <a:off x="457200" y="64579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buNone/>
              <a:defRPr sz="1000" b="0">
                <a:solidFill>
                  <a:srgbClr val="808080"/>
                </a:solidFill>
              </a:defRPr>
            </a:pPr>
            <a:r>
              <a:rPr sz="1000" b="0">
                <a:solidFill>
                  <a:srgbClr val="808080"/>
                </a:solidFill>
              </a:rPr>
              <a:t>SE34FT · Team 13 · ReleaseGuard</a:t>
            </a:r>
          </a:p>
        </p:txBody>
      </p:sp>
      <p:sp>
        <p:nvSpPr>
          <p:cNvPr id="4" name="trace explanation">
            <a:extLst xmlns:a="http://schemas.openxmlformats.org/drawingml/2006/main">
              <a:ext uri="{FF2B5EF4-FFF2-40B4-BE49-F238E27FC236}">
                <a16:creationId xmlns:a16="http://schemas.microsoft.com/office/drawing/2014/main" id="{ABE43662-F94C-4206-B638-2A20F57CA67A}"/>
              </a:ext>
            </a:extLst>
          </p:cNvPr>
          <p:cNvSpPr>
            <a:spLocks xmlns:a="http://schemas.openxmlformats.org/drawingml/2006/main" noGrp="1"/>
          </p:cNvSpPr>
          <p:nvPr/>
        </p:nvSpPr>
        <p:spPr>
          <a:xfrm xmlns:a="http://schemas.openxmlformats.org/drawingml/2006/main">
            <a:off x="457200" y="13906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73F7E"/>
                </a:solidFill>
              </a:defRPr>
            </a:defPPr>
          </a:lstStyle>
          <a:p xmlns:a="http://schemas.openxmlformats.org/drawingml/2006/main">
            <a:pPr>
              <a:buNone/>
              <a:defRPr sz="1950" b="1">
                <a:solidFill>
                  <a:srgbClr val="173F7E"/>
                </a:solidFill>
              </a:defRPr>
            </a:pPr>
            <a:r>
              <a:rPr sz="1950" b="1">
                <a:solidFill>
                  <a:srgbClr val="173F7E"/>
                </a:solidFill>
              </a:rPr>
              <a:t>One replay job, one trace</a:t>
            </a:r>
          </a:p>
        </p:txBody>
      </p:sp>
      <p:sp>
        <p:nvSpPr>
          <p:cNvPr id="5" name="trace result">
            <a:extLst xmlns:a="http://schemas.openxmlformats.org/drawingml/2006/main">
              <a:ext uri="{FF2B5EF4-FFF2-40B4-BE49-F238E27FC236}">
                <a16:creationId xmlns:a16="http://schemas.microsoft.com/office/drawing/2014/main" id="{DB25D28D-D4D2-46EA-A1DB-F66F96CC72CA}"/>
              </a:ext>
            </a:extLst>
          </p:cNvPr>
          <p:cNvSpPr>
            <a:spLocks xmlns:a="http://schemas.openxmlformats.org/drawingml/2006/main" noGrp="1"/>
          </p:cNvSpPr>
          <p:nvPr/>
        </p:nvSpPr>
        <p:spPr>
          <a:xfrm xmlns:a="http://schemas.openxmlformats.org/drawingml/2006/main">
            <a:off x="457200" y="1981200"/>
            <a:ext cx="4095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111111"/>
                </a:solidFill>
              </a:defRPr>
            </a:defPPr>
          </a:lstStyle>
          <a:p xmlns:a="http://schemas.openxmlformats.org/drawingml/2006/main">
            <a:pPr>
              <a:buNone/>
              <a:defRPr sz="1800" b="0">
                <a:solidFill>
                  <a:srgbClr val="111111"/>
                </a:solidFill>
              </a:defRPr>
            </a:pPr>
            <a:r>
              <a:rPr sz="1800" b="0">
                <a:solidFill>
                  <a:srgbClr val="111111"/>
                </a:solidFill>
              </a:rPr>
              <a:t>5 services and 9 spans</a:t>
            </a:r>
          </a:p>
          <a:p xmlns:a="http://schemas.openxmlformats.org/drawingml/2006/main">
            <a:pPr>
              <a:buNone/>
              <a:defRPr sz="1800" b="0">
                <a:solidFill>
                  <a:srgbClr val="111111"/>
                </a:solidFill>
              </a:defRPr>
            </a:pPr>
            <a:r>
              <a:rPr sz="1800" b="0">
                <a:solidFill>
                  <a:srgbClr val="111111"/>
                </a:solidFill>
              </a:rPr>
              <a:t>Gateway, Evaluation, Registry, Worker and Support</a:t>
            </a:r>
          </a:p>
          <a:p xmlns:a="http://schemas.openxmlformats.org/drawingml/2006/main">
            <a:r>
              <a:t/>
            </a:r>
          </a:p>
          <a:p xmlns:a="http://schemas.openxmlformats.org/drawingml/2006/main">
            <a:pPr>
              <a:buNone/>
              <a:defRPr sz="1800" b="0">
                <a:solidFill>
                  <a:srgbClr val="111111"/>
                </a:solidFill>
              </a:defRPr>
            </a:pPr>
            <a:r>
              <a:rPr sz="1800" b="0">
                <a:solidFill>
                  <a:srgbClr val="111111"/>
                </a:solidFill>
              </a:rPr>
              <a:t>W3C context survives the outbox and RabbitMQ headers. Producer and consumer spans preserve the parent chain.</a:t>
            </a:r>
          </a:p>
        </p:txBody>
      </p:sp>
      <p:pic>
        <p:nvPicPr>
          <p:cNvPr id="6" name="">
            <a:extLst xmlns:a="http://schemas.openxmlformats.org/drawingml/2006/main">
              <a:ext uri="{FF2B5EF4-FFF2-40B4-BE49-F238E27FC236}">
                <a16:creationId xmlns:a16="http://schemas.microsoft.com/office/drawing/2014/main" id="{A578647E-0EFB-4ADC-940E-F9920DDCA9B3}"/>
              </a:ext>
            </a:extLst>
          </p:cNvPr>
          <p:cNvPicPr>
            <a:picLocks xmlns:a="http://schemas.openxmlformats.org/drawingml/2006/main" noChangeAspect="1"/>
          </p:cNvPicPr>
          <p:nvPr/>
        </p:nvPicPr>
        <p:blipFill>
          <a:blip xmlns:r="http://schemas.openxmlformats.org/officeDocument/2006/relationships" xmlns:a="http://schemas.openxmlformats.org/drawingml/2006/main" r:embed="R558bef3de5c0412d"/>
          <a:stretch xmlns:a="http://schemas.openxmlformats.org/drawingml/2006/main"/>
        </p:blipFill>
        <p:spPr>
          <a:xfrm xmlns:a="http://schemas.openxmlformats.org/drawingml/2006/main">
            <a:off x="4812030" y="1809750"/>
            <a:ext cx="6949440" cy="4343400"/>
          </a:xfrm>
          <a:prstGeom xmlns:a="http://schemas.openxmlformats.org/drawingml/2006/main" prst="rect">
            <a:avLst/>
          </a:prstGeom>
        </p:spPr>
      </p:pic>
      <p:sp>
        <p:nvSpPr>
          <p:cNvPr id="7" name="trace boundary">
            <a:extLst xmlns:a="http://schemas.openxmlformats.org/drawingml/2006/main">
              <a:ext uri="{FF2B5EF4-FFF2-40B4-BE49-F238E27FC236}">
                <a16:creationId xmlns:a16="http://schemas.microsoft.com/office/drawing/2014/main" id="{0F2C51CD-22E4-4C7C-98E3-A8D0188BBB8A}"/>
              </a:ext>
            </a:extLst>
          </p:cNvPr>
          <p:cNvSpPr>
            <a:spLocks xmlns:a="http://schemas.openxmlformats.org/drawingml/2006/main" noGrp="1"/>
          </p:cNvSpPr>
          <p:nvPr/>
        </p:nvSpPr>
        <p:spPr>
          <a:xfrm xmlns:a="http://schemas.openxmlformats.org/drawingml/2006/main">
            <a:off x="457200" y="54292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95959"/>
                </a:solidFill>
              </a:defRPr>
            </a:defPPr>
          </a:lstStyle>
          <a:p xmlns:a="http://schemas.openxmlformats.org/drawingml/2006/main">
            <a:pPr>
              <a:buNone/>
              <a:defRPr sz="1350" b="0">
                <a:solidFill>
                  <a:srgbClr val="595959"/>
                </a:solidFill>
              </a:defRPr>
            </a:pPr>
            <a:r>
              <a:rPr sz="1350" b="0">
                <a:solidFill>
                  <a:srgbClr val="595959"/>
                </a:solidFill>
              </a:rPr>
              <a:t>Actual local Jaeger timeline, 21 Oct. Replay, zero model calls. HTTP / queue boundaries only, not SQL or new GKE validation.</a:t>
            </a:r>
          </a:p>
        </p:txBody>
      </p:sp>
      <p:sp>
        <p:nvSpPr>
          <p:cNvPr id="8" name="page number">
            <a:extLst xmlns:a="http://schemas.openxmlformats.org/drawingml/2006/main">
              <a:ext uri="{FF2B5EF4-FFF2-40B4-BE49-F238E27FC236}">
                <a16:creationId xmlns:a16="http://schemas.microsoft.com/office/drawing/2014/main" id="{C2769AA9-7667-4550-8605-26BA82D4400A}"/>
              </a:ext>
            </a:extLst>
          </p:cNvPr>
          <p:cNvSpPr>
            <a:spLocks xmlns:a="http://schemas.openxmlformats.org/drawingml/2006/main" noGrp="1"/>
          </p:cNvSpPr>
          <p:nvPr/>
        </p:nvSpPr>
        <p:spPr>
          <a:xfrm xmlns:a="http://schemas.openxmlformats.org/drawingml/2006/main">
            <a:off x="11268075"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buNone/>
              <a:defRPr sz="1000" b="0">
                <a:solidFill>
                  <a:srgbClr val="808080"/>
                </a:solidFill>
              </a:defRPr>
            </a:pPr>
            <a:r>
              <a:rPr sz="1000" b="0">
                <a:solidFill>
                  <a:srgbClr val="808080"/>
                </a:solidFill>
              </a:rPr>
              <a:t>18</a:t>
            </a:r>
          </a:p>
        </p:txBody>
      </p:sp>
    </p:spTree>
    <p:extLst>
      <p:ext uri="{BB962C8B-B14F-4D97-AF65-F5344CB8AC3E}">
        <p14:creationId xmlns:p14="http://schemas.microsoft.com/office/powerpoint/2010/main" val="15841716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silience title">
            <a:extLst xmlns:a="http://schemas.openxmlformats.org/drawingml/2006/main">
              <a:ext uri="{FF2B5EF4-FFF2-40B4-BE49-F238E27FC236}">
                <a16:creationId xmlns:a16="http://schemas.microsoft.com/office/drawing/2014/main" id="{F90A94A5-FD27-4DA2-AA42-5B8ADD279322}"/>
              </a:ext>
            </a:extLst>
          </p:cNvPr>
          <p:cNvSpPr>
            <a:spLocks xmlns:a="http://schemas.openxmlformats.org/drawingml/2006/main" noGrp="1"/>
          </p:cNvSpPr>
          <p:nvPr/>
        </p:nvSpPr>
        <p:spPr>
          <a:xfrm xmlns:a="http://schemas.openxmlformats.org/drawingml/2006/main">
            <a:off x="457200" y="29527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00" b="1">
                <a:solidFill>
                  <a:srgbClr val="173F7E"/>
                </a:solidFill>
              </a:defRPr>
            </a:defPPr>
          </a:lstStyle>
          <a:p xmlns:a="http://schemas.openxmlformats.org/drawingml/2006/main">
            <a:pPr>
              <a:buNone/>
              <a:defRPr sz="2800" b="1">
                <a:solidFill>
                  <a:srgbClr val="173F7E"/>
                </a:solidFill>
              </a:defRPr>
            </a:pPr>
            <a:r>
              <a:rPr sz="2800" b="1">
                <a:solidFill>
                  <a:srgbClr val="173F7E"/>
                </a:solidFill>
              </a:rPr>
              <a:t>Structured log aggregation</a:t>
            </a:r>
          </a:p>
        </p:txBody>
      </p:sp>
      <p:sp>
        <p:nvSpPr>
          <p:cNvPr id="2" name="section tag">
            <a:extLst xmlns:a="http://schemas.openxmlformats.org/drawingml/2006/main">
              <a:ext uri="{FF2B5EF4-FFF2-40B4-BE49-F238E27FC236}">
                <a16:creationId xmlns:a16="http://schemas.microsoft.com/office/drawing/2014/main" id="{BA933E59-E4B9-42DC-81D7-B6B29FF80A56}"/>
              </a:ext>
            </a:extLst>
          </p:cNvPr>
          <p:cNvSpPr>
            <a:spLocks xmlns:a="http://schemas.openxmlformats.org/drawingml/2006/main" noGrp="1"/>
          </p:cNvSpPr>
          <p:nvPr/>
        </p:nvSpPr>
        <p:spPr>
          <a:xfrm xmlns:a="http://schemas.openxmlformats.org/drawingml/2006/main">
            <a:off x="9429750" y="10001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95959"/>
                </a:solidFill>
              </a:defRPr>
            </a:defPPr>
          </a:lstStyle>
          <a:p xmlns:a="http://schemas.openxmlformats.org/drawingml/2006/main">
            <a:pPr>
              <a:buNone/>
              <a:defRPr sz="1200" b="0">
                <a:solidFill>
                  <a:srgbClr val="595959"/>
                </a:solidFill>
              </a:defRPr>
            </a:pPr>
            <a:r>
              <a:rPr sz="1200" b="0">
                <a:solidFill>
                  <a:srgbClr val="595959"/>
                </a:solidFill>
              </a:rPr>
              <a:t>Local verification · 21 Oct</a:t>
            </a:r>
          </a:p>
        </p:txBody>
      </p:sp>
      <p:sp>
        <p:nvSpPr>
          <p:cNvPr id="3" name="footer">
            <a:extLst xmlns:a="http://schemas.openxmlformats.org/drawingml/2006/main">
              <a:ext uri="{FF2B5EF4-FFF2-40B4-BE49-F238E27FC236}">
                <a16:creationId xmlns:a16="http://schemas.microsoft.com/office/drawing/2014/main" id="{EC140DDC-68AA-4D70-9B20-A71FEE021371}"/>
              </a:ext>
            </a:extLst>
          </p:cNvPr>
          <p:cNvSpPr>
            <a:spLocks xmlns:a="http://schemas.openxmlformats.org/drawingml/2006/main" noGrp="1"/>
          </p:cNvSpPr>
          <p:nvPr/>
        </p:nvSpPr>
        <p:spPr>
          <a:xfrm xmlns:a="http://schemas.openxmlformats.org/drawingml/2006/main">
            <a:off x="457200" y="64579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buNone/>
              <a:defRPr sz="1000" b="0">
                <a:solidFill>
                  <a:srgbClr val="808080"/>
                </a:solidFill>
              </a:defRPr>
            </a:pPr>
            <a:r>
              <a:rPr sz="1000" b="0">
                <a:solidFill>
                  <a:srgbClr val="808080"/>
                </a:solidFill>
              </a:rPr>
              <a:t>SE34FT · Team 13 · ReleaseGuard</a:t>
            </a:r>
          </a:p>
        </p:txBody>
      </p:sp>
      <p:sp>
        <p:nvSpPr>
          <p:cNvPr id="4" name="logs heading">
            <a:extLst xmlns:a="http://schemas.openxmlformats.org/drawingml/2006/main">
              <a:ext uri="{FF2B5EF4-FFF2-40B4-BE49-F238E27FC236}">
                <a16:creationId xmlns:a16="http://schemas.microsoft.com/office/drawing/2014/main" id="{BC9F138D-2629-4B9F-A466-2B9471022BA0}"/>
              </a:ext>
            </a:extLst>
          </p:cNvPr>
          <p:cNvSpPr>
            <a:spLocks xmlns:a="http://schemas.openxmlformats.org/drawingml/2006/main" noGrp="1"/>
          </p:cNvSpPr>
          <p:nvPr/>
        </p:nvSpPr>
        <p:spPr>
          <a:xfrm xmlns:a="http://schemas.openxmlformats.org/drawingml/2006/main">
            <a:off x="457200" y="13906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73F7E"/>
                </a:solidFill>
              </a:defRPr>
            </a:defPPr>
          </a:lstStyle>
          <a:p xmlns:a="http://schemas.openxmlformats.org/drawingml/2006/main">
            <a:pPr>
              <a:buNone/>
              <a:defRPr sz="1950" b="1">
                <a:solidFill>
                  <a:srgbClr val="173F7E"/>
                </a:solidFill>
              </a:defRPr>
            </a:pPr>
            <a:r>
              <a:rPr sz="1950" b="1">
                <a:solidFill>
                  <a:srgbClr val="173F7E"/>
                </a:solidFill>
              </a:rPr>
              <a:t>Service logs, searchable by trace ID</a:t>
            </a:r>
          </a:p>
        </p:txBody>
      </p:sp>
      <p:sp>
        <p:nvSpPr>
          <p:cNvPr id="5" name="logs explanation">
            <a:extLst xmlns:a="http://schemas.openxmlformats.org/drawingml/2006/main">
              <a:ext uri="{FF2B5EF4-FFF2-40B4-BE49-F238E27FC236}">
                <a16:creationId xmlns:a16="http://schemas.microsoft.com/office/drawing/2014/main" id="{670E51AC-CAF4-436D-8004-A85902C3E505}"/>
              </a:ext>
            </a:extLst>
          </p:cNvPr>
          <p:cNvSpPr>
            <a:spLocks xmlns:a="http://schemas.openxmlformats.org/drawingml/2006/main" noGrp="1"/>
          </p:cNvSpPr>
          <p:nvPr/>
        </p:nvSpPr>
        <p:spPr>
          <a:xfrm xmlns:a="http://schemas.openxmlformats.org/drawingml/2006/main">
            <a:off x="457200" y="1981200"/>
            <a:ext cx="409575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111111"/>
                </a:solidFill>
              </a:defRPr>
            </a:defPPr>
          </a:lstStyle>
          <a:p xmlns:a="http://schemas.openxmlformats.org/drawingml/2006/main">
            <a:pPr>
              <a:buNone/>
              <a:defRPr sz="1800" b="0">
                <a:solidFill>
                  <a:srgbClr val="111111"/>
                </a:solidFill>
              </a:defRPr>
            </a:pPr>
            <a:r>
              <a:rPr sz="1800" b="0">
                <a:solidFill>
                  <a:srgbClr val="111111"/>
                </a:solidFill>
              </a:rPr>
              <a:t>JSON application logs include service, event, traceId and spanId.</a:t>
            </a:r>
          </a:p>
          <a:p xmlns:a="http://schemas.openxmlformats.org/drawingml/2006/main">
            <a:r>
              <a:t/>
            </a:r>
          </a:p>
          <a:p xmlns:a="http://schemas.openxmlformats.org/drawingml/2006/main">
            <a:pPr>
              <a:buNone/>
              <a:defRPr sz="1800" b="0">
                <a:solidFill>
                  <a:srgbClr val="111111"/>
                </a:solidFill>
              </a:defRPr>
            </a:pPr>
            <a:r>
              <a:rPr sz="1800" b="0">
                <a:solidFill>
                  <a:srgbClr val="111111"/>
                </a:solidFill>
              </a:rPr>
              <a:t>Alloy reads only the isolated lab log directory and sends it to Loki. Grafana shows logs and failure counts.</a:t>
            </a:r>
          </a:p>
          <a:p xmlns:a="http://schemas.openxmlformats.org/drawingml/2006/main">
            <a:r>
              <a:t/>
            </a:r>
          </a:p>
          <a:p xmlns:a="http://schemas.openxmlformats.org/drawingml/2006/main">
            <a:pPr>
              <a:buNone/>
              <a:defRPr sz="1800" b="0">
                <a:solidFill>
                  <a:srgbClr val="111111"/>
                </a:solidFill>
              </a:defRPr>
            </a:pPr>
            <a:r>
              <a:rPr sz="1800" b="0">
                <a:solidFill>
                  <a:srgbClr val="111111"/>
                </a:solidFill>
              </a:rPr>
              <a:t>A trace query returned records from all five services.</a:t>
            </a:r>
          </a:p>
        </p:txBody>
      </p:sp>
      <p:pic>
        <p:nvPicPr>
          <p:cNvPr id="6" name="">
            <a:extLst xmlns:a="http://schemas.openxmlformats.org/drawingml/2006/main">
              <a:ext uri="{FF2B5EF4-FFF2-40B4-BE49-F238E27FC236}">
                <a16:creationId xmlns:a16="http://schemas.microsoft.com/office/drawing/2014/main" id="{C3603BA1-707C-4BE4-82E3-E3C7A972CD6E}"/>
              </a:ext>
            </a:extLst>
          </p:cNvPr>
          <p:cNvPicPr>
            <a:picLocks xmlns:a="http://schemas.openxmlformats.org/drawingml/2006/main" noChangeAspect="1"/>
          </p:cNvPicPr>
          <p:nvPr/>
        </p:nvPicPr>
        <p:blipFill>
          <a:blip xmlns:r="http://schemas.openxmlformats.org/officeDocument/2006/relationships" xmlns:a="http://schemas.openxmlformats.org/drawingml/2006/main" r:embed="R47a1d17a3f304c5f"/>
          <a:stretch xmlns:a="http://schemas.openxmlformats.org/drawingml/2006/main"/>
        </p:blipFill>
        <p:spPr>
          <a:xfrm xmlns:a="http://schemas.openxmlformats.org/drawingml/2006/main">
            <a:off x="4812030" y="1809750"/>
            <a:ext cx="6949440" cy="4343400"/>
          </a:xfrm>
          <a:prstGeom xmlns:a="http://schemas.openxmlformats.org/drawingml/2006/main" prst="rect">
            <a:avLst/>
          </a:prstGeom>
        </p:spPr>
      </p:pic>
      <p:sp>
        <p:nvSpPr>
          <p:cNvPr id="7" name="logs boundary">
            <a:extLst xmlns:a="http://schemas.openxmlformats.org/drawingml/2006/main">
              <a:ext uri="{FF2B5EF4-FFF2-40B4-BE49-F238E27FC236}">
                <a16:creationId xmlns:a16="http://schemas.microsoft.com/office/drawing/2014/main" id="{36E15F7C-013E-46DE-9E00-78FD9C532A43}"/>
              </a:ext>
            </a:extLst>
          </p:cNvPr>
          <p:cNvSpPr>
            <a:spLocks xmlns:a="http://schemas.openxmlformats.org/drawingml/2006/main" noGrp="1"/>
          </p:cNvSpPr>
          <p:nvPr/>
        </p:nvSpPr>
        <p:spPr>
          <a:xfrm xmlns:a="http://schemas.openxmlformats.org/drawingml/2006/main">
            <a:off x="457200" y="55816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95959"/>
                </a:solidFill>
              </a:defRPr>
            </a:defPPr>
          </a:lstStyle>
          <a:p xmlns:a="http://schemas.openxmlformats.org/drawingml/2006/main">
            <a:pPr>
              <a:buNone/>
              <a:defRPr sz="1350" b="0">
                <a:solidFill>
                  <a:srgbClr val="595959"/>
                </a:solidFill>
              </a:defRPr>
            </a:pPr>
            <a:r>
              <a:rPr sz="1350" b="0">
                <a:solidFill>
                  <a:srgbClr val="595959"/>
                </a:solidFill>
              </a:rPr>
              <a:t>Local-only collection. Auth, cookie and query canaries were absent from the application logs. No external alert notifications, production retention or HA claim.</a:t>
            </a:r>
          </a:p>
        </p:txBody>
      </p:sp>
      <p:sp>
        <p:nvSpPr>
          <p:cNvPr id="8" name="page number">
            <a:extLst xmlns:a="http://schemas.openxmlformats.org/drawingml/2006/main">
              <a:ext uri="{FF2B5EF4-FFF2-40B4-BE49-F238E27FC236}">
                <a16:creationId xmlns:a16="http://schemas.microsoft.com/office/drawing/2014/main" id="{BA833D93-5252-4E32-B629-BF50B0758DB0}"/>
              </a:ext>
            </a:extLst>
          </p:cNvPr>
          <p:cNvSpPr>
            <a:spLocks xmlns:a="http://schemas.openxmlformats.org/drawingml/2006/main" noGrp="1"/>
          </p:cNvSpPr>
          <p:nvPr/>
        </p:nvSpPr>
        <p:spPr>
          <a:xfrm xmlns:a="http://schemas.openxmlformats.org/drawingml/2006/main">
            <a:off x="11268075"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00" b="0">
                <a:solidFill>
                  <a:srgbClr val="808080"/>
                </a:solidFill>
              </a:defRPr>
            </a:defPPr>
          </a:lstStyle>
          <a:p xmlns:a="http://schemas.openxmlformats.org/drawingml/2006/main">
            <a:pPr>
              <a:buNone/>
              <a:defRPr sz="1000" b="0">
                <a:solidFill>
                  <a:srgbClr val="808080"/>
                </a:solidFill>
              </a:defRPr>
            </a:pPr>
            <a:r>
              <a:rPr sz="1000" b="0">
                <a:solidFill>
                  <a:srgbClr val="808080"/>
                </a:solidFill>
              </a:rPr>
              <a:t>19</a:t>
            </a:r>
          </a:p>
        </p:txBody>
      </p:sp>
    </p:spTree>
    <p:extLst>
      <p:ext uri="{BB962C8B-B14F-4D97-AF65-F5344CB8AC3E}">
        <p14:creationId xmlns:p14="http://schemas.microsoft.com/office/powerpoint/2010/main" val="17332615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49F7A2-6256-4178-B1A5-024D3F931273}"/>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Demo 1–2: evaluation and independent review</a:t>
            </a:r>
            <a:endParaRPr sz="2800"/>
          </a:p>
        </p:txBody>
      </p:sp>
      <p:sp>
        <p:nvSpPr>
          <p:cNvPr id="3" name="section tag">
            <a:extLst xmlns:a="http://schemas.openxmlformats.org/drawingml/2006/main">
              <a:ext uri="{FF2B5EF4-FFF2-40B4-BE49-F238E27FC236}">
                <a16:creationId xmlns:a16="http://schemas.microsoft.com/office/drawing/2014/main" id="{06A3F751-43DF-4DA8-876B-25CDAB3BC4C0}"/>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6 · Demo</a:t>
            </a:r>
            <a:endParaRPr sz="1200"/>
          </a:p>
        </p:txBody>
      </p:sp>
      <p:sp>
        <p:nvSpPr>
          <p:cNvPr id="4" name="live banner">
            <a:extLst xmlns:a="http://schemas.openxmlformats.org/drawingml/2006/main">
              <a:ext uri="{FF2B5EF4-FFF2-40B4-BE49-F238E27FC236}">
                <a16:creationId xmlns:a16="http://schemas.microsoft.com/office/drawing/2014/main" id="{0AD02802-D691-4E65-A7BA-4EDBABAD1825}"/>
              </a:ext>
            </a:extLst>
          </p:cNvPr>
          <p:cNvSpPr>
            <a:spLocks xmlns:a="http://schemas.openxmlformats.org/drawingml/2006/main" noGrp="1"/>
          </p:cNvSpPr>
          <p:nvPr/>
        </p:nvSpPr>
        <p:spPr>
          <a:xfrm xmlns:a="http://schemas.openxmlformats.org/drawingml/2006/main">
            <a:off x="457200" y="1188720"/>
            <a:ext cx="11274552" cy="411480"/>
          </a:xfrm>
          <a:prstGeom xmlns:a="http://schemas.openxmlformats.org/drawingml/2006/main" prst="roundRect">
            <a:avLst>
              <a:gd name="adj" fmla="val 13333"/>
            </a:avLst>
          </a:prstGeom>
          <a:solidFill xmlns:a="http://schemas.openxmlformats.org/drawingml/2006/main">
            <a:srgbClr val="1E3A5F"/>
          </a:solidFill>
          <a:ln xmlns:a="http://schemas.openxmlformats.org/drawingml/2006/main" w="12700">
            <a:solidFill>
              <a:srgbClr val="1E3A5F"/>
            </a:solidFill>
            <a:prstDash val="solid"/>
          </a:ln>
        </p:spPr>
      </p:sp>
      <p:sp>
        <p:nvSpPr>
          <p:cNvPr id="5" name="live banner text">
            <a:extLst xmlns:a="http://schemas.openxmlformats.org/drawingml/2006/main">
              <a:ext uri="{FF2B5EF4-FFF2-40B4-BE49-F238E27FC236}">
                <a16:creationId xmlns:a16="http://schemas.microsoft.com/office/drawing/2014/main" id="{9EAB751E-DFCD-434D-B287-907226958FEF}"/>
              </a:ext>
            </a:extLst>
          </p:cNvPr>
          <p:cNvSpPr>
            <a:spLocks xmlns:a="http://schemas.openxmlformats.org/drawingml/2006/main" noGrp="1"/>
          </p:cNvSpPr>
          <p:nvPr/>
        </p:nvSpPr>
        <p:spPr>
          <a:xfrm xmlns:a="http://schemas.openxmlformats.org/drawingml/2006/main">
            <a:off x="457200" y="1188720"/>
            <a:ext cx="112745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HISTORICAL EVIDENCE REPLAY. No new model calls or approval actions</a:t>
            </a:r>
            <a:endParaRPr sz="1400"/>
          </a:p>
        </p:txBody>
      </p:sp>
      <p:sp>
        <p:nvSpPr>
          <p:cNvPr id="6" name="Demo 1 · A · 2.5 min">
            <a:extLst xmlns:a="http://schemas.openxmlformats.org/drawingml/2006/main">
              <a:ext uri="{FF2B5EF4-FFF2-40B4-BE49-F238E27FC236}">
                <a16:creationId xmlns:a16="http://schemas.microsoft.com/office/drawing/2014/main" id="{57FDA086-0CE1-41FC-8BD9-13AEFE8529C5}"/>
              </a:ext>
            </a:extLst>
          </p:cNvPr>
          <p:cNvSpPr>
            <a:spLocks xmlns:a="http://schemas.openxmlformats.org/drawingml/2006/main" noGrp="1"/>
          </p:cNvSpPr>
          <p:nvPr/>
        </p:nvSpPr>
        <p:spPr>
          <a:xfrm xmlns:a="http://schemas.openxmlformats.org/drawingml/2006/main">
            <a:off x="457200" y="178308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3F7E"/>
                </a:solidFill>
              </a:rPr>
              <a:t>Demo 1 · A · 2.5 min</a:t>
            </a:r>
            <a:endParaRPr sz="1800"/>
          </a:p>
        </p:txBody>
      </p:sp>
      <p:sp>
        <p:nvSpPr>
          <p:cNvPr id="7" name="Demo 1 · A · 2.5 min steps">
            <a:extLst xmlns:a="http://schemas.openxmlformats.org/drawingml/2006/main">
              <a:ext uri="{FF2B5EF4-FFF2-40B4-BE49-F238E27FC236}">
                <a16:creationId xmlns:a16="http://schemas.microsoft.com/office/drawing/2014/main" id="{A290FF51-1B96-44A4-8CCC-A3D5E62D8EE1}"/>
              </a:ext>
            </a:extLst>
          </p:cNvPr>
          <p:cNvSpPr>
            <a:spLocks xmlns:a="http://schemas.openxmlformats.org/drawingml/2006/main" noGrp="1"/>
          </p:cNvSpPr>
          <p:nvPr/>
        </p:nvSpPr>
        <p:spPr>
          <a:xfrm xmlns:a="http://schemas.openxmlformats.org/drawingml/2006/main">
            <a:off x="457200" y="2194560"/>
            <a:ext cx="54864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Font typeface="+mj-lt"/>
              <a:buAutoNum type="arabicPeriod" startAt="1"/>
            </a:pPr>
            <a:r>
              <a:rPr sz="1400">
                <a:solidFill>
                  <a:srgbClr val="000000"/>
                </a:solidFill>
              </a:rPr>
              <a:t>Open the saved app and immutable suite snapshot</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Compare saved passing and blocked candidates</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Inspect saved per-case evidence and original output</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The failing one is Blocked and cannot request review</a:t>
            </a:r>
            <a:endParaRPr sz="1400"/>
          </a:p>
        </p:txBody>
      </p:sp>
      <p:pic>
        <p:nvPicPr>
          <p:cNvPr id="8" name="Demo 1 · A · 2.5 min backup screenshot">
            <a:extLst xmlns:a="http://schemas.openxmlformats.org/drawingml/2006/main">
              <a:ext uri="{FF2B5EF4-FFF2-40B4-BE49-F238E27FC236}">
                <a16:creationId xmlns:a16="http://schemas.microsoft.com/office/drawing/2014/main" id="{C4E74806-15EB-4066-8C10-FDC3FFACC225}"/>
              </a:ext>
            </a:extLst>
          </p:cNvPr>
          <p:cNvPicPr>
            <a:picLocks xmlns:a="http://schemas.openxmlformats.org/drawingml/2006/main" noChangeAspect="1"/>
          </p:cNvPicPr>
          <p:nvPr/>
        </p:nvPicPr>
        <p:blipFill>
          <a:blip xmlns:r="http://schemas.openxmlformats.org/officeDocument/2006/relationships" xmlns:a="http://schemas.openxmlformats.org/drawingml/2006/main" r:embed="R23a7e8825f78437a"/>
          <a:stretch xmlns:a="http://schemas.openxmlformats.org/drawingml/2006/main">
            <a:fillRect l="0" t="0" r="0" b="0"/>
          </a:stretch>
        </p:blipFill>
        <p:spPr>
          <a:xfrm xmlns:a="http://schemas.openxmlformats.org/drawingml/2006/main">
            <a:off x="1050235" y="3703320"/>
            <a:ext cx="4300330" cy="2514600"/>
          </a:xfrm>
          <a:prstGeom xmlns:a="http://schemas.openxmlformats.org/drawingml/2006/main" prst="rect">
            <a:avLst/>
          </a:prstGeom>
        </p:spPr>
      </p:pic>
      <p:sp>
        <p:nvSpPr>
          <p:cNvPr id="9" name="Demo 1 · A · 2.5 min frame">
            <a:extLst xmlns:a="http://schemas.openxmlformats.org/drawingml/2006/main">
              <a:ext uri="{FF2B5EF4-FFF2-40B4-BE49-F238E27FC236}">
                <a16:creationId xmlns:a16="http://schemas.microsoft.com/office/drawing/2014/main" id="{5046CF76-8326-40E8-ABB6-F763EB672C19}"/>
              </a:ext>
            </a:extLst>
          </p:cNvPr>
          <p:cNvSpPr>
            <a:spLocks xmlns:a="http://schemas.openxmlformats.org/drawingml/2006/main" noGrp="1"/>
          </p:cNvSpPr>
          <p:nvPr/>
        </p:nvSpPr>
        <p:spPr>
          <a:xfrm xmlns:a="http://schemas.openxmlformats.org/drawingml/2006/main">
            <a:off x="1050235" y="3703320"/>
            <a:ext cx="4300330" cy="2514600"/>
          </a:xfrm>
          <a:prstGeom xmlns:a="http://schemas.openxmlformats.org/drawingml/2006/main" prst="rect">
            <a:avLst/>
          </a:prstGeom>
          <a:ln xmlns:a="http://schemas.openxmlformats.org/drawingml/2006/main" w="12700">
            <a:solidFill>
              <a:srgbClr val="BFBFBF"/>
            </a:solidFill>
            <a:prstDash val="solid"/>
          </a:ln>
        </p:spPr>
      </p:sp>
      <p:sp>
        <p:nvSpPr>
          <p:cNvPr id="10" name="Demo 2 · B · 1.5 min">
            <a:extLst xmlns:a="http://schemas.openxmlformats.org/drawingml/2006/main">
              <a:ext uri="{FF2B5EF4-FFF2-40B4-BE49-F238E27FC236}">
                <a16:creationId xmlns:a16="http://schemas.microsoft.com/office/drawing/2014/main" id="{5D7D2F0E-78B0-4F31-B7D1-8D706C1CE0AA}"/>
              </a:ext>
            </a:extLst>
          </p:cNvPr>
          <p:cNvSpPr>
            <a:spLocks xmlns:a="http://schemas.openxmlformats.org/drawingml/2006/main" noGrp="1"/>
          </p:cNvSpPr>
          <p:nvPr/>
        </p:nvSpPr>
        <p:spPr>
          <a:xfrm xmlns:a="http://schemas.openxmlformats.org/drawingml/2006/main">
            <a:off x="6172200" y="178308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3F7E"/>
                </a:solidFill>
              </a:rPr>
              <a:t>Demo 2 · B · 1.5 min</a:t>
            </a:r>
            <a:endParaRPr sz="1800"/>
          </a:p>
        </p:txBody>
      </p:sp>
      <p:sp>
        <p:nvSpPr>
          <p:cNvPr id="11" name="Demo 2 · B · 1.5 min steps">
            <a:extLst xmlns:a="http://schemas.openxmlformats.org/drawingml/2006/main">
              <a:ext uri="{FF2B5EF4-FFF2-40B4-BE49-F238E27FC236}">
                <a16:creationId xmlns:a16="http://schemas.microsoft.com/office/drawing/2014/main" id="{6CF60B4E-6206-4653-8FA4-64CAA1BB2E9D}"/>
              </a:ext>
            </a:extLst>
          </p:cNvPr>
          <p:cNvSpPr>
            <a:spLocks xmlns:a="http://schemas.openxmlformats.org/drawingml/2006/main" noGrp="1"/>
          </p:cNvSpPr>
          <p:nvPr/>
        </p:nvSpPr>
        <p:spPr>
          <a:xfrm xmlns:a="http://schemas.openxmlformats.org/drawingml/2006/main">
            <a:off x="6172200" y="2194560"/>
            <a:ext cx="54864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Font typeface="+mj-lt"/>
              <a:buAutoNum type="arabicPeriod" startAt="1"/>
            </a:pPr>
            <a:r>
              <a:rPr sz="1400">
                <a:solidFill>
                  <a:srgbClr val="000000"/>
                </a:solidFill>
              </a:rPr>
              <a:t>Show the recorded self-review denial (409)</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Show the recorded distinct test-identity decision</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Inspect the recorded terminal-state invariant</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Inspect the saved job, suite, outputs and audit export</a:t>
            </a:r>
            <a:endParaRPr sz="1400"/>
          </a:p>
        </p:txBody>
      </p:sp>
      <p:pic>
        <p:nvPicPr>
          <p:cNvPr id="12" name="Demo 2 · B · 1.5 min backup screenshot">
            <a:extLst xmlns:a="http://schemas.openxmlformats.org/drawingml/2006/main">
              <a:ext uri="{FF2B5EF4-FFF2-40B4-BE49-F238E27FC236}">
                <a16:creationId xmlns:a16="http://schemas.microsoft.com/office/drawing/2014/main" id="{218D7881-D1E3-4C33-AAC1-53EE6FA024CB}"/>
              </a:ext>
            </a:extLst>
          </p:cNvPr>
          <p:cNvPicPr>
            <a:picLocks xmlns:a="http://schemas.openxmlformats.org/drawingml/2006/main" noChangeAspect="1"/>
          </p:cNvPicPr>
          <p:nvPr/>
        </p:nvPicPr>
        <p:blipFill>
          <a:blip xmlns:r="http://schemas.openxmlformats.org/officeDocument/2006/relationships" xmlns:a="http://schemas.openxmlformats.org/drawingml/2006/main" r:embed="R626bb41f4cd242a4"/>
          <a:stretch xmlns:a="http://schemas.openxmlformats.org/drawingml/2006/main">
            <a:fillRect l="0" t="0" r="0" b="0"/>
          </a:stretch>
        </p:blipFill>
        <p:spPr>
          <a:xfrm xmlns:a="http://schemas.openxmlformats.org/drawingml/2006/main">
            <a:off x="6172200" y="3703320"/>
            <a:ext cx="5486400" cy="2387387"/>
          </a:xfrm>
          <a:prstGeom xmlns:a="http://schemas.openxmlformats.org/drawingml/2006/main" prst="rect">
            <a:avLst/>
          </a:prstGeom>
        </p:spPr>
      </p:pic>
      <p:sp>
        <p:nvSpPr>
          <p:cNvPr id="13" name="Demo 2 · B · 1.5 min frame">
            <a:extLst xmlns:a="http://schemas.openxmlformats.org/drawingml/2006/main">
              <a:ext uri="{FF2B5EF4-FFF2-40B4-BE49-F238E27FC236}">
                <a16:creationId xmlns:a16="http://schemas.microsoft.com/office/drawing/2014/main" id="{B92E71C6-0F56-4BE4-B3A6-D11F93193DB8}"/>
              </a:ext>
            </a:extLst>
          </p:cNvPr>
          <p:cNvSpPr>
            <a:spLocks xmlns:a="http://schemas.openxmlformats.org/drawingml/2006/main" noGrp="1"/>
          </p:cNvSpPr>
          <p:nvPr/>
        </p:nvSpPr>
        <p:spPr>
          <a:xfrm xmlns:a="http://schemas.openxmlformats.org/drawingml/2006/main">
            <a:off x="6172200" y="3703320"/>
            <a:ext cx="5486400" cy="2387387"/>
          </a:xfrm>
          <a:prstGeom xmlns:a="http://schemas.openxmlformats.org/drawingml/2006/main" prst="rect">
            <a:avLst/>
          </a:prstGeom>
          <a:ln xmlns:a="http://schemas.openxmlformats.org/drawingml/2006/main" w="12700">
            <a:solidFill>
              <a:srgbClr val="BFBFBF"/>
            </a:solidFill>
            <a:prstDash val="solid"/>
          </a:ln>
        </p:spPr>
      </p:sp>
      <p:sp>
        <p:nvSpPr>
          <p:cNvPr id="25" name="Slide Number Placeholder 0">
            <a:extLst xmlns:a="http://schemas.openxmlformats.org/drawingml/2006/main">
              <a:ext uri="{FF2B5EF4-FFF2-40B4-BE49-F238E27FC236}">
                <a16:creationId xmlns:a16="http://schemas.microsoft.com/office/drawing/2014/main" id="{617EFFB6-51E1-4619-A1B3-5518A682CA16}"/>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844E025A-983C-6D44-79C6-4612AACD43FC}" type="slidenum">
              <a:rPr b="0"/>
              <a:t>20</a:t>
            </a:fld>
            <a:endParaRPr/>
          </a:p>
        </p:txBody>
      </p:sp>
    </p:spTree>
    <p:extLst>
      <p:ext uri="{BB962C8B-B14F-4D97-AF65-F5344CB8AC3E}">
        <p14:creationId xmlns:p14="http://schemas.microsoft.com/office/powerpoint/2010/main" val="214088992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6D1EEA9-16D0-4F5D-9645-CCCBF9040657}"/>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Demo 3: scalability and performance</a:t>
            </a:r>
            <a:endParaRPr sz="2800"/>
          </a:p>
        </p:txBody>
      </p:sp>
      <p:sp>
        <p:nvSpPr>
          <p:cNvPr id="3" name="section tag">
            <a:extLst xmlns:a="http://schemas.openxmlformats.org/drawingml/2006/main">
              <a:ext uri="{FF2B5EF4-FFF2-40B4-BE49-F238E27FC236}">
                <a16:creationId xmlns:a16="http://schemas.microsoft.com/office/drawing/2014/main" id="{0FED43F1-8EF4-4375-B81D-3367217D9E4F}"/>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6 · Demo</a:t>
            </a:r>
            <a:endParaRPr sz="1200"/>
          </a:p>
        </p:txBody>
      </p:sp>
      <p:pic>
        <p:nvPicPr>
          <p:cNvPr id="4" name="scaling charts and scenario">
            <a:extLst xmlns:a="http://schemas.openxmlformats.org/drawingml/2006/main">
              <a:ext uri="{FF2B5EF4-FFF2-40B4-BE49-F238E27FC236}">
                <a16:creationId xmlns:a16="http://schemas.microsoft.com/office/drawing/2014/main" id="{D089D340-DEF8-4BDD-9492-6B49D9BAA0B9}"/>
              </a:ext>
            </a:extLst>
          </p:cNvPr>
          <p:cNvPicPr>
            <a:picLocks xmlns:a="http://schemas.openxmlformats.org/drawingml/2006/main" noChangeAspect="1"/>
          </p:cNvPicPr>
          <p:nvPr/>
        </p:nvPicPr>
        <p:blipFill>
          <a:blip xmlns:r="http://schemas.openxmlformats.org/officeDocument/2006/relationships" xmlns:a="http://schemas.openxmlformats.org/drawingml/2006/main" r:embed="R134671acc8974792"/>
          <a:stretch xmlns:a="http://schemas.openxmlformats.org/drawingml/2006/main">
            <a:fillRect l="0" t="0" r="0" b="0"/>
          </a:stretch>
        </p:blipFill>
        <p:spPr>
          <a:xfrm xmlns:a="http://schemas.openxmlformats.org/drawingml/2006/main">
            <a:off x="934566" y="1143000"/>
            <a:ext cx="10319820" cy="516636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402F2ECC-3319-487F-A24C-9A6388C591C3}"/>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F6DF2BE2-2DFA-1C03-677D-BDC2260D6D92}" type="slidenum">
              <a:rPr b="0"/>
              <a:t>21</a:t>
            </a:fld>
            <a:endParaRPr/>
          </a:p>
        </p:txBody>
      </p:sp>
    </p:spTree>
    <p:extLst>
      <p:ext uri="{BB962C8B-B14F-4D97-AF65-F5344CB8AC3E}">
        <p14:creationId xmlns:p14="http://schemas.microsoft.com/office/powerpoint/2010/main" val="200022234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C7DB80-9D81-4BE7-A53A-C323905BBC20}"/>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Demo 4: the pipeline — and what we learned</a:t>
            </a:r>
            <a:endParaRPr sz="2800"/>
          </a:p>
        </p:txBody>
      </p:sp>
      <p:sp>
        <p:nvSpPr>
          <p:cNvPr id="3" name="section tag">
            <a:extLst xmlns:a="http://schemas.openxmlformats.org/drawingml/2006/main">
              <a:ext uri="{FF2B5EF4-FFF2-40B4-BE49-F238E27FC236}">
                <a16:creationId xmlns:a16="http://schemas.microsoft.com/office/drawing/2014/main" id="{CA5BB749-0A95-4149-968D-5CC247BD2C08}"/>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6 · Demo</a:t>
            </a:r>
            <a:endParaRPr sz="1200"/>
          </a:p>
        </p:txBody>
      </p:sp>
      <p:sp>
        <p:nvSpPr>
          <p:cNvPr id="4" name="demo 4 heading">
            <a:extLst xmlns:a="http://schemas.openxmlformats.org/drawingml/2006/main">
              <a:ext uri="{FF2B5EF4-FFF2-40B4-BE49-F238E27FC236}">
                <a16:creationId xmlns:a16="http://schemas.microsoft.com/office/drawing/2014/main" id="{CB452E9D-2DF3-41CC-BBB5-E60508FD7937}"/>
              </a:ext>
            </a:extLst>
          </p:cNvPr>
          <p:cNvSpPr>
            <a:spLocks xmlns:a="http://schemas.openxmlformats.org/drawingml/2006/main" noGrp="1"/>
          </p:cNvSpPr>
          <p:nvPr/>
        </p:nvSpPr>
        <p:spPr>
          <a:xfrm xmlns:a="http://schemas.openxmlformats.org/drawingml/2006/main">
            <a:off x="457200" y="1234440"/>
            <a:ext cx="5669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3F7E"/>
                </a:solidFill>
              </a:rPr>
              <a:t>Demo 4 · D · 1.5 min</a:t>
            </a:r>
            <a:endParaRPr sz="1800"/>
          </a:p>
        </p:txBody>
      </p:sp>
      <p:sp>
        <p:nvSpPr>
          <p:cNvPr id="5" name="demo 4 steps">
            <a:extLst xmlns:a="http://schemas.openxmlformats.org/drawingml/2006/main">
              <a:ext uri="{FF2B5EF4-FFF2-40B4-BE49-F238E27FC236}">
                <a16:creationId xmlns:a16="http://schemas.microsoft.com/office/drawing/2014/main" id="{68AD38B9-E1F2-4795-A99E-48C95B002B26}"/>
              </a:ext>
            </a:extLst>
          </p:cNvPr>
          <p:cNvSpPr>
            <a:spLocks xmlns:a="http://schemas.openxmlformats.org/drawingml/2006/main" noGrp="1"/>
          </p:cNvSpPr>
          <p:nvPr/>
        </p:nvSpPr>
        <p:spPr>
          <a:xfrm xmlns:a="http://schemas.openxmlformats.org/drawingml/2006/main">
            <a:off x="457200" y="1691640"/>
            <a:ext cx="56692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Font typeface="+mj-lt"/>
              <a:buAutoNum type="arabicPeriod" startAt="1"/>
            </a:pPr>
            <a:r>
              <a:rPr sz="1400">
                <a:solidFill>
                  <a:srgbClr val="000000"/>
                </a:solidFill>
              </a:rPr>
              <a:t>Open CI 38148253863 and CD 38148479735 (same commit 362e8dd)</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Show check → deploy, digest pinning and rollback smoke results</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Historical playback only; no new CI dispatch or deployment</a:t>
            </a:r>
            <a:endParaRPr sz="1400"/>
          </a:p>
        </p:txBody>
      </p:sp>
      <p:pic>
        <p:nvPicPr>
          <p:cNvPr id="6" name="CD success screenshot">
            <a:extLst xmlns:a="http://schemas.openxmlformats.org/drawingml/2006/main">
              <a:ext uri="{FF2B5EF4-FFF2-40B4-BE49-F238E27FC236}">
                <a16:creationId xmlns:a16="http://schemas.microsoft.com/office/drawing/2014/main" id="{30D2969C-0B66-4D82-B795-54BD79E5617B}"/>
              </a:ext>
            </a:extLst>
          </p:cNvPr>
          <p:cNvPicPr>
            <a:picLocks xmlns:a="http://schemas.openxmlformats.org/drawingml/2006/main" noChangeAspect="1"/>
          </p:cNvPicPr>
          <p:nvPr/>
        </p:nvPicPr>
        <p:blipFill>
          <a:blip xmlns:r="http://schemas.openxmlformats.org/officeDocument/2006/relationships" xmlns:a="http://schemas.openxmlformats.org/drawingml/2006/main" r:embed="R81f6e191a13f42bb"/>
          <a:stretch xmlns:a="http://schemas.openxmlformats.org/drawingml/2006/main">
            <a:fillRect l="0" t="0" r="0" b="0"/>
          </a:stretch>
        </p:blipFill>
        <p:spPr>
          <a:xfrm xmlns:a="http://schemas.openxmlformats.org/drawingml/2006/main">
            <a:off x="457200" y="3063240"/>
            <a:ext cx="5669280" cy="1949752"/>
          </a:xfrm>
          <a:prstGeom xmlns:a="http://schemas.openxmlformats.org/drawingml/2006/main" prst="rect">
            <a:avLst/>
          </a:prstGeom>
        </p:spPr>
      </p:pic>
      <p:sp>
        <p:nvSpPr>
          <p:cNvPr id="7" name="cd frame">
            <a:extLst xmlns:a="http://schemas.openxmlformats.org/drawingml/2006/main">
              <a:ext uri="{FF2B5EF4-FFF2-40B4-BE49-F238E27FC236}">
                <a16:creationId xmlns:a16="http://schemas.microsoft.com/office/drawing/2014/main" id="{0295F80E-7997-4937-A79A-3C6918379967}"/>
              </a:ext>
            </a:extLst>
          </p:cNvPr>
          <p:cNvSpPr>
            <a:spLocks xmlns:a="http://schemas.openxmlformats.org/drawingml/2006/main" noGrp="1"/>
          </p:cNvSpPr>
          <p:nvPr/>
        </p:nvSpPr>
        <p:spPr>
          <a:xfrm xmlns:a="http://schemas.openxmlformats.org/drawingml/2006/main">
            <a:off x="457200" y="3063240"/>
            <a:ext cx="5669280" cy="1949752"/>
          </a:xfrm>
          <a:prstGeom xmlns:a="http://schemas.openxmlformats.org/drawingml/2006/main" prst="rect">
            <a:avLst/>
          </a:prstGeom>
          <a:ln xmlns:a="http://schemas.openxmlformats.org/drawingml/2006/main" w="12700">
            <a:solidFill>
              <a:srgbClr val="BFBFBF"/>
            </a:solidFill>
            <a:prstDash val="solid"/>
          </a:ln>
        </p:spPr>
      </p:sp>
      <p:sp>
        <p:nvSpPr>
          <p:cNvPr id="8" name="takeaways heading">
            <a:extLst xmlns:a="http://schemas.openxmlformats.org/drawingml/2006/main">
              <a:ext uri="{FF2B5EF4-FFF2-40B4-BE49-F238E27FC236}">
                <a16:creationId xmlns:a16="http://schemas.microsoft.com/office/drawing/2014/main" id="{B1B07518-A285-4EDC-8F3C-EDF30DD98A2E}"/>
              </a:ext>
            </a:extLst>
          </p:cNvPr>
          <p:cNvSpPr>
            <a:spLocks xmlns:a="http://schemas.openxmlformats.org/drawingml/2006/main" noGrp="1"/>
          </p:cNvSpPr>
          <p:nvPr/>
        </p:nvSpPr>
        <p:spPr>
          <a:xfrm xmlns:a="http://schemas.openxmlformats.org/drawingml/2006/main">
            <a:off x="6583680" y="123444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3F7E"/>
                </a:solidFill>
              </a:rPr>
              <a:t>Take-aways</a:t>
            </a:r>
            <a:endParaRPr sz="1800"/>
          </a:p>
        </p:txBody>
      </p:sp>
      <p:sp>
        <p:nvSpPr>
          <p:cNvPr id="9" name="takeaway badge 1">
            <a:extLst xmlns:a="http://schemas.openxmlformats.org/drawingml/2006/main">
              <a:ext uri="{FF2B5EF4-FFF2-40B4-BE49-F238E27FC236}">
                <a16:creationId xmlns:a16="http://schemas.microsoft.com/office/drawing/2014/main" id="{1412AE68-1522-4F56-8CE0-23E7911D33D8}"/>
              </a:ext>
            </a:extLst>
          </p:cNvPr>
          <p:cNvSpPr>
            <a:spLocks xmlns:a="http://schemas.openxmlformats.org/drawingml/2006/main" noGrp="1"/>
          </p:cNvSpPr>
          <p:nvPr/>
        </p:nvSpPr>
        <p:spPr>
          <a:xfrm xmlns:a="http://schemas.openxmlformats.org/drawingml/2006/main">
            <a:off x="6583680" y="1783080"/>
            <a:ext cx="548640" cy="548640"/>
          </a:xfrm>
          <a:prstGeom xmlns:a="http://schemas.openxmlformats.org/drawingml/2006/main" prst="ellipse">
            <a:avLst/>
          </a:prstGeom>
          <a:solidFill xmlns:a="http://schemas.openxmlformats.org/drawingml/2006/main">
            <a:srgbClr val="173F7E"/>
          </a:solidFill>
          <a:ln xmlns:a="http://schemas.openxmlformats.org/drawingml/2006/main" w="12700">
            <a:solidFill>
              <a:srgbClr val="173F7E"/>
            </a:solidFill>
            <a:prstDash val="solid"/>
          </a:ln>
        </p:spPr>
      </p:sp>
      <p:sp>
        <p:nvSpPr>
          <p:cNvPr id="10" name="takeaway number 1">
            <a:extLst xmlns:a="http://schemas.openxmlformats.org/drawingml/2006/main">
              <a:ext uri="{FF2B5EF4-FFF2-40B4-BE49-F238E27FC236}">
                <a16:creationId xmlns:a16="http://schemas.microsoft.com/office/drawing/2014/main" id="{23ABD162-3C26-4107-A142-76DB781CEB2B}"/>
              </a:ext>
            </a:extLst>
          </p:cNvPr>
          <p:cNvSpPr>
            <a:spLocks xmlns:a="http://schemas.openxmlformats.org/drawingml/2006/main" noGrp="1"/>
          </p:cNvSpPr>
          <p:nvPr/>
        </p:nvSpPr>
        <p:spPr>
          <a:xfrm xmlns:a="http://schemas.openxmlformats.org/drawingml/2006/main">
            <a:off x="6583680" y="1783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1</a:t>
            </a:r>
            <a:endParaRPr sz="1800"/>
          </a:p>
        </p:txBody>
      </p:sp>
      <p:sp>
        <p:nvSpPr>
          <p:cNvPr id="11" name="takeaway 1">
            <a:extLst xmlns:a="http://schemas.openxmlformats.org/drawingml/2006/main">
              <a:ext uri="{FF2B5EF4-FFF2-40B4-BE49-F238E27FC236}">
                <a16:creationId xmlns:a16="http://schemas.microsoft.com/office/drawing/2014/main" id="{D8BEFCD1-CA0C-46DD-86BE-429BFEEC866F}"/>
              </a:ext>
            </a:extLst>
          </p:cNvPr>
          <p:cNvSpPr>
            <a:spLocks xmlns:a="http://schemas.openxmlformats.org/drawingml/2006/main" noGrp="1"/>
          </p:cNvSpPr>
          <p:nvPr/>
        </p:nvSpPr>
        <p:spPr>
          <a:xfrm xmlns:a="http://schemas.openxmlformats.org/drawingml/2006/main">
            <a:off x="7315200" y="1737360"/>
            <a:ext cx="4416552"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3F7E"/>
                </a:solidFill>
              </a:rPr>
              <a:t>A traceable platform</a:t>
            </a:r>
            <a:endParaRPr sz="1600"/>
          </a:p>
          <a:p xmlns:a="http://schemas.openxmlformats.org/drawingml/2006/main">
            <a:pPr marL="0" indent="0">
              <a:buNone/>
            </a:pPr>
            <a:r>
              <a:rPr sz="1400">
                <a:solidFill>
                  <a:srgbClr val="000000"/>
                </a:solidFill>
              </a:rPr>
              <a:t>Immutable suites, original outputs, a fail-closed gate and an independent review trail.</a:t>
            </a:r>
            <a:endParaRPr sz="1600"/>
          </a:p>
        </p:txBody>
      </p:sp>
      <p:sp>
        <p:nvSpPr>
          <p:cNvPr id="12" name="takeaway badge 2">
            <a:extLst xmlns:a="http://schemas.openxmlformats.org/drawingml/2006/main">
              <a:ext uri="{FF2B5EF4-FFF2-40B4-BE49-F238E27FC236}">
                <a16:creationId xmlns:a16="http://schemas.microsoft.com/office/drawing/2014/main" id="{3CCD5F63-2F9F-4DA2-9605-BF44D5437DFE}"/>
              </a:ext>
            </a:extLst>
          </p:cNvPr>
          <p:cNvSpPr>
            <a:spLocks xmlns:a="http://schemas.openxmlformats.org/drawingml/2006/main" noGrp="1"/>
          </p:cNvSpPr>
          <p:nvPr/>
        </p:nvSpPr>
        <p:spPr>
          <a:xfrm xmlns:a="http://schemas.openxmlformats.org/drawingml/2006/main">
            <a:off x="6583680" y="3246120"/>
            <a:ext cx="548640" cy="548640"/>
          </a:xfrm>
          <a:prstGeom xmlns:a="http://schemas.openxmlformats.org/drawingml/2006/main" prst="ellipse">
            <a:avLst/>
          </a:prstGeom>
          <a:solidFill xmlns:a="http://schemas.openxmlformats.org/drawingml/2006/main">
            <a:srgbClr val="4882DE"/>
          </a:solidFill>
          <a:ln xmlns:a="http://schemas.openxmlformats.org/drawingml/2006/main" w="12700">
            <a:solidFill>
              <a:srgbClr val="4882DE"/>
            </a:solidFill>
            <a:prstDash val="solid"/>
          </a:ln>
        </p:spPr>
      </p:sp>
      <p:sp>
        <p:nvSpPr>
          <p:cNvPr id="13" name="takeaway number 2">
            <a:extLst xmlns:a="http://schemas.openxmlformats.org/drawingml/2006/main">
              <a:ext uri="{FF2B5EF4-FFF2-40B4-BE49-F238E27FC236}">
                <a16:creationId xmlns:a16="http://schemas.microsoft.com/office/drawing/2014/main" id="{A19C5B37-FD8E-4AAD-A40E-07F3B1D63A7C}"/>
              </a:ext>
            </a:extLst>
          </p:cNvPr>
          <p:cNvSpPr>
            <a:spLocks xmlns:a="http://schemas.openxmlformats.org/drawingml/2006/main" noGrp="1"/>
          </p:cNvSpPr>
          <p:nvPr/>
        </p:nvSpPr>
        <p:spPr>
          <a:xfrm xmlns:a="http://schemas.openxmlformats.org/drawingml/2006/main">
            <a:off x="6583680" y="324612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2</a:t>
            </a:r>
            <a:endParaRPr sz="1800"/>
          </a:p>
        </p:txBody>
      </p:sp>
      <p:sp>
        <p:nvSpPr>
          <p:cNvPr id="14" name="takeaway 2">
            <a:extLst xmlns:a="http://schemas.openxmlformats.org/drawingml/2006/main">
              <a:ext uri="{FF2B5EF4-FFF2-40B4-BE49-F238E27FC236}">
                <a16:creationId xmlns:a16="http://schemas.microsoft.com/office/drawing/2014/main" id="{5B1BD736-EFFC-4EF2-937F-C261A0E2B379}"/>
              </a:ext>
            </a:extLst>
          </p:cNvPr>
          <p:cNvSpPr>
            <a:spLocks xmlns:a="http://schemas.openxmlformats.org/drawingml/2006/main" noGrp="1"/>
          </p:cNvSpPr>
          <p:nvPr/>
        </p:nvSpPr>
        <p:spPr>
          <a:xfrm xmlns:a="http://schemas.openxmlformats.org/drawingml/2006/main">
            <a:off x="7315200" y="3200400"/>
            <a:ext cx="4416552"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3F7E"/>
                </a:solidFill>
              </a:rPr>
              <a:t>Scalable by design</a:t>
            </a:r>
            <a:endParaRPr sz="1600"/>
          </a:p>
          <a:p xmlns:a="http://schemas.openxmlformats.org/drawingml/2006/main">
            <a:pPr marL="0" indent="0">
              <a:buNone/>
            </a:pPr>
            <a:r>
              <a:rPr sz="1400">
                <a:solidFill>
                  <a:srgbClr val="000000"/>
                </a:solidFill>
              </a:rPr>
              <a:t>Service-owned data, asynchronous execution and queue-driven autoscaling verified on GKE.</a:t>
            </a:r>
            <a:endParaRPr sz="1600"/>
          </a:p>
        </p:txBody>
      </p:sp>
      <p:sp>
        <p:nvSpPr>
          <p:cNvPr id="15" name="takeaway badge 3">
            <a:extLst xmlns:a="http://schemas.openxmlformats.org/drawingml/2006/main">
              <a:ext uri="{FF2B5EF4-FFF2-40B4-BE49-F238E27FC236}">
                <a16:creationId xmlns:a16="http://schemas.microsoft.com/office/drawing/2014/main" id="{CDD965FB-28DF-4F82-8287-C044F9981B48}"/>
              </a:ext>
            </a:extLst>
          </p:cNvPr>
          <p:cNvSpPr>
            <a:spLocks xmlns:a="http://schemas.openxmlformats.org/drawingml/2006/main" noGrp="1"/>
          </p:cNvSpPr>
          <p:nvPr/>
        </p:nvSpPr>
        <p:spPr>
          <a:xfrm xmlns:a="http://schemas.openxmlformats.org/drawingml/2006/main">
            <a:off x="6583680" y="4709160"/>
            <a:ext cx="548640" cy="548640"/>
          </a:xfrm>
          <a:prstGeom xmlns:a="http://schemas.openxmlformats.org/drawingml/2006/main" prst="ellipse">
            <a:avLst/>
          </a:prstGeom>
          <a:solidFill xmlns:a="http://schemas.openxmlformats.org/drawingml/2006/main">
            <a:srgbClr val="F2873A"/>
          </a:solidFill>
          <a:ln xmlns:a="http://schemas.openxmlformats.org/drawingml/2006/main" w="12700">
            <a:solidFill>
              <a:srgbClr val="F2873A"/>
            </a:solidFill>
            <a:prstDash val="solid"/>
          </a:ln>
        </p:spPr>
      </p:sp>
      <p:sp>
        <p:nvSpPr>
          <p:cNvPr id="16" name="takeaway number 3">
            <a:extLst xmlns:a="http://schemas.openxmlformats.org/drawingml/2006/main">
              <a:ext uri="{FF2B5EF4-FFF2-40B4-BE49-F238E27FC236}">
                <a16:creationId xmlns:a16="http://schemas.microsoft.com/office/drawing/2014/main" id="{7CA0E034-A69B-453C-9601-6159B261E304}"/>
              </a:ext>
            </a:extLst>
          </p:cNvPr>
          <p:cNvSpPr>
            <a:spLocks xmlns:a="http://schemas.openxmlformats.org/drawingml/2006/main" noGrp="1"/>
          </p:cNvSpPr>
          <p:nvPr/>
        </p:nvSpPr>
        <p:spPr>
          <a:xfrm xmlns:a="http://schemas.openxmlformats.org/drawingml/2006/main">
            <a:off x="6583680" y="47091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3</a:t>
            </a:r>
            <a:endParaRPr sz="1800"/>
          </a:p>
        </p:txBody>
      </p:sp>
      <p:sp>
        <p:nvSpPr>
          <p:cNvPr id="17" name="takeaway 3">
            <a:extLst xmlns:a="http://schemas.openxmlformats.org/drawingml/2006/main">
              <a:ext uri="{FF2B5EF4-FFF2-40B4-BE49-F238E27FC236}">
                <a16:creationId xmlns:a16="http://schemas.microsoft.com/office/drawing/2014/main" id="{65040E7D-3203-4A58-B070-0156DDCFE578}"/>
              </a:ext>
            </a:extLst>
          </p:cNvPr>
          <p:cNvSpPr>
            <a:spLocks xmlns:a="http://schemas.openxmlformats.org/drawingml/2006/main" noGrp="1"/>
          </p:cNvSpPr>
          <p:nvPr/>
        </p:nvSpPr>
        <p:spPr>
          <a:xfrm xmlns:a="http://schemas.openxmlformats.org/drawingml/2006/main">
            <a:off x="7315200" y="4663440"/>
            <a:ext cx="4416552"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3F7E"/>
                </a:solidFill>
              </a:rPr>
              <a:t>Lessons</a:t>
            </a:r>
            <a:endParaRPr sz="1600"/>
          </a:p>
          <a:p xmlns:a="http://schemas.openxmlformats.org/drawingml/2006/main">
            <a:pPr marL="0" indent="0">
              <a:buNone/>
            </a:pPr>
            <a:r>
              <a:rPr sz="1400">
                <a:solidFill>
                  <a:srgbClr val="000000"/>
                </a:solidFill>
              </a:rPr>
              <a:t>Separate score from gate; save evidence before validating; report failed experiments honestly.</a:t>
            </a:r>
            <a:endParaRPr sz="1600"/>
          </a:p>
        </p:txBody>
      </p:sp>
      <p:sp>
        <p:nvSpPr>
          <p:cNvPr id="25" name="Slide Number Placeholder 0">
            <a:extLst xmlns:a="http://schemas.openxmlformats.org/drawingml/2006/main">
              <a:ext uri="{FF2B5EF4-FFF2-40B4-BE49-F238E27FC236}">
                <a16:creationId xmlns:a16="http://schemas.microsoft.com/office/drawing/2014/main" id="{07943203-3D3D-4C76-93D1-3B4D312F4EA9}"/>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0BB18BA8-60F4-C50D-CD9B-1BB87D3E8506}" type="slidenum">
              <a:rPr b="0"/>
              <a:t>22</a:t>
            </a:fld>
            <a:endParaRPr/>
          </a:p>
        </p:txBody>
      </p:sp>
    </p:spTree>
    <p:extLst>
      <p:ext uri="{BB962C8B-B14F-4D97-AF65-F5344CB8AC3E}">
        <p14:creationId xmlns:p14="http://schemas.microsoft.com/office/powerpoint/2010/main" val="225749515"/>
      </p:ext>
    </p:extLst>
  </p:cSld>
</p:sld>
</file>

<file path=ppt/slides/slide23.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110AEE-6E20-4F0A-92A9-BE58E4D768FB}"/>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model experiment evidence</a:t>
            </a:r>
            <a:endParaRPr sz="2800"/>
          </a:p>
        </p:txBody>
      </p:sp>
      <p:sp>
        <p:nvSpPr>
          <p:cNvPr id="3" name="section tag">
            <a:extLst xmlns:a="http://schemas.openxmlformats.org/drawingml/2006/main">
              <a:ext uri="{FF2B5EF4-FFF2-40B4-BE49-F238E27FC236}">
                <a16:creationId xmlns:a16="http://schemas.microsoft.com/office/drawing/2014/main" id="{C754E748-0DB4-4B9E-B612-8CC2C669B687}"/>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graphicFrame>
        <p:nvGraphicFramePr>
          <p:cNvPr id="21" name="model evidence table">
            <a:extLst xmlns:a="http://schemas.openxmlformats.org/drawingml/2006/main">
              <a:ext uri="{FF2B5EF4-FFF2-40B4-BE49-F238E27FC236}">
                <a16:creationId xmlns:a16="http://schemas.microsoft.com/office/drawing/2014/main" id="{F8BD3743-98B5-46CC-8ABB-B9594D523BE7}"/>
              </a:ext>
            </a:extLst>
          </p:cNvPr>
          <p:cNvGraphicFramePr/>
          <p:nvPr/>
        </p:nvGraphicFramePr>
        <p:xfrm>
          <a:off xmlns:a="http://schemas.openxmlformats.org/drawingml/2006/main" x="457200" y="1325880"/>
          <a:ext xmlns:a="http://schemas.openxmlformats.org/drawingml/2006/main" cx="11274552" cy="914400"/>
        </p:xfrm>
        <a:graphic xmlns:a="http://schemas.openxmlformats.org/drawingml/2006/main">
          <a:graphicData uri="http://schemas.openxmlformats.org/drawingml/2006/table">
            <a:tbl>
              <a:tblPr/>
              <a:tblGrid>
                <a:gridCol w="3840480"/>
                <a:gridCol w="2743200"/>
                <a:gridCol w="4690872"/>
              </a:tblGrid>
              <a:tr h="0">
                <a:tc>
                  <a:txBody>
                    <a:bodyPr/>
                    <a:lstStyle/>
                    <a:p>
                      <a:pPr marL="0" indent="0">
                        <a:buNone/>
                      </a:pPr>
                      <a:r>
                        <a:rPr sz="1500" b="1">
                          <a:solidFill>
                            <a:srgbClr val="FFFFFF"/>
                          </a:solidFill>
                          <a:latin typeface="Arial"/>
                          <a:ea typeface="Arial"/>
                          <a:cs typeface="Arial"/>
                        </a:rPr>
                        <a:t>Experiment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Fixed denominator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Result and scope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500">
                          <a:solidFill>
                            <a:srgbClr val="111111"/>
                          </a:solidFill>
                          <a:latin typeface="Arial"/>
                          <a:ea typeface="Arial"/>
                          <a:cs typeface="Arial"/>
                        </a:rPr>
                        <a:t>Customer generation A/B (frozen r4)</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20 calls per model</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Original scores 70 / 75; neither arm met all delivery conditions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Reviewer v3 real protocol run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3 samples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3 protocol-valid, 3 matches with frozen references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Reviewer v3 cross-scenario development run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17 samples (separate)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9 / 9 compliant allowed, 8 / 8 violations detected</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Formal reviewer status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Qualification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calibration_pending · shadowOnly = true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bl>
          </a:graphicData>
        </a:graphic>
      </p:graphicFrame>
      <p:sp>
        <p:nvSpPr>
          <p:cNvPr id="5" name="caption">
            <a:extLst xmlns:a="http://schemas.openxmlformats.org/drawingml/2006/main">
              <a:ext uri="{FF2B5EF4-FFF2-40B4-BE49-F238E27FC236}">
                <a16:creationId xmlns:a16="http://schemas.microsoft.com/office/drawing/2014/main" id="{5C9A8C8E-AFE2-4CD5-8D72-7EC0DE123618}"/>
              </a:ext>
            </a:extLst>
          </p:cNvPr>
          <p:cNvSpPr>
            <a:spLocks xmlns:a="http://schemas.openxmlformats.org/drawingml/2006/main" noGrp="1"/>
          </p:cNvSpPr>
          <p:nvPr/>
        </p:nvSpPr>
        <p:spPr>
          <a:xfrm xmlns:a="http://schemas.openxmlformats.org/drawingml/2006/main">
            <a:off x="457200" y="3810000"/>
            <a:ext cx="112745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95959"/>
                </a:solidFill>
              </a:rPr>
              <a:t>The 3-sample and 17-sample runs are separate experiments, never combined into one 20 / 20 result.</a:t>
            </a:r>
            <a:endParaRPr sz="1200"/>
          </a:p>
        </p:txBody>
      </p:sp>
      <p:sp>
        <p:nvSpPr>
          <p:cNvPr id="25" name="Slide Number Placeholder 0">
            <a:extLst xmlns:a="http://schemas.openxmlformats.org/drawingml/2006/main">
              <a:ext uri="{FF2B5EF4-FFF2-40B4-BE49-F238E27FC236}">
                <a16:creationId xmlns:a16="http://schemas.microsoft.com/office/drawing/2014/main" id="{7448E572-4BFB-4FC0-9556-43B0A45DD619}"/>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A4E99CEF-AF55-BA3C-ADF8-4E52E186DD8F}" type="slidenum">
              <a:rPr b="0"/>
              <a:t>23</a:t>
            </a:fld>
            <a:endParaRPr/>
          </a:p>
        </p:txBody>
      </p:sp>
    </p:spTree>
    <p:extLst>
      <p:ext uri="{BB962C8B-B14F-4D97-AF65-F5344CB8AC3E}">
        <p14:creationId xmlns:p14="http://schemas.microsoft.com/office/powerpoint/2010/main" val="856793490"/>
      </p:ext>
    </p:extLst>
  </p:cSld>
</p:sld>
</file>

<file path=ppt/slides/slide24.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6A9C44-9233-4353-AB9E-2E7C350841C3}"/>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test evidence by layer</a:t>
            </a:r>
            <a:endParaRPr sz="2800"/>
          </a:p>
        </p:txBody>
      </p:sp>
      <p:sp>
        <p:nvSpPr>
          <p:cNvPr id="3" name="section tag">
            <a:extLst xmlns:a="http://schemas.openxmlformats.org/drawingml/2006/main">
              <a:ext uri="{FF2B5EF4-FFF2-40B4-BE49-F238E27FC236}">
                <a16:creationId xmlns:a16="http://schemas.microsoft.com/office/drawing/2014/main" id="{45018DE2-DE25-4560-BF0D-E055A7443F45}"/>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graphicFrame>
        <p:nvGraphicFramePr>
          <p:cNvPr id="22" name="test layers table">
            <a:extLst xmlns:a="http://schemas.openxmlformats.org/drawingml/2006/main">
              <a:ext uri="{FF2B5EF4-FFF2-40B4-BE49-F238E27FC236}">
                <a16:creationId xmlns:a16="http://schemas.microsoft.com/office/drawing/2014/main" id="{499A924F-3EFE-4E28-BC45-35540128DB73}"/>
              </a:ext>
            </a:extLst>
          </p:cNvPr>
          <p:cNvGraphicFramePr/>
          <p:nvPr/>
        </p:nvGraphicFramePr>
        <p:xfrm>
          <a:off xmlns:a="http://schemas.openxmlformats.org/drawingml/2006/main" x="457200" y="1325880"/>
          <a:ext xmlns:a="http://schemas.openxmlformats.org/drawingml/2006/main" cx="11274552" cy="914400"/>
        </p:xfrm>
        <a:graphic xmlns:a="http://schemas.openxmlformats.org/drawingml/2006/main">
          <a:graphicData uri="http://schemas.openxmlformats.org/drawingml/2006/table">
            <a:tbl>
              <a:tblPr/>
              <a:tblGrid>
                <a:gridCol w="4114800"/>
                <a:gridCol w="2194560"/>
                <a:gridCol w="4965192"/>
              </a:tblGrid>
              <a:tr h="0">
                <a:tc>
                  <a:txBody>
                    <a:bodyPr/>
                    <a:lstStyle/>
                    <a:p>
                      <a:pPr marL="0" indent="0">
                        <a:buNone/>
                      </a:pPr>
                      <a:r>
                        <a:rPr sz="1500" b="1">
                          <a:solidFill>
                            <a:srgbClr val="FFFFFF"/>
                          </a:solidFill>
                          <a:latin typeface="Arial"/>
                          <a:ea typeface="Arial"/>
                          <a:cs typeface="Arial"/>
                        </a:rPr>
                        <a:t>Evidence type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Observed result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What it establishes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500">
                          <a:solidFill>
                            <a:srgbClr val="111111"/>
                          </a:solidFill>
                          <a:latin typeface="Arial"/>
                          <a:ea typeface="Arial"/>
                          <a:cs typeface="Arial"/>
                        </a:rPr>
                        <a:t>Clean checkout full regression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776 / 777</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One rejected evaluator holdout test kept visible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v3 protocol + transport tests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12 / 12</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Program behaviour with mocked transport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Auxiliary image identity + Windows checks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7 / 7</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Build and portability checks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Local HTTP technical rehearsal</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19 / 19</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Platform flow on the local baseline, zero model calls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Cloud API acceptance (11 Oct)</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9 / 9</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Auth, read-only, idempotency, service-identity review denial</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bl>
          </a:graphicData>
        </a:graphic>
      </p:graphicFrame>
      <p:sp>
        <p:nvSpPr>
          <p:cNvPr id="25" name="Slide Number Placeholder 0">
            <a:extLst xmlns:a="http://schemas.openxmlformats.org/drawingml/2006/main">
              <a:ext uri="{FF2B5EF4-FFF2-40B4-BE49-F238E27FC236}">
                <a16:creationId xmlns:a16="http://schemas.microsoft.com/office/drawing/2014/main" id="{14F259C2-F225-42FD-981A-C90FFB428E7B}"/>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4A59AF09-D197-0193-A7DE-FAAF0B691058}" type="slidenum">
              <a:rPr b="0"/>
              <a:t>24</a:t>
            </a:fld>
            <a:endParaRPr/>
          </a:p>
        </p:txBody>
      </p:sp>
    </p:spTree>
    <p:extLst>
      <p:ext uri="{BB962C8B-B14F-4D97-AF65-F5344CB8AC3E}">
        <p14:creationId xmlns:p14="http://schemas.microsoft.com/office/powerpoint/2010/main" val="1093415678"/>
      </p:ext>
    </p:extLst>
  </p:cSld>
</p:sld>
</file>

<file path=ppt/slides/slide25.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A04E4C-90B5-497D-9833-55CF51FEB473}"/>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why a transactional outbox and not a Saga?</a:t>
            </a:r>
            <a:endParaRPr sz="2800"/>
          </a:p>
        </p:txBody>
      </p:sp>
      <p:sp>
        <p:nvSpPr>
          <p:cNvPr id="3" name="section tag">
            <a:extLst xmlns:a="http://schemas.openxmlformats.org/drawingml/2006/main">
              <a:ext uri="{FF2B5EF4-FFF2-40B4-BE49-F238E27FC236}">
                <a16:creationId xmlns:a16="http://schemas.microsoft.com/office/drawing/2014/main" id="{A4D3D224-66AB-4A23-B47B-9FDA9F7DB5E5}"/>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sp>
        <p:nvSpPr>
          <p:cNvPr id="4" name="saga answer">
            <a:extLst xmlns:a="http://schemas.openxmlformats.org/drawingml/2006/main">
              <a:ext uri="{FF2B5EF4-FFF2-40B4-BE49-F238E27FC236}">
                <a16:creationId xmlns:a16="http://schemas.microsoft.com/office/drawing/2014/main" id="{A9037E42-2C76-479D-BF94-EFC915652180}"/>
              </a:ext>
            </a:extLst>
          </p:cNvPr>
          <p:cNvSpPr>
            <a:spLocks xmlns:a="http://schemas.openxmlformats.org/drawingml/2006/main" noGrp="1"/>
          </p:cNvSpPr>
          <p:nvPr/>
        </p:nvSpPr>
        <p:spPr>
          <a:xfrm xmlns:a="http://schemas.openxmlformats.org/drawingml/2006/main">
            <a:off x="457200" y="1325880"/>
            <a:ext cx="11274552" cy="4846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3F7E"/>
                </a:solidFill>
              </a:rPr>
              <a:t>No business transaction spans services</a:t>
            </a:r>
            <a:endParaRPr sz="1500"/>
          </a:p>
          <a:p xmlns:a="http://schemas.openxmlformats.org/drawingml/2006/main">
            <a:pPr marL="342900" indent="-342900">
              <a:buSzPct val="100000"/>
              <a:buChar char="•"/>
            </a:pPr>
            <a:r>
              <a:rPr sz="1500">
                <a:solidFill>
                  <a:srgbClr val="000000"/>
                </a:solidFill>
              </a:rPr>
              <a:t>Each write stays inside one aggregate in one database: a job, or a review decision.</a:t>
            </a:r>
            <a:endParaRPr sz="1500"/>
          </a:p>
          <a:p xmlns:a="http://schemas.openxmlformats.org/drawingml/2006/main">
            <a:pPr marL="342900" indent="-342900">
              <a:spcAft>
                <a:spcPts val="1200"/>
              </a:spcAft>
              <a:buSzPct val="100000"/>
              <a:buChar char="•"/>
            </a:pPr>
            <a:r>
              <a:rPr sz="1500">
                <a:solidFill>
                  <a:srgbClr val="000000"/>
                </a:solidFill>
              </a:rPr>
              <a:t>Across contexts we only copy read-only, immutable snapshots, so there is nothing to compensate.</a:t>
            </a:r>
            <a:endParaRPr sz="1500"/>
          </a:p>
          <a:p xmlns:a="http://schemas.openxmlformats.org/drawingml/2006/main">
            <a:pPr marL="0" indent="0">
              <a:buNone/>
            </a:pPr>
            <a:r>
              <a:rPr sz="1700" b="1">
                <a:solidFill>
                  <a:srgbClr val="173F7E"/>
                </a:solidFill>
              </a:rPr>
              <a:t>What the outbox solves</a:t>
            </a:r>
            <a:endParaRPr sz="1500"/>
          </a:p>
          <a:p xmlns:a="http://schemas.openxmlformats.org/drawingml/2006/main">
            <a:pPr marL="342900" indent="-342900">
              <a:buSzPct val="100000"/>
              <a:buChar char="•"/>
            </a:pPr>
            <a:r>
              <a:rPr sz="1500">
                <a:solidFill>
                  <a:srgbClr val="000000"/>
                </a:solidFill>
              </a:rPr>
              <a:t>The job and its outbox entry commit atomically. A publisher later sends the message and waits for broker confirmation.</a:t>
            </a:r>
            <a:endParaRPr sz="1500"/>
          </a:p>
          <a:p xmlns:a="http://schemas.openxmlformats.org/drawingml/2006/main">
            <a:pPr marL="342900" indent="-342900">
              <a:spcAft>
                <a:spcPts val="1200"/>
              </a:spcAft>
              <a:buSzPct val="100000"/>
              <a:buChar char="•"/>
            </a:pPr>
            <a:r>
              <a:rPr sz="1500">
                <a:solidFill>
                  <a:srgbClr val="000000"/>
                </a:solidFill>
              </a:rPr>
              <a:t>Delivery is at-least-once; the worker is an idempotent receiver (lease + conditional final write).</a:t>
            </a:r>
            <a:endParaRPr sz="1500"/>
          </a:p>
          <a:p xmlns:a="http://schemas.openxmlformats.org/drawingml/2006/main">
            <a:pPr marL="0" indent="0">
              <a:buNone/>
            </a:pPr>
            <a:r>
              <a:rPr sz="1700" b="1">
                <a:solidFill>
                  <a:srgbClr val="173F7E"/>
                </a:solidFill>
              </a:rPr>
              <a:t>When a Saga would be needed</a:t>
            </a:r>
            <a:endParaRPr sz="1500"/>
          </a:p>
          <a:p xmlns:a="http://schemas.openxmlformats.org/drawingml/2006/main">
            <a:pPr marL="342900" indent="-342900">
              <a:buSzPct val="100000"/>
              <a:buChar char="•"/>
            </a:pPr>
            <a:r>
              <a:rPr sz="1500">
                <a:solidFill>
                  <a:srgbClr val="000000"/>
                </a:solidFill>
              </a:rPr>
              <a:t>If approval later triggered deployment and billing in other services, those steps would need compensation.</a:t>
            </a:r>
            <a:endParaRPr sz="1500"/>
          </a:p>
        </p:txBody>
      </p:sp>
      <p:sp>
        <p:nvSpPr>
          <p:cNvPr id="25" name="Slide Number Placeholder 0">
            <a:extLst xmlns:a="http://schemas.openxmlformats.org/drawingml/2006/main">
              <a:ext uri="{FF2B5EF4-FFF2-40B4-BE49-F238E27FC236}">
                <a16:creationId xmlns:a16="http://schemas.microsoft.com/office/drawing/2014/main" id="{129E6A36-5DC0-4016-8925-9CB4AB2AA628}"/>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F3AE1AE4-D79E-94D6-E825-3FC6C21A77D2}" type="slidenum">
              <a:rPr b="0"/>
              <a:t>25</a:t>
            </a:fld>
            <a:endParaRPr/>
          </a:p>
        </p:txBody>
      </p:sp>
    </p:spTree>
    <p:extLst>
      <p:ext uri="{BB962C8B-B14F-4D97-AF65-F5344CB8AC3E}">
        <p14:creationId xmlns:p14="http://schemas.microsoft.com/office/powerpoint/2010/main" val="202013948"/>
      </p:ext>
    </p:extLst>
  </p:cSld>
</p:sld>
</file>

<file path=ppt/slides/slide26.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7E52552-7DDC-4987-BC84-D997433A4276}"/>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release conditions</a:t>
            </a:r>
            <a:endParaRPr sz="2800"/>
          </a:p>
        </p:txBody>
      </p:sp>
      <p:sp>
        <p:nvSpPr>
          <p:cNvPr id="3" name="section tag">
            <a:extLst xmlns:a="http://schemas.openxmlformats.org/drawingml/2006/main">
              <a:ext uri="{FF2B5EF4-FFF2-40B4-BE49-F238E27FC236}">
                <a16:creationId xmlns:a16="http://schemas.microsoft.com/office/drawing/2014/main" id="{5E391AB7-A26B-4024-B3A6-B58210CF83BA}"/>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graphicFrame>
        <p:nvGraphicFramePr>
          <p:cNvPr id="24" name="release conditions table">
            <a:extLst xmlns:a="http://schemas.openxmlformats.org/drawingml/2006/main">
              <a:ext uri="{FF2B5EF4-FFF2-40B4-BE49-F238E27FC236}">
                <a16:creationId xmlns:a16="http://schemas.microsoft.com/office/drawing/2014/main" id="{4F373C22-7955-41C0-A525-7E22E3EA8D2A}"/>
              </a:ext>
            </a:extLst>
          </p:cNvPr>
          <p:cNvGraphicFramePr/>
          <p:nvPr/>
        </p:nvGraphicFramePr>
        <p:xfrm>
          <a:off xmlns:a="http://schemas.openxmlformats.org/drawingml/2006/main" x="457200" y="1325880"/>
          <a:ext xmlns:a="http://schemas.openxmlformats.org/drawingml/2006/main" cx="11274552" cy="914400"/>
        </p:xfrm>
        <a:graphic xmlns:a="http://schemas.openxmlformats.org/drawingml/2006/main">
          <a:graphicData uri="http://schemas.openxmlformats.org/drawingml/2006/table">
            <a:tbl>
              <a:tblPr/>
              <a:tblGrid>
                <a:gridCol w="3657600"/>
                <a:gridCol w="7616952"/>
              </a:tblGrid>
              <a:tr h="0">
                <a:tc>
                  <a:txBody>
                    <a:bodyPr/>
                    <a:lstStyle/>
                    <a:p>
                      <a:pPr marL="0" indent="0">
                        <a:buNone/>
                      </a:pPr>
                      <a:r>
                        <a:rPr sz="1500" b="1">
                          <a:solidFill>
                            <a:srgbClr val="FFFFFF"/>
                          </a:solidFill>
                          <a:latin typeface="Arial"/>
                          <a:ea typeface="Arial"/>
                          <a:cs typeface="Arial"/>
                        </a:rPr>
                        <a:t>Condition</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c>
                  <a:txBody>
                    <a:bodyPr/>
                    <a:lstStyle/>
                    <a:p>
                      <a:pPr marL="0" indent="0">
                        <a:buNone/>
                      </a:pPr>
                      <a:r>
                        <a:rPr sz="1500" b="1">
                          <a:solidFill>
                            <a:srgbClr val="FFFFFF"/>
                          </a:solidFill>
                          <a:latin typeface="Arial"/>
                          <a:ea typeface="Arial"/>
                          <a:cs typeface="Arial"/>
                        </a:rPr>
                        <a:t>Rule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4882DE"/>
                    </a:solidFill>
                  </a:tcPr>
                </a:tc>
              </a:tr>
              <a:tr h="0">
                <a:tc>
                  <a:txBody>
                    <a:bodyPr/>
                    <a:lstStyle/>
                    <a:p>
                      <a:pPr marL="0" indent="0">
                        <a:buNone/>
                      </a:pPr>
                      <a:r>
                        <a:rPr sz="1500">
                          <a:solidFill>
                            <a:srgbClr val="111111"/>
                          </a:solidFill>
                          <a:latin typeface="Arial"/>
                          <a:ea typeface="Arial"/>
                          <a:cs typeface="Arial"/>
                        </a:rPr>
                        <a:t>Score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Rule score ≥ 95</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Critical failures and execution errors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Zero</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Evidence</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Complete evidence; applicable output checks pass</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r h="0">
                <a:tc>
                  <a:txBody>
                    <a:bodyPr/>
                    <a:lstStyle/>
                    <a:p>
                      <a:pPr marL="0" indent="0">
                        <a:buNone/>
                      </a:pPr>
                      <a:r>
                        <a:rPr sz="1500">
                          <a:solidFill>
                            <a:srgbClr val="111111"/>
                          </a:solidFill>
                          <a:latin typeface="Arial"/>
                          <a:ea typeface="Arial"/>
                          <a:cs typeface="Arial"/>
                        </a:rPr>
                        <a:t>Review</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c>
                  <a:txBody>
                    <a:bodyPr/>
                    <a:lstStyle/>
                    <a:p>
                      <a:pPr marL="0" indent="0">
                        <a:buNone/>
                      </a:pPr>
                      <a:r>
                        <a:rPr sz="1500">
                          <a:solidFill>
                            <a:srgbClr val="111111"/>
                          </a:solidFill>
                          <a:latin typeface="Arial"/>
                          <a:ea typeface="Arial"/>
                          <a:cs typeface="Arial"/>
                        </a:rPr>
                        <a:t>A different human records one terminal decision; service identities cannot review</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E7E8EC"/>
                    </a:solidFill>
                  </a:tcPr>
                </a:tc>
              </a:tr>
              <a:tr h="0">
                <a:tc>
                  <a:txBody>
                    <a:bodyPr/>
                    <a:lstStyle/>
                    <a:p>
                      <a:pPr marL="0" indent="0">
                        <a:buNone/>
                      </a:pPr>
                      <a:r>
                        <a:rPr sz="1500">
                          <a:solidFill>
                            <a:srgbClr val="111111"/>
                          </a:solidFill>
                          <a:latin typeface="Arial"/>
                          <a:ea typeface="Arial"/>
                          <a:cs typeface="Arial"/>
                        </a:rPr>
                        <a:t>Semantic reviewer</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c>
                  <a:txBody>
                    <a:bodyPr/>
                    <a:lstStyle/>
                    <a:p>
                      <a:pPr marL="0" indent="0">
                        <a:buNone/>
                      </a:pPr>
                      <a:r>
                        <a:rPr sz="1500">
                          <a:solidFill>
                            <a:srgbClr val="111111"/>
                          </a:solidFill>
                          <a:latin typeface="Arial"/>
                          <a:ea typeface="Arial"/>
                          <a:cs typeface="Arial"/>
                        </a:rPr>
                        <a:t>calibration_pending — cannot authorise delivery</a:t>
                      </a:r>
                      <a:endParaRPr sz="1500">
                        <a:latin typeface="Arial"/>
                        <a:ea typeface="Arial"/>
                        <a:cs typeface="Arial"/>
                      </a:endParaRPr>
                    </a:p>
                  </a:txBody>
                  <a:tcPr marL="91440" marR="91440" marT="54864" marB="54864"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CCCED8"/>
                    </a:solidFill>
                  </a:tcPr>
                </a:tc>
              </a:tr>
            </a:tbl>
          </a:graphicData>
        </a:graphic>
      </p:graphicFrame>
      <p:sp>
        <p:nvSpPr>
          <p:cNvPr id="25" name="Slide Number Placeholder 0">
            <a:extLst xmlns:a="http://schemas.openxmlformats.org/drawingml/2006/main">
              <a:ext uri="{FF2B5EF4-FFF2-40B4-BE49-F238E27FC236}">
                <a16:creationId xmlns:a16="http://schemas.microsoft.com/office/drawing/2014/main" id="{F45574E3-D93D-4662-904C-A72082876C8F}"/>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5AB55966-FA28-BC73-EA9E-53DF014DF033}" type="slidenum">
              <a:rPr b="0"/>
              <a:t>26</a:t>
            </a:fld>
            <a:endParaRPr/>
          </a:p>
        </p:txBody>
      </p:sp>
    </p:spTree>
    <p:extLst>
      <p:ext uri="{BB962C8B-B14F-4D97-AF65-F5344CB8AC3E}">
        <p14:creationId xmlns:p14="http://schemas.microsoft.com/office/powerpoint/2010/main" val="1902842743"/>
      </p:ext>
    </p:extLst>
  </p:cSld>
</p:sld>
</file>

<file path=ppt/slides/slide27.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0E4F71-C1D3-4EF7-ADB4-09500A31A4EC}"/>
              </a:ext>
            </a:extLst>
          </p:cNvPr>
          <p:cNvSpPr>
            <a:spLocks xmlns:a="http://schemas.openxmlformats.org/drawingml/2006/main" noGrp="1"/>
          </p:cNvSpPr>
          <p:nvPr>
            <p:ph type="title" idx="100" hasCustomPrompt="1"/>
          </p:nvPr>
        </p:nvSpPr>
        <p:spPr>
          <a:xfrm xmlns:a="http://schemas.openxmlformats.org/drawingml/2006/main">
            <a:off x="457200" y="292608"/>
            <a:ext cx="9144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73F7E"/>
                </a:solidFill>
                <a:latin typeface="Arial"/>
                <a:ea typeface="Arial"/>
                <a:cs typeface="Arial"/>
              </a:rPr>
              <a:t>Backup: sources and acknowledgement</a:t>
            </a:r>
            <a:endParaRPr sz="2800"/>
          </a:p>
        </p:txBody>
      </p:sp>
      <p:sp>
        <p:nvSpPr>
          <p:cNvPr id="3" name="section tag">
            <a:extLst xmlns:a="http://schemas.openxmlformats.org/drawingml/2006/main">
              <a:ext uri="{FF2B5EF4-FFF2-40B4-BE49-F238E27FC236}">
                <a16:creationId xmlns:a16="http://schemas.microsoft.com/office/drawing/2014/main" id="{5B0C9799-827C-4AAA-94D3-BC5637D9F304}"/>
              </a:ext>
            </a:extLst>
          </p:cNvPr>
          <p:cNvSpPr>
            <a:spLocks xmlns:a="http://schemas.openxmlformats.org/drawingml/2006/main" noGrp="1"/>
          </p:cNvSpPr>
          <p:nvPr/>
        </p:nvSpPr>
        <p:spPr>
          <a:xfrm xmlns:a="http://schemas.openxmlformats.org/drawingml/2006/main">
            <a:off x="9692640" y="384048"/>
            <a:ext cx="20391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808080"/>
                </a:solidFill>
              </a:rPr>
              <a:t>Backup</a:t>
            </a:r>
            <a:endParaRPr sz="1200"/>
          </a:p>
        </p:txBody>
      </p:sp>
      <p:sp>
        <p:nvSpPr>
          <p:cNvPr id="4" name="acknowledgement">
            <a:extLst xmlns:a="http://schemas.openxmlformats.org/drawingml/2006/main">
              <a:ext uri="{FF2B5EF4-FFF2-40B4-BE49-F238E27FC236}">
                <a16:creationId xmlns:a16="http://schemas.microsoft.com/office/drawing/2014/main" id="{90EE9246-2C21-413F-9CD8-2A72A97533A5}"/>
              </a:ext>
            </a:extLst>
          </p:cNvPr>
          <p:cNvSpPr>
            <a:spLocks xmlns:a="http://schemas.openxmlformats.org/drawingml/2006/main" noGrp="1"/>
          </p:cNvSpPr>
          <p:nvPr/>
        </p:nvSpPr>
        <p:spPr>
          <a:xfrm xmlns:a="http://schemas.openxmlformats.org/drawingml/2006/main">
            <a:off x="457200" y="1325880"/>
            <a:ext cx="11274552" cy="4114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SzPct val="100000"/>
              <a:buChar char="•"/>
            </a:pPr>
            <a:r>
              <a:rPr sz="1600">
                <a:solidFill>
                  <a:srgbClr val="000000"/>
                </a:solidFill>
              </a:rPr>
              <a:t>Repository code, workflows and dated evidence are the source of every claim (github.com/limidexy/releaseguard-team13).</a:t>
            </a:r>
            <a:endParaRPr sz="1600"/>
          </a:p>
          <a:p xmlns:a="http://schemas.openxmlformats.org/drawingml/2006/main">
            <a:pPr marL="342900" indent="-342900">
              <a:spcAft>
                <a:spcPts val="1000"/>
              </a:spcAft>
              <a:buSzPct val="100000"/>
              <a:buChar char="•"/>
            </a:pPr>
            <a:r>
              <a:rPr sz="1600">
                <a:solidFill>
                  <a:srgbClr val="000000"/>
                </a:solidFill>
              </a:rPr>
              <a:t>Project reference labels are not a verified human blind review.</a:t>
            </a:r>
            <a:endParaRPr sz="1600"/>
          </a:p>
          <a:p xmlns:a="http://schemas.openxmlformats.org/drawingml/2006/main">
            <a:pPr marL="342900" indent="-342900">
              <a:spcAft>
                <a:spcPts val="1000"/>
              </a:spcAft>
              <a:buSzPct val="100000"/>
              <a:buChar char="•"/>
            </a:pPr>
            <a:r>
              <a:rPr sz="1600">
                <a:solidFill>
                  <a:srgbClr val="000000"/>
                </a:solidFill>
              </a:rPr>
              <a:t>Implementation, analysis and presentation preparation used AI assistance (Codex, Claude); </a:t>
            </a:r>
            <a:r>
              <a:rPr sz="1600">
                <a:solidFill>
                  <a:srgbClr val="000000"/>
                </a:solidFill>
              </a:rPr>
              <a:t>team members remain responsible for checking the content and declaring tool use as required by the course.</a:t>
            </a:r>
            <a:endParaRPr sz="1600"/>
          </a:p>
          <a:p xmlns:a="http://schemas.openxmlformats.org/drawingml/2006/main">
            <a:pPr marL="342900" indent="-342900">
              <a:spcAft>
                <a:spcPts val="1000"/>
              </a:spcAft>
              <a:buSzPct val="100000"/>
              <a:buChar char="•"/>
            </a:pPr>
            <a:r>
              <a:rPr sz="1600">
                <a:solidFill>
                  <a:srgbClr val="000000"/>
                </a:solidFill>
              </a:rPr>
              <a:t>Actual member effort and approvals come from the members’ own records.</a:t>
            </a:r>
            <a:endParaRPr sz="1600"/>
          </a:p>
        </p:txBody>
      </p:sp>
      <p:sp>
        <p:nvSpPr>
          <p:cNvPr id="25" name="Slide Number Placeholder 0">
            <a:extLst xmlns:a="http://schemas.openxmlformats.org/drawingml/2006/main">
              <a:ext uri="{FF2B5EF4-FFF2-40B4-BE49-F238E27FC236}">
                <a16:creationId xmlns:a16="http://schemas.microsoft.com/office/drawing/2014/main" id="{488D9562-0E49-4665-9CE5-CA320762132E}"/>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08080"/>
                </a:solidFill>
                <a:latin typeface="Arial"/>
                <a:ea typeface="Arial"/>
                <a:cs typeface="Arial"/>
              </a:defRPr>
            </a:lvl1pPr>
          </a:lstStyle>
          <a:p xmlns:a="http://schemas.openxmlformats.org/drawingml/2006/main">
            <a:pPr algn="r">
              <a:buNone/>
            </a:pPr>
            <a:fld id="{02F15020-66A7-620A-7B7A-C05C4312DEAE}" type="slidenum">
              <a:rPr b="0"/>
              <a:t>27</a:t>
            </a:fld>
            <a:endParaRPr/>
          </a:p>
        </p:txBody>
      </p:sp>
    </p:spTree>
    <p:extLst>
      <p:ext uri="{BB962C8B-B14F-4D97-AF65-F5344CB8AC3E}">
        <p14:creationId xmlns:p14="http://schemas.microsoft.com/office/powerpoint/2010/main" val="1682895921"/>
      </p:ext>
    </p:extLst>
  </p:cSld>
</p:sld>
</file>

<file path=ppt/slides/slide2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A262269-B025-4E4D-B153-DA61450AD48D}"/>
              </a:ext>
            </a:extLst>
          </p:cNvPr>
          <p:cNvSpPr>
            <a:spLocks xmlns:a="http://schemas.openxmlformats.org/drawingml/2006/main" noGrp="1"/>
          </p:cNvSpPr>
          <p:nvPr/>
        </p:nvSpPr>
        <p:spPr>
          <a:xfrm xmlns:a="http://schemas.openxmlformats.org/drawingml/2006/main">
            <a:off x="457200" y="295275"/>
            <a:ext cx="1057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00" b="1">
                <a:solidFill>
                  <a:srgbClr val="173F7E"/>
                </a:solidFill>
              </a:defRPr>
            </a:defPPr>
          </a:lstStyle>
          <a:p xmlns:a="http://schemas.openxmlformats.org/drawingml/2006/main">
            <a:pPr>
              <a:defRPr sz="2800" b="1">
                <a:solidFill>
                  <a:srgbClr val="173F7E"/>
                </a:solidFill>
              </a:defRPr>
            </a:pPr>
            <a:r>
              <a:rPr sz="2800" b="1">
                <a:solidFill>
                  <a:srgbClr val="173F7E"/>
                </a:solidFill>
              </a:rPr>
              <a:t>Backup: separate reviewer versions and evidence</a:t>
            </a:r>
          </a:p>
        </p:txBody>
      </p:sp>
      <p:sp>
        <p:nvSpPr>
          <p:cNvPr id="2" name="backup">
            <a:extLst xmlns:a="http://schemas.openxmlformats.org/drawingml/2006/main">
              <a:ext uri="{FF2B5EF4-FFF2-40B4-BE49-F238E27FC236}">
                <a16:creationId xmlns:a16="http://schemas.microsoft.com/office/drawing/2014/main" id="{119F78BA-CBE2-44DB-86B7-C2466191ABB9}"/>
              </a:ext>
            </a:extLst>
          </p:cNvPr>
          <p:cNvSpPr>
            <a:spLocks xmlns:a="http://schemas.openxmlformats.org/drawingml/2006/main" noGrp="1"/>
          </p:cNvSpPr>
          <p:nvPr/>
        </p:nvSpPr>
        <p:spPr>
          <a:xfrm xmlns:a="http://schemas.openxmlformats.org/drawingml/2006/main">
            <a:off x="10858500" y="428625"/>
            <a:ext cx="90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77777"/>
                </a:solidFill>
              </a:defRPr>
            </a:defPPr>
          </a:lstStyle>
          <a:p xmlns:a="http://schemas.openxmlformats.org/drawingml/2006/main">
            <a:pPr>
              <a:defRPr sz="1200" b="0">
                <a:solidFill>
                  <a:srgbClr val="777777"/>
                </a:solidFill>
              </a:defRPr>
            </a:pPr>
            <a:r>
              <a:rPr sz="1200" b="0">
                <a:solidFill>
                  <a:srgbClr val="777777"/>
                </a:solidFill>
              </a:rPr>
              <a:t>Backup</a:t>
            </a:r>
          </a:p>
        </p:txBody>
      </p:sp>
      <p:sp>
        <p:nvSpPr>
          <p:cNvPr id="3" name="footer">
            <a:extLst xmlns:a="http://schemas.openxmlformats.org/drawingml/2006/main">
              <a:ext uri="{FF2B5EF4-FFF2-40B4-BE49-F238E27FC236}">
                <a16:creationId xmlns:a16="http://schemas.microsoft.com/office/drawing/2014/main" id="{124CEED7-9690-4C91-AD5A-16BC32880764}"/>
              </a:ext>
            </a:extLst>
          </p:cNvPr>
          <p:cNvSpPr>
            <a:spLocks xmlns:a="http://schemas.openxmlformats.org/drawingml/2006/main" noGrp="1"/>
          </p:cNvSpPr>
          <p:nvPr/>
        </p:nvSpPr>
        <p:spPr>
          <a:xfrm xmlns:a="http://schemas.openxmlformats.org/drawingml/2006/main">
            <a:off x="457200" y="6448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777777"/>
                </a:solidFill>
              </a:defRPr>
            </a:defPPr>
          </a:lstStyle>
          <a:p xmlns:a="http://schemas.openxmlformats.org/drawingml/2006/main">
            <a:pPr>
              <a:defRPr sz="1050" b="0">
                <a:solidFill>
                  <a:srgbClr val="777777"/>
                </a:solidFill>
              </a:defRPr>
            </a:pPr>
            <a:r>
              <a:rPr sz="1050" b="0">
                <a:solidFill>
                  <a:srgbClr val="777777"/>
                </a:solidFill>
              </a:rPr>
              <a:t>SE34FT Team 13. Historical evidence and version boundaries</a:t>
            </a:r>
          </a:p>
        </p:txBody>
      </p:sp>
      <p:sp>
        <p:nvSpPr>
          <p:cNvPr id="4" name="page">
            <a:extLst xmlns:a="http://schemas.openxmlformats.org/drawingml/2006/main">
              <a:ext uri="{FF2B5EF4-FFF2-40B4-BE49-F238E27FC236}">
                <a16:creationId xmlns:a16="http://schemas.microsoft.com/office/drawing/2014/main" id="{FEA531DC-4399-411B-AEC6-1C967EDF96BC}"/>
              </a:ext>
            </a:extLst>
          </p:cNvPr>
          <p:cNvSpPr>
            <a:spLocks xmlns:a="http://schemas.openxmlformats.org/drawingml/2006/main" noGrp="1"/>
          </p:cNvSpPr>
          <p:nvPr/>
        </p:nvSpPr>
        <p:spPr>
          <a:xfrm xmlns:a="http://schemas.openxmlformats.org/drawingml/2006/main">
            <a:off x="11525250" y="64484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777777"/>
                </a:solidFill>
              </a:defRPr>
            </a:defPPr>
          </a:lstStyle>
          <a:p xmlns:a="http://schemas.openxmlformats.org/drawingml/2006/main">
            <a:pPr>
              <a:defRPr sz="1050" b="0">
                <a:solidFill>
                  <a:srgbClr val="777777"/>
                </a:solidFill>
              </a:defRPr>
            </a:pPr>
            <a:r>
              <a:rPr sz="1050" b="0">
                <a:solidFill>
                  <a:srgbClr val="777777"/>
                </a:solidFill>
              </a:rPr>
              <a:t>28</a:t>
            </a:r>
          </a:p>
        </p:txBody>
      </p:sp>
      <p:graphicFrame>
        <p:nvGraphicFramePr>
          <p:cNvPr id="5" name="">
            <a:extLst xmlns:a="http://schemas.openxmlformats.org/drawingml/2006/main">
              <a:ext uri="{FF2B5EF4-FFF2-40B4-BE49-F238E27FC236}">
                <a16:creationId xmlns:a16="http://schemas.microsoft.com/office/drawing/2014/main" id="{38DE40D9-4858-4C96-9B0D-37F8F0D0194B}"/>
              </a:ext>
            </a:extLst>
          </p:cNvPr>
          <p:cNvGraphicFramePr/>
          <p:nvPr/>
        </p:nvGraphicFramePr>
        <p:xfrm>
          <a:off xmlns:a="http://schemas.openxmlformats.org/drawingml/2006/main" x="457200" y="1333500"/>
          <a:ext xmlns:a="http://schemas.openxmlformats.org/drawingml/2006/main" cx="11277600" cy="3333750"/>
        </p:xfrm>
        <a:graphic xmlns:a="http://schemas.openxmlformats.org/drawingml/2006/main">
          <a:graphicData uri="http://schemas.openxmlformats.org/drawingml/2006/table">
            <a:tbl>
              <a:tblPr/>
              <a:tblGrid>
                <a:gridCol w="3333750"/>
                <a:gridCol w="4191000"/>
                <a:gridCol w="3752850"/>
              </a:tblGrid>
              <a:tr h="666750">
                <a:tc>
                  <a:txBody>
                    <a:bodyPr/>
                    <a:lstStyle/>
                    <a:p>
                      <a:r>
                        <a:rPr sz="1575" b="1">
                          <a:solidFill>
                            <a:srgbClr val="FFFFFF"/>
                          </a:solidFill>
                        </a:rPr>
                        <a:t>Experiment / revision</a:t>
                      </a:r>
                    </a:p>
                  </a:txBody>
                  <a:tcPr marL="91440" marR="91440" marT="45720" marB="45720">
                    <a:lnL w="9525">
                      <a:solidFill>
                        <a:srgbClr val="FFFFFF"/>
                      </a:solidFill>
                    </a:lnL>
                    <a:lnR w="9525">
                      <a:solidFill>
                        <a:srgbClr val="FFFFFF"/>
                      </a:solidFill>
                    </a:lnR>
                    <a:lnT w="9525">
                      <a:solidFill>
                        <a:srgbClr val="FFFFFF"/>
                      </a:solidFill>
                    </a:lnT>
                    <a:lnB w="9525">
                      <a:solidFill>
                        <a:srgbClr val="FFFFFF"/>
                      </a:solidFill>
                    </a:lnB>
                    <a:solidFill>
                      <a:srgbClr val="487FD0"/>
                    </a:solidFill>
                  </a:tcPr>
                </a:tc>
                <a:tc>
                  <a:txBody>
                    <a:bodyPr/>
                    <a:lstStyle/>
                    <a:p>
                      <a:r>
                        <a:rPr sz="1575" b="1">
                          <a:solidFill>
                            <a:srgbClr val="FFFFFF"/>
                          </a:solidFill>
                        </a:rPr>
                        <a:t>Recorded result</a:t>
                      </a:r>
                    </a:p>
                  </a:txBody>
                  <a:tcPr marL="91440" marR="91440" marT="45720" marB="45720">
                    <a:lnR w="9525">
                      <a:solidFill>
                        <a:srgbClr val="FFFFFF"/>
                      </a:solidFill>
                    </a:lnR>
                    <a:lnT w="9525">
                      <a:solidFill>
                        <a:srgbClr val="FFFFFF"/>
                      </a:solidFill>
                    </a:lnT>
                    <a:lnB w="9525">
                      <a:solidFill>
                        <a:srgbClr val="FFFFFF"/>
                      </a:solidFill>
                    </a:lnB>
                    <a:solidFill>
                      <a:srgbClr val="487FD0"/>
                    </a:solidFill>
                  </a:tcPr>
                </a:tc>
                <a:tc>
                  <a:txBody>
                    <a:bodyPr/>
                    <a:lstStyle/>
                    <a:p>
                      <a:r>
                        <a:rPr sz="1575" b="1">
                          <a:solidFill>
                            <a:srgbClr val="FFFFFF"/>
                          </a:solidFill>
                        </a:rPr>
                        <a:t>Current scope</a:t>
                      </a:r>
                    </a:p>
                  </a:txBody>
                  <a:tcPr marL="91440" marR="91440" marT="45720" marB="45720">
                    <a:lnR w="9525">
                      <a:solidFill>
                        <a:srgbClr val="FFFFFF"/>
                      </a:solidFill>
                    </a:lnR>
                    <a:lnT w="9525">
                      <a:solidFill>
                        <a:srgbClr val="FFFFFF"/>
                      </a:solidFill>
                    </a:lnT>
                    <a:lnB w="9525">
                      <a:solidFill>
                        <a:srgbClr val="FFFFFF"/>
                      </a:solidFill>
                    </a:lnB>
                    <a:solidFill>
                      <a:srgbClr val="487FD0"/>
                    </a:solidFill>
                  </a:tcPr>
                </a:tc>
              </a:tr>
              <a:tr h="666750">
                <a:tc>
                  <a:txBody>
                    <a:bodyPr/>
                    <a:lstStyle/>
                    <a:p>
                      <a:r>
                        <a:rPr sz="1575" b="0">
                          <a:solidFill>
                            <a:srgbClr val="333333"/>
                          </a:solidFill>
                        </a:rPr>
                        <a:t>Wire v3 protocol, 19 Oct</a:t>
                      </a:r>
                    </a:p>
                  </a:txBody>
                  <a:tcPr marL="91440" marR="91440" marT="45720" marB="45720">
                    <a:lnL w="9525">
                      <a:solidFill>
                        <a:srgbClr val="FFFFFF"/>
                      </a:solidFill>
                    </a:lnL>
                    <a:lnR w="9525">
                      <a:solidFill>
                        <a:srgbClr val="FFFFFF"/>
                      </a:solidFill>
                    </a:lnR>
                    <a:lnB w="9525">
                      <a:solidFill>
                        <a:srgbClr val="FFFFFF"/>
                      </a:solidFill>
                    </a:lnB>
                    <a:solidFill>
                      <a:srgbClr val="CED0DA"/>
                    </a:solidFill>
                  </a:tcPr>
                </a:tc>
                <a:tc>
                  <a:txBody>
                    <a:bodyPr/>
                    <a:lstStyle/>
                    <a:p>
                      <a:r>
                        <a:rPr sz="1575" b="0">
                          <a:solidFill>
                            <a:srgbClr val="333333"/>
                          </a:solidFill>
                        </a:rPr>
                        <a:t>3/3 protocol-valid and reference matches</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Separate real experiment</a:t>
                      </a:r>
                    </a:p>
                  </a:txBody>
                  <a:tcPr marL="91440" marR="91440" marT="45720" marB="45720">
                    <a:lnR w="9525">
                      <a:solidFill>
                        <a:srgbClr val="FFFFFF"/>
                      </a:solidFill>
                    </a:lnR>
                    <a:lnB w="9525">
                      <a:solidFill>
                        <a:srgbClr val="FFFFFF"/>
                      </a:solidFill>
                    </a:lnB>
                    <a:solidFill>
                      <a:srgbClr val="CED0DA"/>
                    </a:solidFill>
                  </a:tcPr>
                </a:tc>
              </a:tr>
              <a:tr h="666750">
                <a:tc>
                  <a:txBody>
                    <a:bodyPr/>
                    <a:lstStyle/>
                    <a:p>
                      <a:r>
                        <a:rPr sz="1575" b="0">
                          <a:solidFill>
                            <a:srgbClr val="333333"/>
                          </a:solidFill>
                        </a:rPr>
                        <a:t>Wire v3 development, 19 Oct</a:t>
                      </a:r>
                    </a:p>
                  </a:txBody>
                  <a:tcPr marL="91440" marR="91440" marT="45720" marB="45720">
                    <a:lnL w="9525">
                      <a:solidFill>
                        <a:srgbClr val="FFFFFF"/>
                      </a:solidFill>
                    </a:lnL>
                    <a:lnR w="9525">
                      <a:solidFill>
                        <a:srgbClr val="FFFFFF"/>
                      </a:solidFill>
                    </a:lnR>
                    <a:lnB w="9525">
                      <a:solidFill>
                        <a:srgbClr val="FFFFFF"/>
                      </a:solidFill>
                    </a:lnB>
                    <a:solidFill>
                      <a:srgbClr val="E8E9ED"/>
                    </a:solidFill>
                  </a:tcPr>
                </a:tc>
                <a:tc>
                  <a:txBody>
                    <a:bodyPr/>
                    <a:lstStyle/>
                    <a:p>
                      <a:r>
                        <a:rPr sz="1575" b="0">
                          <a:solidFill>
                            <a:srgbClr val="333333"/>
                          </a:solidFill>
                        </a:rPr>
                        <a:t>17/17 valid. Positives 9/9, negatives 8/8</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Separate development set</a:t>
                      </a:r>
                    </a:p>
                  </a:txBody>
                  <a:tcPr marL="91440" marR="91440" marT="45720" marB="45720">
                    <a:lnR w="9525">
                      <a:solidFill>
                        <a:srgbClr val="FFFFFF"/>
                      </a:solidFill>
                    </a:lnR>
                    <a:lnB w="9525">
                      <a:solidFill>
                        <a:srgbClr val="FFFFFF"/>
                      </a:solidFill>
                    </a:lnB>
                    <a:solidFill>
                      <a:srgbClr val="E8E9ED"/>
                    </a:solidFill>
                  </a:tcPr>
                </a:tc>
              </a:tr>
              <a:tr h="666750">
                <a:tc>
                  <a:txBody>
                    <a:bodyPr/>
                    <a:lstStyle/>
                    <a:p>
                      <a:r>
                        <a:rPr sz="1575" b="0">
                          <a:solidFill>
                            <a:srgbClr val="333333"/>
                          </a:solidFill>
                        </a:rPr>
                        <a:t>Ten targeted cases, 21 Oct</a:t>
                      </a:r>
                    </a:p>
                  </a:txBody>
                  <a:tcPr marL="91440" marR="91440" marT="45720" marB="45720">
                    <a:lnL w="9525">
                      <a:solidFill>
                        <a:srgbClr val="FFFFFF"/>
                      </a:solidFill>
                    </a:lnL>
                    <a:lnR w="9525">
                      <a:solidFill>
                        <a:srgbClr val="FFFFFF"/>
                      </a:solidFill>
                    </a:lnR>
                    <a:lnB w="9525">
                      <a:solidFill>
                        <a:srgbClr val="FFFFFF"/>
                      </a:solidFill>
                    </a:lnB>
                    <a:solidFill>
                      <a:srgbClr val="CED0DA"/>
                    </a:solidFill>
                  </a:tcPr>
                </a:tc>
                <a:tc>
                  <a:txBody>
                    <a:bodyPr/>
                    <a:lstStyle/>
                    <a:p>
                      <a:r>
                        <a:rPr sz="1575" b="0">
                          <a:solidFill>
                            <a:srgbClr val="333333"/>
                          </a:solidFill>
                        </a:rPr>
                        <a:t>10/10 valid. Required target-rule matches 4/5</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TARGETED_VALIDATION_FAILED</a:t>
                      </a:r>
                    </a:p>
                  </a:txBody>
                  <a:tcPr marL="91440" marR="91440" marT="45720" marB="45720">
                    <a:lnR w="9525">
                      <a:solidFill>
                        <a:srgbClr val="FFFFFF"/>
                      </a:solidFill>
                    </a:lnR>
                    <a:lnB w="9525">
                      <a:solidFill>
                        <a:srgbClr val="FFFFFF"/>
                      </a:solidFill>
                    </a:lnB>
                    <a:solidFill>
                      <a:srgbClr val="CED0DA"/>
                    </a:solidFill>
                  </a:tcPr>
                </a:tc>
              </a:tr>
              <a:tr h="666750">
                <a:tc>
                  <a:txBody>
                    <a:bodyPr/>
                    <a:lstStyle/>
                    <a:p>
                      <a:r>
                        <a:rPr sz="1575" b="0">
                          <a:solidFill>
                            <a:srgbClr val="333333"/>
                          </a:solidFill>
                        </a:rPr>
                        <a:t>Whole-answer r2, 21 Oct</a:t>
                      </a:r>
                    </a:p>
                  </a:txBody>
                  <a:tcPr marL="91440" marR="91440" marT="45720" marB="45720">
                    <a:lnL w="9525">
                      <a:solidFill>
                        <a:srgbClr val="FFFFFF"/>
                      </a:solidFill>
                    </a:lnL>
                    <a:lnR w="9525">
                      <a:solidFill>
                        <a:srgbClr val="FFFFFF"/>
                      </a:solidFill>
                    </a:lnR>
                    <a:lnB w="9525">
                      <a:solidFill>
                        <a:srgbClr val="FFFFFF"/>
                      </a:solidFill>
                    </a:lnB>
                    <a:solidFill>
                      <a:srgbClr val="E8E9ED"/>
                    </a:solidFill>
                  </a:tcPr>
                </a:tc>
                <a:tc>
                  <a:txBody>
                    <a:bodyPr/>
                    <a:lstStyle/>
                    <a:p>
                      <a:r>
                        <a:rPr sz="1575" b="0">
                          <a:solidFill>
                            <a:srgbClr val="333333"/>
                          </a:solidFill>
                        </a:rPr>
                        <a:t>14/14 offline program checks. Real requests 0</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Inactive, not semantically validated</a:t>
                      </a:r>
                    </a:p>
                  </a:txBody>
                  <a:tcPr marL="91440" marR="91440" marT="45720" marB="45720">
                    <a:lnR w="9525">
                      <a:solidFill>
                        <a:srgbClr val="FFFFFF"/>
                      </a:solidFill>
                    </a:lnR>
                    <a:lnB w="9525">
                      <a:solidFill>
                        <a:srgbClr val="FFFFFF"/>
                      </a:solidFill>
                    </a:lnB>
                    <a:solidFill>
                      <a:srgbClr val="E8E9ED"/>
                    </a:solidFill>
                  </a:tcPr>
                </a:tc>
              </a:tr>
            </a:tbl>
          </a:graphicData>
        </a:graphic>
      </p:graphicFrame>
      <p:sp>
        <p:nvSpPr>
          <p:cNvPr id="6" name="boundary">
            <a:extLst xmlns:a="http://schemas.openxmlformats.org/drawingml/2006/main">
              <a:ext uri="{FF2B5EF4-FFF2-40B4-BE49-F238E27FC236}">
                <a16:creationId xmlns:a16="http://schemas.microsoft.com/office/drawing/2014/main" id="{AB6C76BE-A560-4B27-BA83-F72BCC7BCFC3}"/>
              </a:ext>
            </a:extLst>
          </p:cNvPr>
          <p:cNvSpPr>
            <a:spLocks xmlns:a="http://schemas.openxmlformats.org/drawingml/2006/main" noGrp="1"/>
          </p:cNvSpPr>
          <p:nvPr/>
        </p:nvSpPr>
        <p:spPr>
          <a:xfrm xmlns:a="http://schemas.openxmlformats.org/drawingml/2006/main">
            <a:off x="457200" y="5048250"/>
            <a:ext cx="1123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3F7E"/>
                </a:solidFill>
              </a:defRPr>
            </a:defPPr>
          </a:lstStyle>
          <a:p xmlns:a="http://schemas.openxmlformats.org/drawingml/2006/main">
            <a:pPr>
              <a:defRPr sz="1725" b="0">
                <a:solidFill>
                  <a:srgbClr val="173F7E"/>
                </a:solidFill>
              </a:defRPr>
            </a:pPr>
            <a:r>
              <a:rPr sz="1725" b="0">
                <a:solidFill>
                  <a:srgbClr val="173F7E"/>
                </a:solidFill>
              </a:rPr>
              <a:t>No combined pass rate and no inherited validation across versions.</a:t>
            </a:r>
          </a:p>
          <a:p xmlns:a="http://schemas.openxmlformats.org/drawingml/2006/main">
            <a:pPr>
              <a:defRPr sz="1725" b="0">
                <a:solidFill>
                  <a:srgbClr val="173F7E"/>
                </a:solidFill>
              </a:defRPr>
            </a:pPr>
            <a:r>
              <a:rPr sz="1725" b="0">
                <a:solidFill>
                  <a:srgbClr val="173F7E"/>
                </a:solidFill>
              </a:rPr>
              <a:t>Formal reviewer: calibration_pending. shadowOnly=true.</a:t>
            </a:r>
          </a:p>
        </p:txBody>
      </p:sp>
    </p:spTree>
    <p:extLst>
      <p:ext uri="{BB962C8B-B14F-4D97-AF65-F5344CB8AC3E}">
        <p14:creationId xmlns:p14="http://schemas.microsoft.com/office/powerpoint/2010/main" val="1468963935"/>
      </p:ext>
    </p:extLst>
  </p:cSld>
</p:sld>
</file>

<file path=ppt/slides/slide2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47EA316-6676-44AC-85D8-59324EB44B16}"/>
              </a:ext>
            </a:extLst>
          </p:cNvPr>
          <p:cNvSpPr>
            <a:spLocks xmlns:a="http://schemas.openxmlformats.org/drawingml/2006/main" noGrp="1"/>
          </p:cNvSpPr>
          <p:nvPr/>
        </p:nvSpPr>
        <p:spPr>
          <a:xfrm xmlns:a="http://schemas.openxmlformats.org/drawingml/2006/main">
            <a:off x="457200" y="295275"/>
            <a:ext cx="1057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00" b="1">
                <a:solidFill>
                  <a:srgbClr val="173F7E"/>
                </a:solidFill>
              </a:defRPr>
            </a:defPPr>
          </a:lstStyle>
          <a:p xmlns:a="http://schemas.openxmlformats.org/drawingml/2006/main">
            <a:pPr>
              <a:defRPr sz="2800" b="1">
                <a:solidFill>
                  <a:srgbClr val="173F7E"/>
                </a:solidFill>
              </a:defRPr>
            </a:pPr>
            <a:r>
              <a:rPr sz="2800" b="1">
                <a:solidFill>
                  <a:srgbClr val="173F7E"/>
                </a:solidFill>
              </a:rPr>
              <a:t>Backup: ten-case targeted experiment</a:t>
            </a:r>
          </a:p>
        </p:txBody>
      </p:sp>
      <p:sp>
        <p:nvSpPr>
          <p:cNvPr id="2" name="backup">
            <a:extLst xmlns:a="http://schemas.openxmlformats.org/drawingml/2006/main">
              <a:ext uri="{FF2B5EF4-FFF2-40B4-BE49-F238E27FC236}">
                <a16:creationId xmlns:a16="http://schemas.microsoft.com/office/drawing/2014/main" id="{581DDC4F-325D-4045-B00C-71B25A120A80}"/>
              </a:ext>
            </a:extLst>
          </p:cNvPr>
          <p:cNvSpPr>
            <a:spLocks xmlns:a="http://schemas.openxmlformats.org/drawingml/2006/main" noGrp="1"/>
          </p:cNvSpPr>
          <p:nvPr/>
        </p:nvSpPr>
        <p:spPr>
          <a:xfrm xmlns:a="http://schemas.openxmlformats.org/drawingml/2006/main">
            <a:off x="10858500" y="428625"/>
            <a:ext cx="90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77777"/>
                </a:solidFill>
              </a:defRPr>
            </a:defPPr>
          </a:lstStyle>
          <a:p xmlns:a="http://schemas.openxmlformats.org/drawingml/2006/main">
            <a:pPr>
              <a:defRPr sz="1200" b="0">
                <a:solidFill>
                  <a:srgbClr val="777777"/>
                </a:solidFill>
              </a:defRPr>
            </a:pPr>
            <a:r>
              <a:rPr sz="1200" b="0">
                <a:solidFill>
                  <a:srgbClr val="777777"/>
                </a:solidFill>
              </a:rPr>
              <a:t>Backup</a:t>
            </a:r>
          </a:p>
        </p:txBody>
      </p:sp>
      <p:sp>
        <p:nvSpPr>
          <p:cNvPr id="3" name="footer">
            <a:extLst xmlns:a="http://schemas.openxmlformats.org/drawingml/2006/main">
              <a:ext uri="{FF2B5EF4-FFF2-40B4-BE49-F238E27FC236}">
                <a16:creationId xmlns:a16="http://schemas.microsoft.com/office/drawing/2014/main" id="{1B168268-668B-4E66-9C44-21A5B54DBFBF}"/>
              </a:ext>
            </a:extLst>
          </p:cNvPr>
          <p:cNvSpPr>
            <a:spLocks xmlns:a="http://schemas.openxmlformats.org/drawingml/2006/main" noGrp="1"/>
          </p:cNvSpPr>
          <p:nvPr/>
        </p:nvSpPr>
        <p:spPr>
          <a:xfrm xmlns:a="http://schemas.openxmlformats.org/drawingml/2006/main">
            <a:off x="457200" y="6448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777777"/>
                </a:solidFill>
              </a:defRPr>
            </a:defPPr>
          </a:lstStyle>
          <a:p xmlns:a="http://schemas.openxmlformats.org/drawingml/2006/main">
            <a:pPr>
              <a:defRPr sz="1050" b="0">
                <a:solidFill>
                  <a:srgbClr val="777777"/>
                </a:solidFill>
              </a:defRPr>
            </a:pPr>
            <a:r>
              <a:rPr sz="1050" b="0">
                <a:solidFill>
                  <a:srgbClr val="777777"/>
                </a:solidFill>
              </a:rPr>
              <a:t>SE34FT Team 13. Historical evidence and version boundaries</a:t>
            </a:r>
          </a:p>
        </p:txBody>
      </p:sp>
      <p:sp>
        <p:nvSpPr>
          <p:cNvPr id="4" name="page">
            <a:extLst xmlns:a="http://schemas.openxmlformats.org/drawingml/2006/main">
              <a:ext uri="{FF2B5EF4-FFF2-40B4-BE49-F238E27FC236}">
                <a16:creationId xmlns:a16="http://schemas.microsoft.com/office/drawing/2014/main" id="{5970AB6D-3F23-4597-B85A-A82B31D4CAC2}"/>
              </a:ext>
            </a:extLst>
          </p:cNvPr>
          <p:cNvSpPr>
            <a:spLocks xmlns:a="http://schemas.openxmlformats.org/drawingml/2006/main" noGrp="1"/>
          </p:cNvSpPr>
          <p:nvPr/>
        </p:nvSpPr>
        <p:spPr>
          <a:xfrm xmlns:a="http://schemas.openxmlformats.org/drawingml/2006/main">
            <a:off x="11525250" y="64484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777777"/>
                </a:solidFill>
              </a:defRPr>
            </a:defPPr>
          </a:lstStyle>
          <a:p xmlns:a="http://schemas.openxmlformats.org/drawingml/2006/main">
            <a:pPr>
              <a:defRPr sz="1050" b="0">
                <a:solidFill>
                  <a:srgbClr val="777777"/>
                </a:solidFill>
              </a:defRPr>
            </a:pPr>
            <a:r>
              <a:rPr sz="1050" b="0">
                <a:solidFill>
                  <a:srgbClr val="777777"/>
                </a:solidFill>
              </a:rPr>
              <a:t>29</a:t>
            </a:r>
          </a:p>
        </p:txBody>
      </p:sp>
      <p:graphicFrame>
        <p:nvGraphicFramePr>
          <p:cNvPr id="5" name="">
            <a:extLst xmlns:a="http://schemas.openxmlformats.org/drawingml/2006/main">
              <a:ext uri="{FF2B5EF4-FFF2-40B4-BE49-F238E27FC236}">
                <a16:creationId xmlns:a16="http://schemas.microsoft.com/office/drawing/2014/main" id="{AAAFFD1C-5DD2-49E4-88BE-1CF2032198D7}"/>
              </a:ext>
            </a:extLst>
          </p:cNvPr>
          <p:cNvGraphicFramePr/>
          <p:nvPr/>
        </p:nvGraphicFramePr>
        <p:xfrm>
          <a:off xmlns:a="http://schemas.openxmlformats.org/drawingml/2006/main" x="457200" y="1238250"/>
          <a:ext xmlns:a="http://schemas.openxmlformats.org/drawingml/2006/main" cx="11277600" cy="3810000"/>
        </p:xfrm>
        <a:graphic xmlns:a="http://schemas.openxmlformats.org/drawingml/2006/main">
          <a:graphicData uri="http://schemas.openxmlformats.org/drawingml/2006/table">
            <a:tbl>
              <a:tblPr/>
              <a:tblGrid>
                <a:gridCol w="762000"/>
                <a:gridCol w="4476750"/>
                <a:gridCol w="2000250"/>
                <a:gridCol w="4038600"/>
              </a:tblGrid>
              <a:tr h="346364">
                <a:tc>
                  <a:txBody>
                    <a:bodyPr/>
                    <a:lstStyle/>
                    <a:p>
                      <a:r>
                        <a:rPr sz="1575" b="1">
                          <a:solidFill>
                            <a:srgbClr val="FFFFFF"/>
                          </a:solidFill>
                        </a:rPr>
                        <a:t>Order</a:t>
                      </a:r>
                    </a:p>
                  </a:txBody>
                  <a:tcPr marL="91440" marR="91440" marT="45720" marB="45720">
                    <a:lnL w="9525">
                      <a:solidFill>
                        <a:srgbClr val="FFFFFF"/>
                      </a:solidFill>
                    </a:lnL>
                    <a:lnR w="9525">
                      <a:solidFill>
                        <a:srgbClr val="FFFFFF"/>
                      </a:solidFill>
                    </a:lnR>
                    <a:lnT w="9525">
                      <a:solidFill>
                        <a:srgbClr val="FFFFFF"/>
                      </a:solidFill>
                    </a:lnT>
                    <a:lnB w="9525">
                      <a:solidFill>
                        <a:srgbClr val="FFFFFF"/>
                      </a:solidFill>
                    </a:lnB>
                    <a:solidFill>
                      <a:srgbClr val="487FD0"/>
                    </a:solidFill>
                  </a:tcPr>
                </a:tc>
                <a:tc>
                  <a:txBody>
                    <a:bodyPr/>
                    <a:lstStyle/>
                    <a:p>
                      <a:r>
                        <a:rPr sz="1575" b="1">
                          <a:solidFill>
                            <a:srgbClr val="FFFFFF"/>
                          </a:solidFill>
                        </a:rPr>
                        <a:t>Reference answer</a:t>
                      </a:r>
                    </a:p>
                  </a:txBody>
                  <a:tcPr marL="91440" marR="91440" marT="45720" marB="45720">
                    <a:lnR w="9525">
                      <a:solidFill>
                        <a:srgbClr val="FFFFFF"/>
                      </a:solidFill>
                    </a:lnR>
                    <a:lnT w="9525">
                      <a:solidFill>
                        <a:srgbClr val="FFFFFF"/>
                      </a:solidFill>
                    </a:lnT>
                    <a:lnB w="9525">
                      <a:solidFill>
                        <a:srgbClr val="FFFFFF"/>
                      </a:solidFill>
                    </a:lnB>
                    <a:solidFill>
                      <a:srgbClr val="487FD0"/>
                    </a:solidFill>
                  </a:tcPr>
                </a:tc>
                <a:tc>
                  <a:txBody>
                    <a:bodyPr/>
                    <a:lstStyle/>
                    <a:p>
                      <a:r>
                        <a:rPr sz="1575" b="1">
                          <a:solidFill>
                            <a:srgbClr val="FFFFFF"/>
                          </a:solidFill>
                        </a:rPr>
                        <a:t>Semantic outcome</a:t>
                      </a:r>
                    </a:p>
                  </a:txBody>
                  <a:tcPr marL="91440" marR="91440" marT="45720" marB="45720">
                    <a:lnR w="9525">
                      <a:solidFill>
                        <a:srgbClr val="FFFFFF"/>
                      </a:solidFill>
                    </a:lnR>
                    <a:lnT w="9525">
                      <a:solidFill>
                        <a:srgbClr val="FFFFFF"/>
                      </a:solidFill>
                    </a:lnT>
                    <a:lnB w="9525">
                      <a:solidFill>
                        <a:srgbClr val="FFFFFF"/>
                      </a:solidFill>
                    </a:lnB>
                    <a:solidFill>
                      <a:srgbClr val="487FD0"/>
                    </a:solidFill>
                  </a:tcPr>
                </a:tc>
                <a:tc>
                  <a:txBody>
                    <a:bodyPr/>
                    <a:lstStyle/>
                    <a:p>
                      <a:r>
                        <a:rPr sz="1575" b="1">
                          <a:solidFill>
                            <a:srgbClr val="FFFFFF"/>
                          </a:solidFill>
                        </a:rPr>
                        <a:t>Designated rule</a:t>
                      </a:r>
                    </a:p>
                  </a:txBody>
                  <a:tcPr marL="91440" marR="91440" marT="45720" marB="45720">
                    <a:lnR w="9525">
                      <a:solidFill>
                        <a:srgbClr val="FFFFFF"/>
                      </a:solidFill>
                    </a:lnR>
                    <a:lnT w="9525">
                      <a:solidFill>
                        <a:srgbClr val="FFFFFF"/>
                      </a:solidFill>
                    </a:lnT>
                    <a:lnB w="9525">
                      <a:solidFill>
                        <a:srgbClr val="FFFFFF"/>
                      </a:solidFill>
                    </a:lnB>
                    <a:solidFill>
                      <a:srgbClr val="487FD0"/>
                    </a:solidFill>
                  </a:tcPr>
                </a:tc>
              </a:tr>
              <a:tr h="346364">
                <a:tc>
                  <a:txBody>
                    <a:bodyPr/>
                    <a:lstStyle/>
                    <a:p>
                      <a:r>
                        <a:rPr sz="1575" b="0">
                          <a:solidFill>
                            <a:srgbClr val="333333"/>
                          </a:solidFill>
                        </a:rPr>
                        <a:t>1</a:t>
                      </a:r>
                    </a:p>
                  </a:txBody>
                  <a:tcPr marL="91440" marR="91440" marT="45720" marB="45720">
                    <a:lnL w="9525">
                      <a:solidFill>
                        <a:srgbClr val="FFFFFF"/>
                      </a:solidFill>
                    </a:lnL>
                    <a:lnR w="9525">
                      <a:solidFill>
                        <a:srgbClr val="FFFFFF"/>
                      </a:solidFill>
                    </a:lnR>
                    <a:lnB w="9525">
                      <a:solidFill>
                        <a:srgbClr val="FFFFFF"/>
                      </a:solidFill>
                    </a:lnB>
                    <a:solidFill>
                      <a:srgbClr val="CED0DA"/>
                    </a:solidFill>
                  </a:tcPr>
                </a:tc>
                <a:tc>
                  <a:txBody>
                    <a:bodyPr/>
                    <a:lstStyle/>
                    <a:p>
                      <a:r>
                        <a:rPr sz="1575" b="0">
                          <a:solidFill>
                            <a:srgbClr val="333333"/>
                          </a:solidFill>
                        </a:rPr>
                        <a:t>Unused condition required</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Allow</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Positive</a:t>
                      </a:r>
                    </a:p>
                  </a:txBody>
                  <a:tcPr marL="91440" marR="91440" marT="45720" marB="45720">
                    <a:lnR w="9525">
                      <a:solidFill>
                        <a:srgbClr val="FFFFFF"/>
                      </a:solidFill>
                    </a:lnR>
                    <a:lnB w="9525">
                      <a:solidFill>
                        <a:srgbClr val="FFFFFF"/>
                      </a:solidFill>
                    </a:lnB>
                    <a:solidFill>
                      <a:srgbClr val="CED0DA"/>
                    </a:solidFill>
                  </a:tcPr>
                </a:tc>
              </a:tr>
              <a:tr h="346364">
                <a:tc>
                  <a:txBody>
                    <a:bodyPr/>
                    <a:lstStyle/>
                    <a:p>
                      <a:r>
                        <a:rPr sz="1575" b="0">
                          <a:solidFill>
                            <a:srgbClr val="333333"/>
                          </a:solidFill>
                        </a:rPr>
                        <a:t>2</a:t>
                      </a:r>
                    </a:p>
                  </a:txBody>
                  <a:tcPr marL="91440" marR="91440" marT="45720" marB="45720">
                    <a:lnL w="9525">
                      <a:solidFill>
                        <a:srgbClr val="FFFFFF"/>
                      </a:solidFill>
                    </a:lnL>
                    <a:lnR w="9525">
                      <a:solidFill>
                        <a:srgbClr val="FFFFFF"/>
                      </a:solidFill>
                    </a:lnR>
                    <a:lnB w="9525">
                      <a:solidFill>
                        <a:srgbClr val="FFFFFF"/>
                      </a:solidFill>
                    </a:lnB>
                    <a:solidFill>
                      <a:srgbClr val="E8E9ED"/>
                    </a:solidFill>
                  </a:tcPr>
                </a:tc>
                <a:tc>
                  <a:txBody>
                    <a:bodyPr/>
                    <a:lstStyle/>
                    <a:p>
                      <a:r>
                        <a:rPr sz="1575" b="0">
                          <a:solidFill>
                            <a:srgbClr val="333333"/>
                          </a:solidFill>
                        </a:rPr>
                        <a:t>Human contact before clarification</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Allow</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Positive</a:t>
                      </a:r>
                    </a:p>
                  </a:txBody>
                  <a:tcPr marL="91440" marR="91440" marT="45720" marB="45720">
                    <a:lnR w="9525">
                      <a:solidFill>
                        <a:srgbClr val="FFFFFF"/>
                      </a:solidFill>
                    </a:lnR>
                    <a:lnB w="9525">
                      <a:solidFill>
                        <a:srgbClr val="FFFFFF"/>
                      </a:solidFill>
                    </a:lnB>
                    <a:solidFill>
                      <a:srgbClr val="E8E9ED"/>
                    </a:solidFill>
                  </a:tcPr>
                </a:tc>
              </a:tr>
              <a:tr h="346364">
                <a:tc>
                  <a:txBody>
                    <a:bodyPr/>
                    <a:lstStyle/>
                    <a:p>
                      <a:r>
                        <a:rPr sz="1575" b="0">
                          <a:solidFill>
                            <a:srgbClr val="333333"/>
                          </a:solidFill>
                        </a:rPr>
                        <a:t>3</a:t>
                      </a:r>
                    </a:p>
                  </a:txBody>
                  <a:tcPr marL="91440" marR="91440" marT="45720" marB="45720">
                    <a:lnL w="9525">
                      <a:solidFill>
                        <a:srgbClr val="FFFFFF"/>
                      </a:solidFill>
                    </a:lnL>
                    <a:lnR w="9525">
                      <a:solidFill>
                        <a:srgbClr val="FFFFFF"/>
                      </a:solidFill>
                    </a:lnR>
                    <a:lnB w="9525">
                      <a:solidFill>
                        <a:srgbClr val="FFFFFF"/>
                      </a:solidFill>
                    </a:lnB>
                    <a:solidFill>
                      <a:srgbClr val="CED0DA"/>
                    </a:solidFill>
                  </a:tcPr>
                </a:tc>
                <a:tc>
                  <a:txBody>
                    <a:bodyPr/>
                    <a:lstStyle/>
                    <a:p>
                      <a:r>
                        <a:rPr sz="1575" b="0">
                          <a:solidFill>
                            <a:srgbClr val="333333"/>
                          </a:solidFill>
                        </a:rPr>
                        <a:t>Refund not guaranteed</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Allow</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Positive</a:t>
                      </a:r>
                    </a:p>
                  </a:txBody>
                  <a:tcPr marL="91440" marR="91440" marT="45720" marB="45720">
                    <a:lnR w="9525">
                      <a:solidFill>
                        <a:srgbClr val="FFFFFF"/>
                      </a:solidFill>
                    </a:lnR>
                    <a:lnB w="9525">
                      <a:solidFill>
                        <a:srgbClr val="FFFFFF"/>
                      </a:solidFill>
                    </a:lnB>
                    <a:solidFill>
                      <a:srgbClr val="CED0DA"/>
                    </a:solidFill>
                  </a:tcPr>
                </a:tc>
              </a:tr>
              <a:tr h="346364">
                <a:tc>
                  <a:txBody>
                    <a:bodyPr/>
                    <a:lstStyle/>
                    <a:p>
                      <a:r>
                        <a:rPr sz="1575" b="0">
                          <a:solidFill>
                            <a:srgbClr val="333333"/>
                          </a:solidFill>
                        </a:rPr>
                        <a:t>4</a:t>
                      </a:r>
                    </a:p>
                  </a:txBody>
                  <a:tcPr marL="91440" marR="91440" marT="45720" marB="45720">
                    <a:lnL w="9525">
                      <a:solidFill>
                        <a:srgbClr val="FFFFFF"/>
                      </a:solidFill>
                    </a:lnL>
                    <a:lnR w="9525">
                      <a:solidFill>
                        <a:srgbClr val="FFFFFF"/>
                      </a:solidFill>
                    </a:lnR>
                    <a:lnB w="9525">
                      <a:solidFill>
                        <a:srgbClr val="FFFFFF"/>
                      </a:solidFill>
                    </a:lnB>
                    <a:solidFill>
                      <a:srgbClr val="E8E9ED"/>
                    </a:solidFill>
                  </a:tcPr>
                </a:tc>
                <a:tc>
                  <a:txBody>
                    <a:bodyPr/>
                    <a:lstStyle/>
                    <a:p>
                      <a:r>
                        <a:rPr sz="1575" b="0">
                          <a:solidFill>
                            <a:srgbClr val="333333"/>
                          </a:solidFill>
                        </a:rPr>
                        <a:t>Collect receipt transaction ID</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Block</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Matched</a:t>
                      </a:r>
                    </a:p>
                  </a:txBody>
                  <a:tcPr marL="91440" marR="91440" marT="45720" marB="45720">
                    <a:lnR w="9525">
                      <a:solidFill>
                        <a:srgbClr val="FFFFFF"/>
                      </a:solidFill>
                    </a:lnR>
                    <a:lnB w="9525">
                      <a:solidFill>
                        <a:srgbClr val="FFFFFF"/>
                      </a:solidFill>
                    </a:lnB>
                    <a:solidFill>
                      <a:srgbClr val="E8E9ED"/>
                    </a:solidFill>
                  </a:tcPr>
                </a:tc>
              </a:tr>
              <a:tr h="346364">
                <a:tc>
                  <a:txBody>
                    <a:bodyPr/>
                    <a:lstStyle/>
                    <a:p>
                      <a:r>
                        <a:rPr sz="1575" b="0">
                          <a:solidFill>
                            <a:srgbClr val="333333"/>
                          </a:solidFill>
                        </a:rPr>
                        <a:t>5</a:t>
                      </a:r>
                    </a:p>
                  </a:txBody>
                  <a:tcPr marL="91440" marR="91440" marT="45720" marB="45720">
                    <a:lnL w="9525">
                      <a:solidFill>
                        <a:srgbClr val="FFFFFF"/>
                      </a:solidFill>
                    </a:lnL>
                    <a:lnR w="9525">
                      <a:solidFill>
                        <a:srgbClr val="FFFFFF"/>
                      </a:solidFill>
                    </a:lnR>
                    <a:lnB w="9525">
                      <a:solidFill>
                        <a:srgbClr val="FFFFFF"/>
                      </a:solidFill>
                    </a:lnB>
                    <a:solidFill>
                      <a:srgbClr val="CED0DA"/>
                    </a:solidFill>
                  </a:tcPr>
                </a:tc>
                <a:tc>
                  <a:txBody>
                    <a:bodyPr/>
                    <a:lstStyle/>
                    <a:p>
                      <a:r>
                        <a:rPr sz="1575" b="0">
                          <a:solidFill>
                            <a:srgbClr val="333333"/>
                          </a:solidFill>
                        </a:rPr>
                        <a:t>Ask receipt availability only</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Allow</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Positive</a:t>
                      </a:r>
                    </a:p>
                  </a:txBody>
                  <a:tcPr marL="91440" marR="91440" marT="45720" marB="45720">
                    <a:lnR w="9525">
                      <a:solidFill>
                        <a:srgbClr val="FFFFFF"/>
                      </a:solidFill>
                    </a:lnR>
                    <a:lnB w="9525">
                      <a:solidFill>
                        <a:srgbClr val="FFFFFF"/>
                      </a:solidFill>
                    </a:lnB>
                    <a:solidFill>
                      <a:srgbClr val="CED0DA"/>
                    </a:solidFill>
                  </a:tcPr>
                </a:tc>
              </a:tr>
              <a:tr h="346364">
                <a:tc>
                  <a:txBody>
                    <a:bodyPr/>
                    <a:lstStyle/>
                    <a:p>
                      <a:r>
                        <a:rPr sz="1575" b="0">
                          <a:solidFill>
                            <a:srgbClr val="333333"/>
                          </a:solidFill>
                        </a:rPr>
                        <a:t>6</a:t>
                      </a:r>
                    </a:p>
                  </a:txBody>
                  <a:tcPr marL="91440" marR="91440" marT="45720" marB="45720">
                    <a:lnL w="9525">
                      <a:solidFill>
                        <a:srgbClr val="FFFFFF"/>
                      </a:solidFill>
                    </a:lnL>
                    <a:lnR w="9525">
                      <a:solidFill>
                        <a:srgbClr val="FFFFFF"/>
                      </a:solidFill>
                    </a:lnR>
                    <a:lnB w="9525">
                      <a:solidFill>
                        <a:srgbClr val="FFFFFF"/>
                      </a:solidFill>
                    </a:lnB>
                    <a:solidFill>
                      <a:srgbClr val="E8E9ED"/>
                    </a:solidFill>
                  </a:tcPr>
                </a:tc>
                <a:tc>
                  <a:txBody>
                    <a:bodyPr/>
                    <a:lstStyle/>
                    <a:p>
                      <a:r>
                        <a:rPr sz="1575" b="0">
                          <a:solidFill>
                            <a:srgbClr val="333333"/>
                          </a:solidFill>
                        </a:rPr>
                        <a:t>Request password after warning</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Block</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Matched</a:t>
                      </a:r>
                    </a:p>
                  </a:txBody>
                  <a:tcPr marL="91440" marR="91440" marT="45720" marB="45720">
                    <a:lnR w="9525">
                      <a:solidFill>
                        <a:srgbClr val="FFFFFF"/>
                      </a:solidFill>
                    </a:lnR>
                    <a:lnB w="9525">
                      <a:solidFill>
                        <a:srgbClr val="FFFFFF"/>
                      </a:solidFill>
                    </a:lnB>
                    <a:solidFill>
                      <a:srgbClr val="E8E9ED"/>
                    </a:solidFill>
                  </a:tcPr>
                </a:tc>
              </a:tr>
              <a:tr h="346364">
                <a:tc>
                  <a:txBody>
                    <a:bodyPr/>
                    <a:lstStyle/>
                    <a:p>
                      <a:r>
                        <a:rPr sz="1575" b="0">
                          <a:solidFill>
                            <a:srgbClr val="333333"/>
                          </a:solidFill>
                        </a:rPr>
                        <a:t>7</a:t>
                      </a:r>
                    </a:p>
                  </a:txBody>
                  <a:tcPr marL="91440" marR="91440" marT="45720" marB="45720">
                    <a:lnL w="9525">
                      <a:solidFill>
                        <a:srgbClr val="FFFFFF"/>
                      </a:solidFill>
                    </a:lnL>
                    <a:lnR w="9525">
                      <a:solidFill>
                        <a:srgbClr val="FFFFFF"/>
                      </a:solidFill>
                    </a:lnR>
                    <a:lnB w="9525">
                      <a:solidFill>
                        <a:srgbClr val="FFFFFF"/>
                      </a:solidFill>
                    </a:lnB>
                    <a:solidFill>
                      <a:srgbClr val="CED0DA"/>
                    </a:solidFill>
                  </a:tcPr>
                </a:tc>
                <a:tc>
                  <a:txBody>
                    <a:bodyPr/>
                    <a:lstStyle/>
                    <a:p>
                      <a:r>
                        <a:rPr sz="1575" b="0">
                          <a:solidFill>
                            <a:srgbClr val="333333"/>
                          </a:solidFill>
                        </a:rPr>
                        <a:t>Require details before human contact</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Block</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Matched</a:t>
                      </a:r>
                    </a:p>
                  </a:txBody>
                  <a:tcPr marL="91440" marR="91440" marT="45720" marB="45720">
                    <a:lnR w="9525">
                      <a:solidFill>
                        <a:srgbClr val="FFFFFF"/>
                      </a:solidFill>
                    </a:lnR>
                    <a:lnB w="9525">
                      <a:solidFill>
                        <a:srgbClr val="FFFFFF"/>
                      </a:solidFill>
                    </a:lnB>
                    <a:solidFill>
                      <a:srgbClr val="CED0DA"/>
                    </a:solidFill>
                  </a:tcPr>
                </a:tc>
              </a:tr>
              <a:tr h="346364">
                <a:tc>
                  <a:txBody>
                    <a:bodyPr/>
                    <a:lstStyle/>
                    <a:p>
                      <a:r>
                        <a:rPr sz="1575" b="0">
                          <a:solidFill>
                            <a:srgbClr val="333333"/>
                          </a:solidFill>
                        </a:rPr>
                        <a:t>8</a:t>
                      </a:r>
                    </a:p>
                  </a:txBody>
                  <a:tcPr marL="91440" marR="91440" marT="45720" marB="45720">
                    <a:lnL w="9525">
                      <a:solidFill>
                        <a:srgbClr val="FFFFFF"/>
                      </a:solidFill>
                    </a:lnL>
                    <a:lnR w="9525">
                      <a:solidFill>
                        <a:srgbClr val="FFFFFF"/>
                      </a:solidFill>
                    </a:lnR>
                    <a:lnB w="9525">
                      <a:solidFill>
                        <a:srgbClr val="FFFFFF"/>
                      </a:solidFill>
                    </a:lnB>
                    <a:solidFill>
                      <a:srgbClr val="E8E9ED"/>
                    </a:solidFill>
                  </a:tcPr>
                </a:tc>
                <a:tc>
                  <a:txBody>
                    <a:bodyPr/>
                    <a:lstStyle/>
                    <a:p>
                      <a:r>
                        <a:rPr sz="1575" b="0">
                          <a:solidFill>
                            <a:srgbClr val="333333"/>
                          </a:solidFill>
                        </a:rPr>
                        <a:t>Do not provide password</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Allow</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Positive</a:t>
                      </a:r>
                    </a:p>
                  </a:txBody>
                  <a:tcPr marL="91440" marR="91440" marT="45720" marB="45720">
                    <a:lnR w="9525">
                      <a:solidFill>
                        <a:srgbClr val="FFFFFF"/>
                      </a:solidFill>
                    </a:lnR>
                    <a:lnB w="9525">
                      <a:solidFill>
                        <a:srgbClr val="FFFFFF"/>
                      </a:solidFill>
                    </a:lnB>
                    <a:solidFill>
                      <a:srgbClr val="E8E9ED"/>
                    </a:solidFill>
                  </a:tcPr>
                </a:tc>
              </a:tr>
              <a:tr h="346364">
                <a:tc>
                  <a:txBody>
                    <a:bodyPr/>
                    <a:lstStyle/>
                    <a:p>
                      <a:r>
                        <a:rPr sz="1575" b="0">
                          <a:solidFill>
                            <a:srgbClr val="333333"/>
                          </a:solidFill>
                        </a:rPr>
                        <a:t>9</a:t>
                      </a:r>
                    </a:p>
                  </a:txBody>
                  <a:tcPr marL="91440" marR="91440" marT="45720" marB="45720">
                    <a:lnL w="9525">
                      <a:solidFill>
                        <a:srgbClr val="FFFFFF"/>
                      </a:solidFill>
                    </a:lnL>
                    <a:lnR w="9525">
                      <a:solidFill>
                        <a:srgbClr val="FFFFFF"/>
                      </a:solidFill>
                    </a:lnR>
                    <a:lnB w="9525">
                      <a:solidFill>
                        <a:srgbClr val="FFFFFF"/>
                      </a:solidFill>
                    </a:lnB>
                    <a:solidFill>
                      <a:srgbClr val="CED0DA"/>
                    </a:solidFill>
                  </a:tcPr>
                </a:tc>
                <a:tc>
                  <a:txBody>
                    <a:bodyPr/>
                    <a:lstStyle/>
                    <a:p>
                      <a:r>
                        <a:rPr sz="1575" b="0">
                          <a:solidFill>
                            <a:srgbClr val="333333"/>
                          </a:solidFill>
                        </a:rPr>
                        <a:t>Refund guaranteed</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Block</a:t>
                      </a:r>
                    </a:p>
                  </a:txBody>
                  <a:tcPr marL="91440" marR="91440" marT="45720" marB="45720">
                    <a:lnR w="9525">
                      <a:solidFill>
                        <a:srgbClr val="FFFFFF"/>
                      </a:solidFill>
                    </a:lnR>
                    <a:lnB w="9525">
                      <a:solidFill>
                        <a:srgbClr val="FFFFFF"/>
                      </a:solidFill>
                    </a:lnB>
                    <a:solidFill>
                      <a:srgbClr val="CED0DA"/>
                    </a:solidFill>
                  </a:tcPr>
                </a:tc>
                <a:tc>
                  <a:txBody>
                    <a:bodyPr/>
                    <a:lstStyle/>
                    <a:p>
                      <a:r>
                        <a:rPr sz="1575" b="0">
                          <a:solidFill>
                            <a:srgbClr val="333333"/>
                          </a:solidFill>
                        </a:rPr>
                        <a:t>Matched</a:t>
                      </a:r>
                    </a:p>
                  </a:txBody>
                  <a:tcPr marL="91440" marR="91440" marT="45720" marB="45720">
                    <a:lnR w="9525">
                      <a:solidFill>
                        <a:srgbClr val="FFFFFF"/>
                      </a:solidFill>
                    </a:lnR>
                    <a:lnB w="9525">
                      <a:solidFill>
                        <a:srgbClr val="FFFFFF"/>
                      </a:solidFill>
                    </a:lnB>
                    <a:solidFill>
                      <a:srgbClr val="CED0DA"/>
                    </a:solidFill>
                  </a:tcPr>
                </a:tc>
              </a:tr>
              <a:tr h="346364">
                <a:tc>
                  <a:txBody>
                    <a:bodyPr/>
                    <a:lstStyle/>
                    <a:p>
                      <a:r>
                        <a:rPr sz="1575" b="0">
                          <a:solidFill>
                            <a:srgbClr val="333333"/>
                          </a:solidFill>
                        </a:rPr>
                        <a:t>10</a:t>
                      </a:r>
                    </a:p>
                  </a:txBody>
                  <a:tcPr marL="91440" marR="91440" marT="45720" marB="45720">
                    <a:lnL w="9525">
                      <a:solidFill>
                        <a:srgbClr val="FFFFFF"/>
                      </a:solidFill>
                    </a:lnL>
                    <a:lnR w="9525">
                      <a:solidFill>
                        <a:srgbClr val="FFFFFF"/>
                      </a:solidFill>
                    </a:lnR>
                    <a:lnB w="9525">
                      <a:solidFill>
                        <a:srgbClr val="FFFFFF"/>
                      </a:solidFill>
                    </a:lnB>
                    <a:solidFill>
                      <a:srgbClr val="E8E9ED"/>
                    </a:solidFill>
                  </a:tcPr>
                </a:tc>
                <a:tc>
                  <a:txBody>
                    <a:bodyPr/>
                    <a:lstStyle/>
                    <a:p>
                      <a:r>
                        <a:rPr sz="1575" b="0">
                          <a:solidFill>
                            <a:srgbClr val="333333"/>
                          </a:solidFill>
                        </a:rPr>
                        <a:t>Unused condition is not required</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Block</a:t>
                      </a:r>
                    </a:p>
                  </a:txBody>
                  <a:tcPr marL="91440" marR="91440" marT="45720" marB="45720">
                    <a:lnR w="9525">
                      <a:solidFill>
                        <a:srgbClr val="FFFFFF"/>
                      </a:solidFill>
                    </a:lnR>
                    <a:lnB w="9525">
                      <a:solidFill>
                        <a:srgbClr val="FFFFFF"/>
                      </a:solidFill>
                    </a:lnB>
                    <a:solidFill>
                      <a:srgbClr val="E8E9ED"/>
                    </a:solidFill>
                  </a:tcPr>
                </a:tc>
                <a:tc>
                  <a:txBody>
                    <a:bodyPr/>
                    <a:lstStyle/>
                    <a:p>
                      <a:r>
                        <a:rPr sz="1575" b="0">
                          <a:solidFill>
                            <a:srgbClr val="333333"/>
                          </a:solidFill>
                        </a:rPr>
                        <a:t>STANDARD_POLICY remained passed</a:t>
                      </a:r>
                    </a:p>
                  </a:txBody>
                  <a:tcPr marL="91440" marR="91440" marT="45720" marB="45720">
                    <a:lnR w="9525">
                      <a:solidFill>
                        <a:srgbClr val="FFFFFF"/>
                      </a:solidFill>
                    </a:lnR>
                    <a:lnB w="9525">
                      <a:solidFill>
                        <a:srgbClr val="FFFFFF"/>
                      </a:solidFill>
                    </a:lnB>
                    <a:solidFill>
                      <a:srgbClr val="E8E9ED"/>
                    </a:solidFill>
                  </a:tcPr>
                </a:tc>
              </a:tr>
            </a:tbl>
          </a:graphicData>
        </a:graphic>
      </p:graphicFrame>
      <p:sp>
        <p:nvSpPr>
          <p:cNvPr id="6" name="failure">
            <a:extLst xmlns:a="http://schemas.openxmlformats.org/drawingml/2006/main">
              <a:ext uri="{FF2B5EF4-FFF2-40B4-BE49-F238E27FC236}">
                <a16:creationId xmlns:a16="http://schemas.microsoft.com/office/drawing/2014/main" id="{19A98052-F138-42F6-B836-A9B73CF14603}"/>
              </a:ext>
            </a:extLst>
          </p:cNvPr>
          <p:cNvSpPr>
            <a:spLocks xmlns:a="http://schemas.openxmlformats.org/drawingml/2006/main" noGrp="1"/>
          </p:cNvSpPr>
          <p:nvPr/>
        </p:nvSpPr>
        <p:spPr>
          <a:xfrm xmlns:a="http://schemas.openxmlformats.org/drawingml/2006/main">
            <a:off x="457200" y="5248275"/>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3F7E"/>
                </a:solidFill>
              </a:defRPr>
            </a:defPPr>
          </a:lstStyle>
          <a:p xmlns:a="http://schemas.openxmlformats.org/drawingml/2006/main">
            <a:pPr>
              <a:defRPr sz="1650" b="0">
                <a:solidFill>
                  <a:srgbClr val="173F7E"/>
                </a:solidFill>
              </a:defRPr>
            </a:pPr>
            <a:r>
              <a:rPr sz="1650" b="0">
                <a:solidFill>
                  <a:srgbClr val="173F7E"/>
                </a:solidFill>
              </a:rPr>
              <a:t>10/10 protocol valid. Zero false allows or false blocks.</a:t>
            </a:r>
          </a:p>
          <a:p xmlns:a="http://schemas.openxmlformats.org/drawingml/2006/main">
            <a:pPr>
              <a:defRPr sz="1650" b="0">
                <a:solidFill>
                  <a:srgbClr val="173F7E"/>
                </a:solidFill>
              </a:defRPr>
            </a:pPr>
            <a:r>
              <a:rPr sz="1650" b="0">
                <a:solidFill>
                  <a:srgbClr val="173F7E"/>
                </a:solidFill>
              </a:rPr>
              <a:t>Case 10 identifies the exact contradiction under extra claims, but misses the frozen rule-ID criterion. Result remains FAILED.</a:t>
            </a:r>
          </a:p>
        </p:txBody>
      </p:sp>
    </p:spTree>
    <p:extLst>
      <p:ext uri="{BB962C8B-B14F-4D97-AF65-F5344CB8AC3E}">
        <p14:creationId xmlns:p14="http://schemas.microsoft.com/office/powerpoint/2010/main" val="1161465744"/>
      </p:ext>
    </p:extLst>
  </p:cSld>
</p:sld>
</file>

<file path=ppt/slides/slide3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43C001E-1767-4A8D-915E-FAC167CAC5A6}"/>
              </a:ext>
            </a:extLst>
          </p:cNvPr>
          <p:cNvSpPr>
            <a:spLocks xmlns:a="http://schemas.openxmlformats.org/drawingml/2006/main" noGrp="1"/>
          </p:cNvSpPr>
          <p:nvPr/>
        </p:nvSpPr>
        <p:spPr>
          <a:xfrm xmlns:a="http://schemas.openxmlformats.org/drawingml/2006/main">
            <a:off x="457200" y="295275"/>
            <a:ext cx="1057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00" b="1">
                <a:solidFill>
                  <a:srgbClr val="173F7E"/>
                </a:solidFill>
              </a:defRPr>
            </a:defPPr>
          </a:lstStyle>
          <a:p xmlns:a="http://schemas.openxmlformats.org/drawingml/2006/main">
            <a:pPr>
              <a:defRPr sz="2800" b="1">
                <a:solidFill>
                  <a:srgbClr val="173F7E"/>
                </a:solidFill>
              </a:defRPr>
            </a:pPr>
            <a:r>
              <a:rPr sz="2800" b="1">
                <a:solidFill>
                  <a:srgbClr val="173F7E"/>
                </a:solidFill>
              </a:rPr>
              <a:t>Backup: whole-answer rule definition r2</a:t>
            </a:r>
          </a:p>
        </p:txBody>
      </p:sp>
      <p:sp>
        <p:nvSpPr>
          <p:cNvPr id="2" name="backup">
            <a:extLst xmlns:a="http://schemas.openxmlformats.org/drawingml/2006/main">
              <a:ext uri="{FF2B5EF4-FFF2-40B4-BE49-F238E27FC236}">
                <a16:creationId xmlns:a16="http://schemas.microsoft.com/office/drawing/2014/main" id="{27EBCA99-1E9F-4CE6-A6BD-FF09417C12B3}"/>
              </a:ext>
            </a:extLst>
          </p:cNvPr>
          <p:cNvSpPr>
            <a:spLocks xmlns:a="http://schemas.openxmlformats.org/drawingml/2006/main" noGrp="1"/>
          </p:cNvSpPr>
          <p:nvPr/>
        </p:nvSpPr>
        <p:spPr>
          <a:xfrm xmlns:a="http://schemas.openxmlformats.org/drawingml/2006/main">
            <a:off x="10858500" y="428625"/>
            <a:ext cx="90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77777"/>
                </a:solidFill>
              </a:defRPr>
            </a:defPPr>
          </a:lstStyle>
          <a:p xmlns:a="http://schemas.openxmlformats.org/drawingml/2006/main">
            <a:pPr>
              <a:defRPr sz="1200" b="0">
                <a:solidFill>
                  <a:srgbClr val="777777"/>
                </a:solidFill>
              </a:defRPr>
            </a:pPr>
            <a:r>
              <a:rPr sz="1200" b="0">
                <a:solidFill>
                  <a:srgbClr val="777777"/>
                </a:solidFill>
              </a:rPr>
              <a:t>Backup</a:t>
            </a:r>
          </a:p>
        </p:txBody>
      </p:sp>
      <p:sp>
        <p:nvSpPr>
          <p:cNvPr id="3" name="footer">
            <a:extLst xmlns:a="http://schemas.openxmlformats.org/drawingml/2006/main">
              <a:ext uri="{FF2B5EF4-FFF2-40B4-BE49-F238E27FC236}">
                <a16:creationId xmlns:a16="http://schemas.microsoft.com/office/drawing/2014/main" id="{D3D19EAC-46EA-41F4-8F06-ACCBDD2FAD6E}"/>
              </a:ext>
            </a:extLst>
          </p:cNvPr>
          <p:cNvSpPr>
            <a:spLocks xmlns:a="http://schemas.openxmlformats.org/drawingml/2006/main" noGrp="1"/>
          </p:cNvSpPr>
          <p:nvPr/>
        </p:nvSpPr>
        <p:spPr>
          <a:xfrm xmlns:a="http://schemas.openxmlformats.org/drawingml/2006/main">
            <a:off x="457200" y="6448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777777"/>
                </a:solidFill>
              </a:defRPr>
            </a:defPPr>
          </a:lstStyle>
          <a:p xmlns:a="http://schemas.openxmlformats.org/drawingml/2006/main">
            <a:pPr>
              <a:defRPr sz="1050" b="0">
                <a:solidFill>
                  <a:srgbClr val="777777"/>
                </a:solidFill>
              </a:defRPr>
            </a:pPr>
            <a:r>
              <a:rPr sz="1050" b="0">
                <a:solidFill>
                  <a:srgbClr val="777777"/>
                </a:solidFill>
              </a:rPr>
              <a:t>SE34FT Team 13. Historical evidence and version boundaries</a:t>
            </a:r>
          </a:p>
        </p:txBody>
      </p:sp>
      <p:sp>
        <p:nvSpPr>
          <p:cNvPr id="4" name="page">
            <a:extLst xmlns:a="http://schemas.openxmlformats.org/drawingml/2006/main">
              <a:ext uri="{FF2B5EF4-FFF2-40B4-BE49-F238E27FC236}">
                <a16:creationId xmlns:a16="http://schemas.microsoft.com/office/drawing/2014/main" id="{C501B2A7-2967-44FA-A70C-C4BB4FCEF72D}"/>
              </a:ext>
            </a:extLst>
          </p:cNvPr>
          <p:cNvSpPr>
            <a:spLocks xmlns:a="http://schemas.openxmlformats.org/drawingml/2006/main" noGrp="1"/>
          </p:cNvSpPr>
          <p:nvPr/>
        </p:nvSpPr>
        <p:spPr>
          <a:xfrm xmlns:a="http://schemas.openxmlformats.org/drawingml/2006/main">
            <a:off x="11525250" y="64484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777777"/>
                </a:solidFill>
              </a:defRPr>
            </a:defPPr>
          </a:lstStyle>
          <a:p xmlns:a="http://schemas.openxmlformats.org/drawingml/2006/main">
            <a:pPr>
              <a:defRPr sz="1050" b="0">
                <a:solidFill>
                  <a:srgbClr val="777777"/>
                </a:solidFill>
              </a:defRPr>
            </a:pPr>
            <a:r>
              <a:rPr sz="1050" b="0">
                <a:solidFill>
                  <a:srgbClr val="777777"/>
                </a:solidFill>
              </a:rPr>
              <a:t>30</a:t>
            </a:r>
          </a:p>
        </p:txBody>
      </p:sp>
      <p:sp>
        <p:nvSpPr>
          <p:cNvPr id="5" name="label">
            <a:extLst xmlns:a="http://schemas.openxmlformats.org/drawingml/2006/main">
              <a:ext uri="{FF2B5EF4-FFF2-40B4-BE49-F238E27FC236}">
                <a16:creationId xmlns:a16="http://schemas.microsoft.com/office/drawing/2014/main" id="{EEC19665-F984-4CB9-AE6A-7B44B9498A09}"/>
              </a:ext>
            </a:extLst>
          </p:cNvPr>
          <p:cNvSpPr>
            <a:spLocks xmlns:a="http://schemas.openxmlformats.org/drawingml/2006/main" noGrp="1"/>
          </p:cNvSpPr>
          <p:nvPr/>
        </p:nvSpPr>
        <p:spPr>
          <a:xfrm xmlns:a="http://schemas.openxmlformats.org/drawingml/2006/main">
            <a:off x="457200" y="120015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0581F"/>
                </a:solidFill>
              </a:defRPr>
            </a:defPPr>
          </a:lstStyle>
          <a:p xmlns:a="http://schemas.openxmlformats.org/drawingml/2006/main">
            <a:pPr>
              <a:defRPr sz="1950" b="1">
                <a:solidFill>
                  <a:srgbClr val="C0581F"/>
                </a:solidFill>
              </a:defRPr>
            </a:pPr>
            <a:r>
              <a:rPr sz="1950" b="1">
                <a:solidFill>
                  <a:srgbClr val="C0581F"/>
                </a:solidFill>
              </a:rPr>
              <a:t>OFFLINE ONLY. No real semantic-review validation.</a:t>
            </a:r>
          </a:p>
        </p:txBody>
      </p:sp>
      <p:sp>
        <p:nvSpPr>
          <p:cNvPr id="6" name="definition">
            <a:extLst xmlns:a="http://schemas.openxmlformats.org/drawingml/2006/main">
              <a:ext uri="{FF2B5EF4-FFF2-40B4-BE49-F238E27FC236}">
                <a16:creationId xmlns:a16="http://schemas.microsoft.com/office/drawing/2014/main" id="{061BFB8D-EC88-45D3-99D1-2E47C80E009B}"/>
              </a:ext>
            </a:extLst>
          </p:cNvPr>
          <p:cNvSpPr>
            <a:spLocks xmlns:a="http://schemas.openxmlformats.org/drawingml/2006/main" noGrp="1"/>
          </p:cNvSpPr>
          <p:nvPr/>
        </p:nvSpPr>
        <p:spPr>
          <a:xfrm xmlns:a="http://schemas.openxmlformats.org/drawingml/2006/main">
            <a:off x="457200" y="1905000"/>
            <a:ext cx="11144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F7E"/>
                </a:solidFill>
              </a:defRPr>
            </a:defPPr>
          </a:lstStyle>
          <a:p xmlns:a="http://schemas.openxmlformats.org/drawingml/2006/main">
            <a:pPr>
              <a:defRPr sz="2100" b="0">
                <a:solidFill>
                  <a:srgbClr val="173F7E"/>
                </a:solidFill>
              </a:defRPr>
            </a:pPr>
            <a:r>
              <a:rPr sz="2100" b="0">
                <a:solidFill>
                  <a:srgbClr val="173F7E"/>
                </a:solidFill>
              </a:rPr>
              <a:t>STANDARD_POLICY passes only when:</a:t>
            </a:r>
          </a:p>
          <a:p xmlns:a="http://schemas.openxmlformats.org/drawingml/2006/main">
            <a:pPr>
              <a:defRPr sz="2100" b="0">
                <a:solidFill>
                  <a:srgbClr val="173F7E"/>
                </a:solidFill>
              </a:defRPr>
            </a:pPr>
            <a:r>
              <a:rPr sz="2100" b="0">
                <a:solidFill>
                  <a:srgbClr val="173F7E"/>
                </a:solidFill>
              </a:rPr>
              <a:t>The answer expresses all three necessary standard conditions.</a:t>
            </a:r>
          </a:p>
          <a:p xmlns:a="http://schemas.openxmlformats.org/drawingml/2006/main">
            <a:pPr>
              <a:defRPr sz="2100" b="0">
                <a:solidFill>
                  <a:srgbClr val="173F7E"/>
                </a:solidFill>
              </a:defRPr>
            </a:pPr>
            <a:r>
              <a:rPr sz="2100" b="0">
                <a:solidFill>
                  <a:srgbClr val="173F7E"/>
                </a:solidFill>
              </a:rPr>
              <a:t>The whole answer contains no contrary policy assertion by the answerer.</a:t>
            </a:r>
          </a:p>
        </p:txBody>
      </p:sp>
      <p:sp>
        <p:nvSpPr>
          <p:cNvPr id="7" name="attribution">
            <a:extLst xmlns:a="http://schemas.openxmlformats.org/drawingml/2006/main">
              <a:ext uri="{FF2B5EF4-FFF2-40B4-BE49-F238E27FC236}">
                <a16:creationId xmlns:a16="http://schemas.microsoft.com/office/drawing/2014/main" id="{CD03D1C1-F708-4EEB-BE93-5F481BD93D26}"/>
              </a:ext>
            </a:extLst>
          </p:cNvPr>
          <p:cNvSpPr>
            <a:spLocks xmlns:a="http://schemas.openxmlformats.org/drawingml/2006/main" noGrp="1"/>
          </p:cNvSpPr>
          <p:nvPr/>
        </p:nvSpPr>
        <p:spPr>
          <a:xfrm xmlns:a="http://schemas.openxmlformats.org/drawingml/2006/main">
            <a:off x="457200" y="3581400"/>
            <a:ext cx="11144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3333"/>
                </a:solidFill>
              </a:defRPr>
            </a:defPPr>
          </a:lstStyle>
          <a:p xmlns:a="http://schemas.openxmlformats.org/drawingml/2006/main">
            <a:pPr>
              <a:defRPr sz="1800" b="0">
                <a:solidFill>
                  <a:srgbClr val="333333"/>
                </a:solidFill>
              </a:defRPr>
            </a:pPr>
            <a:r>
              <a:rPr sz="1800" b="0">
                <a:solidFill>
                  <a:srgbClr val="333333"/>
                </a:solidFill>
              </a:rPr>
              <a:t>A customer quotation or explicitly corrected error is not automatically an endorsed policy claim. Negation alone is not a violation.</a:t>
            </a:r>
          </a:p>
          <a:p xmlns:a="http://schemas.openxmlformats.org/drawingml/2006/main">
            <a:r>
              <a:t/>
            </a:r>
          </a:p>
          <a:p xmlns:a="http://schemas.openxmlformats.org/drawingml/2006/main">
            <a:pPr>
              <a:defRPr sz="1800" b="0">
                <a:solidFill>
                  <a:srgbClr val="333333"/>
                </a:solidFill>
              </a:defRPr>
            </a:pPr>
            <a:r>
              <a:rPr sz="1800" b="0">
                <a:solidFill>
                  <a:srgbClr val="333333"/>
                </a:solidFill>
              </a:rPr>
              <a:t>EXTRA_CLAIMS_AUTHORIZED may also fail, but cannot replace the required STANDARD_POLICY judgment.</a:t>
            </a:r>
          </a:p>
        </p:txBody>
      </p:sp>
      <p:sp>
        <p:nvSpPr>
          <p:cNvPr id="8" name="checks">
            <a:extLst xmlns:a="http://schemas.openxmlformats.org/drawingml/2006/main">
              <a:ext uri="{FF2B5EF4-FFF2-40B4-BE49-F238E27FC236}">
                <a16:creationId xmlns:a16="http://schemas.microsoft.com/office/drawing/2014/main" id="{6EF30076-665B-48EB-9C6C-88023EF463EE}"/>
              </a:ext>
            </a:extLst>
          </p:cNvPr>
          <p:cNvSpPr>
            <a:spLocks xmlns:a="http://schemas.openxmlformats.org/drawingml/2006/main" noGrp="1"/>
          </p:cNvSpPr>
          <p:nvPr/>
        </p:nvSpPr>
        <p:spPr>
          <a:xfrm xmlns:a="http://schemas.openxmlformats.org/drawingml/2006/main">
            <a:off x="457200" y="53911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95959"/>
                </a:solidFill>
              </a:defRPr>
            </a:defPPr>
          </a:lstStyle>
          <a:p xmlns:a="http://schemas.openxmlformats.org/drawingml/2006/main">
            <a:pPr>
              <a:defRPr sz="1575" b="0">
                <a:solidFill>
                  <a:srgbClr val="595959"/>
                </a:solidFill>
              </a:defRPr>
            </a:pPr>
            <a:r>
              <a:rPr sz="1575" b="0">
                <a:solidFill>
                  <a:srgbClr val="595959"/>
                </a:solidFill>
              </a:rPr>
              <a:t>15 AI reference texts. Offline checks confirm request inclusion, unchanged originals and version isolation. Reviewer qualification and Worker route remain unchanged.</a:t>
            </a:r>
          </a:p>
        </p:txBody>
      </p:sp>
    </p:spTree>
    <p:extLst>
      <p:ext uri="{BB962C8B-B14F-4D97-AF65-F5344CB8AC3E}">
        <p14:creationId xmlns:p14="http://schemas.microsoft.com/office/powerpoint/2010/main" val="110311976"/>
      </p:ext>
    </p:extLst>
  </p:cSld>
</p:sld>
</file>

<file path=ppt/theme/theme1.xml><?xml version="1.0" encoding="utf-8"?>
<a:theme xmlns:a="http://schemas.openxmlformats.org/drawingml/2006/main" name="ReleaseGuard NUS">
  <a:themeElements>
    <a:clrScheme name="ReleaseGuard NUS">
      <a:dk1>
        <a:srgbClr val="1A1A1A"/>
      </a:dk1>
      <a:lt1>
        <a:srgbClr val="FFFFFF"/>
      </a:lt1>
      <a:dk2>
        <a:srgbClr val="173F7E"/>
      </a:dk2>
      <a:lt2>
        <a:srgbClr val="EEF3FA"/>
      </a:lt2>
      <a:accent1>
        <a:srgbClr val="4882DE"/>
      </a:accent1>
      <a:accent2>
        <a:srgbClr val="7ACFF5"/>
      </a:accent2>
      <a:accent3>
        <a:srgbClr val="F2873A"/>
      </a:accent3>
      <a:accent4>
        <a:srgbClr val="13B8CC"/>
      </a:accent4>
      <a:accent5>
        <a:srgbClr val="EC5A9D"/>
      </a:accent5>
      <a:accent6>
        <a:srgbClr val="2E9B3A"/>
      </a:accent6>
      <a:hlink>
        <a:srgbClr val="0070C0"/>
      </a:hlink>
      <a:folHlink>
        <a:srgbClr val="7F3F98"/>
      </a:folHlink>
    </a:clrScheme>
    <a:fontScheme name="ReleaseGuard N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leaseGuard NU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2026-10-21T08:37:30.6650000Z</dcterms:created>
  <dcterms:modified xsi:type="dcterms:W3CDTF">2026-10-21T08:37:30.6650000Z</dcterms:modified>
</coreProperties>
</file>