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cc99affff043a2" /><Relationship Type="http://schemas.openxmlformats.org/officeDocument/2006/relationships/extended-properties" Target="/docProps/app.xml" Id="Rcd95657053d64310" /><Relationship Type="http://schemas.openxmlformats.org/officeDocument/2006/relationships/officeDocument" Target="/ppt/presentation.xml" Id="Rfe54a5fbfadd441d" /></Relationships>
</file>

<file path=ppt/presentation.xml><?xml version="1.0" encoding="utf-8"?>
<p:presentation xmlns:p="http://schemas.openxmlformats.org/presentationml/2006/main">
  <p:sldMasterIdLst>
    <p:sldMasterId xmlns:r="http://schemas.openxmlformats.org/officeDocument/2006/relationships" id="2147483648" r:id="R76aac73ff7834093"/>
  </p:sldMasterIdLst>
  <p:notesMasterIdLst>
    <p:notesMasterId xmlns:r="http://schemas.openxmlformats.org/officeDocument/2006/relationships" r:id="R1423051ddae343ef"/>
  </p:notesMasterIdLst>
  <p:sldIdLst>
    <p:sldId xmlns:r="http://schemas.openxmlformats.org/officeDocument/2006/relationships" id="256" r:id="Rd39019d1b52c4a30"/>
    <p:sldId xmlns:r="http://schemas.openxmlformats.org/officeDocument/2006/relationships" id="257" r:id="R960ff0e484bc45ae"/>
    <p:sldId xmlns:r="http://schemas.openxmlformats.org/officeDocument/2006/relationships" id="258" r:id="R508f026837ab4ddb"/>
    <p:sldId xmlns:r="http://schemas.openxmlformats.org/officeDocument/2006/relationships" id="259" r:id="R69daee24f3754656"/>
    <p:sldId xmlns:r="http://schemas.openxmlformats.org/officeDocument/2006/relationships" id="260" r:id="Rfeee5e0a34a34b82"/>
    <p:sldId xmlns:r="http://schemas.openxmlformats.org/officeDocument/2006/relationships" id="261" r:id="R4c8c72be758f4656"/>
    <p:sldId xmlns:r="http://schemas.openxmlformats.org/officeDocument/2006/relationships" id="262" r:id="R3e68a52d301d448b"/>
    <p:sldId xmlns:r="http://schemas.openxmlformats.org/officeDocument/2006/relationships" id="263" r:id="Rc4b4ae109cbc496d"/>
    <p:sldId xmlns:r="http://schemas.openxmlformats.org/officeDocument/2006/relationships" id="264" r:id="Re26401da9a384dbe"/>
    <p:sldId xmlns:r="http://schemas.openxmlformats.org/officeDocument/2006/relationships" id="265" r:id="R74a7e6e1995445fc"/>
    <p:sldId xmlns:r="http://schemas.openxmlformats.org/officeDocument/2006/relationships" id="266" r:id="Rf08f17f5116e4dc2"/>
    <p:sldId xmlns:r="http://schemas.openxmlformats.org/officeDocument/2006/relationships" id="267" r:id="R996be173cf254e56"/>
    <p:sldId xmlns:r="http://schemas.openxmlformats.org/officeDocument/2006/relationships" id="268" r:id="R487eacabff2b4e70"/>
    <p:sldId xmlns:r="http://schemas.openxmlformats.org/officeDocument/2006/relationships" id="269" r:id="Rf6d104ca90614304"/>
    <p:sldId xmlns:r="http://schemas.openxmlformats.org/officeDocument/2006/relationships" id="270" r:id="R33757b9521d64841"/>
    <p:sldId xmlns:r="http://schemas.openxmlformats.org/officeDocument/2006/relationships" id="271" r:id="Rc9716120a6ba4dd5"/>
    <p:sldId xmlns:r="http://schemas.openxmlformats.org/officeDocument/2006/relationships" id="272" r:id="R7cb8068d82b14fa1"/>
    <p:sldId xmlns:r="http://schemas.openxmlformats.org/officeDocument/2006/relationships" id="273" r:id="R8239a20eb7b1431e"/>
    <p:sldId xmlns:r="http://schemas.openxmlformats.org/officeDocument/2006/relationships" id="274" r:id="Rb5475578b8674800"/>
    <p:sldId xmlns:r="http://schemas.openxmlformats.org/officeDocument/2006/relationships" id="275" r:id="Rdbde54cd14244df2"/>
    <p:sldId xmlns:r="http://schemas.openxmlformats.org/officeDocument/2006/relationships" id="276" r:id="R4153ee61f8ea4a13"/>
    <p:sldId xmlns:r="http://schemas.openxmlformats.org/officeDocument/2006/relationships" id="277" r:id="Re42cb52917174dcb"/>
    <p:sldId xmlns:r="http://schemas.openxmlformats.org/officeDocument/2006/relationships" id="278" r:id="Rf87081c2c9db4c74"/>
    <p:sldId xmlns:r="http://schemas.openxmlformats.org/officeDocument/2006/relationships" id="279" r:id="R9ea2ffe7b0f14b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b3656d6d524e30" /><Relationship Type="http://schemas.openxmlformats.org/officeDocument/2006/relationships/slideMaster" Target="/ppt/slideMasters/slideMaster1.xml" Id="R76aac73ff7834093" /><Relationship Type="http://schemas.openxmlformats.org/officeDocument/2006/relationships/notesMaster" Target="/ppt/notesMasters/notesMaster1.xml" Id="R1423051ddae343ef" /><Relationship Type="http://schemas.openxmlformats.org/officeDocument/2006/relationships/presProps" Target="/ppt/presProps.xml" Id="R758a4ca5d47741b0" /><Relationship Type="http://schemas.openxmlformats.org/officeDocument/2006/relationships/tableStyles" Target="/ppt/tableStyles.xml" Id="Rc5dcb093812b41c6" /><Relationship Type="http://schemas.openxmlformats.org/officeDocument/2006/relationships/slide" Target="/ppt/slides/slide1.xml" Id="Rd39019d1b52c4a30" /><Relationship Type="http://schemas.openxmlformats.org/officeDocument/2006/relationships/slide" Target="/ppt/slides/slide2.xml" Id="R960ff0e484bc45ae" /><Relationship Type="http://schemas.openxmlformats.org/officeDocument/2006/relationships/slide" Target="/ppt/slides/slide3.xml" Id="R508f026837ab4ddb" /><Relationship Type="http://schemas.openxmlformats.org/officeDocument/2006/relationships/slide" Target="/ppt/slides/slide4.xml" Id="R69daee24f3754656" /><Relationship Type="http://schemas.openxmlformats.org/officeDocument/2006/relationships/slide" Target="/ppt/slides/slide5.xml" Id="Rfeee5e0a34a34b82" /><Relationship Type="http://schemas.openxmlformats.org/officeDocument/2006/relationships/slide" Target="/ppt/slides/slide6.xml" Id="R4c8c72be758f4656" /><Relationship Type="http://schemas.openxmlformats.org/officeDocument/2006/relationships/slide" Target="/ppt/slides/slide7.xml" Id="R3e68a52d301d448b" /><Relationship Type="http://schemas.openxmlformats.org/officeDocument/2006/relationships/slide" Target="/ppt/slides/slide8.xml" Id="Rc4b4ae109cbc496d" /><Relationship Type="http://schemas.openxmlformats.org/officeDocument/2006/relationships/slide" Target="/ppt/slides/slide9.xml" Id="Re26401da9a384dbe" /><Relationship Type="http://schemas.openxmlformats.org/officeDocument/2006/relationships/slide" Target="/ppt/slides/slide10.xml" Id="R74a7e6e1995445fc" /><Relationship Type="http://schemas.openxmlformats.org/officeDocument/2006/relationships/slide" Target="/ppt/slides/slide11.xml" Id="Rf08f17f5116e4dc2" /><Relationship Type="http://schemas.openxmlformats.org/officeDocument/2006/relationships/slide" Target="/ppt/slides/slide12.xml" Id="R996be173cf254e56" /><Relationship Type="http://schemas.openxmlformats.org/officeDocument/2006/relationships/slide" Target="/ppt/slides/slide13.xml" Id="R487eacabff2b4e70" /><Relationship Type="http://schemas.openxmlformats.org/officeDocument/2006/relationships/slide" Target="/ppt/slides/slide14.xml" Id="Rf6d104ca90614304" /><Relationship Type="http://schemas.openxmlformats.org/officeDocument/2006/relationships/slide" Target="/ppt/slides/slide15.xml" Id="R33757b9521d64841" /><Relationship Type="http://schemas.openxmlformats.org/officeDocument/2006/relationships/slide" Target="/ppt/slides/slide16.xml" Id="Rc9716120a6ba4dd5" /><Relationship Type="http://schemas.openxmlformats.org/officeDocument/2006/relationships/slide" Target="/ppt/slides/slide17.xml" Id="R7cb8068d82b14fa1" /><Relationship Type="http://schemas.openxmlformats.org/officeDocument/2006/relationships/slide" Target="/ppt/slides/slide18.xml" Id="R8239a20eb7b1431e" /><Relationship Type="http://schemas.openxmlformats.org/officeDocument/2006/relationships/slide" Target="/ppt/slides/slide19.xml" Id="Rb5475578b8674800" /><Relationship Type="http://schemas.openxmlformats.org/officeDocument/2006/relationships/slide" Target="/ppt/slides/slide20.xml" Id="Rdbde54cd14244df2" /><Relationship Type="http://schemas.openxmlformats.org/officeDocument/2006/relationships/slide" Target="/ppt/slides/slide21.xml" Id="R4153ee61f8ea4a13" /><Relationship Type="http://schemas.openxmlformats.org/officeDocument/2006/relationships/slide" Target="/ppt/slides/slide22.xml" Id="Re42cb52917174dcb" /><Relationship Type="http://schemas.openxmlformats.org/officeDocument/2006/relationships/slide" Target="/ppt/slides/slide23.xml" Id="Rf87081c2c9db4c74" /><Relationship Type="http://schemas.openxmlformats.org/officeDocument/2006/relationships/slide" Target="/ppt/slides/slide24.xml" Id="R9ea2ffe7b0f14b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184bec74024c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b1e22e1fe64ff6" /><Relationship Type="http://schemas.openxmlformats.org/officeDocument/2006/relationships/notesMaster" Target="/ppt/notesMasters/notesMaster1.xml" Id="R68656da56d6d4a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b3cc21f7d44f73" /><Relationship Type="http://schemas.openxmlformats.org/officeDocument/2006/relationships/notesMaster" Target="/ppt/notesMasters/notesMaster1.xml" Id="Rbe8a4807df3d48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beb985d6a343f1" /><Relationship Type="http://schemas.openxmlformats.org/officeDocument/2006/relationships/notesMaster" Target="/ppt/notesMasters/notesMaster1.xml" Id="R08662aad535248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e55f55b80d49d2" /><Relationship Type="http://schemas.openxmlformats.org/officeDocument/2006/relationships/notesMaster" Target="/ppt/notesMasters/notesMaster1.xml" Id="R72f4417cc8594c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399924e0b442d7" /><Relationship Type="http://schemas.openxmlformats.org/officeDocument/2006/relationships/notesMaster" Target="/ppt/notesMasters/notesMaster1.xml" Id="R9a96d521b3af45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a0aefa4f4249e9" /><Relationship Type="http://schemas.openxmlformats.org/officeDocument/2006/relationships/notesMaster" Target="/ppt/notesMasters/notesMaster1.xml" Id="R86f600c5033243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529c573aab4600" /><Relationship Type="http://schemas.openxmlformats.org/officeDocument/2006/relationships/notesMaster" Target="/ppt/notesMasters/notesMaster1.xml" Id="Rd63b1e2bf88e4d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6ae834fb934af7" /><Relationship Type="http://schemas.openxmlformats.org/officeDocument/2006/relationships/notesMaster" Target="/ppt/notesMasters/notesMaster1.xml" Id="R7063e5ef12fe40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39fdf021194a04" /><Relationship Type="http://schemas.openxmlformats.org/officeDocument/2006/relationships/notesMaster" Target="/ppt/notesMasters/notesMaster1.xml" Id="Rf6cdef5fff4540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76c059343940a4" /><Relationship Type="http://schemas.openxmlformats.org/officeDocument/2006/relationships/notesMaster" Target="/ppt/notesMasters/notesMaster1.xml" Id="Rffb1c0f4d05045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364daf724a4743" /><Relationship Type="http://schemas.openxmlformats.org/officeDocument/2006/relationships/notesMaster" Target="/ppt/notesMasters/notesMaster1.xml" Id="R9afa47e84faf44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10695e466443fb" /><Relationship Type="http://schemas.openxmlformats.org/officeDocument/2006/relationships/notesMaster" Target="/ppt/notesMasters/notesMaster1.xml" Id="R7194799ebc3d49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3cdae82de645c5" /><Relationship Type="http://schemas.openxmlformats.org/officeDocument/2006/relationships/notesMaster" Target="/ppt/notesMasters/notesMaster1.xml" Id="R22b4a88f540244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26eb96eae64f0d" /><Relationship Type="http://schemas.openxmlformats.org/officeDocument/2006/relationships/notesMaster" Target="/ppt/notesMasters/notesMaster1.xml" Id="Rd97ced3dbd274c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04588161424d96" /><Relationship Type="http://schemas.openxmlformats.org/officeDocument/2006/relationships/notesMaster" Target="/ppt/notesMasters/notesMaster1.xml" Id="R9390fbc1d0884d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5cbbb7253341db" /><Relationship Type="http://schemas.openxmlformats.org/officeDocument/2006/relationships/notesMaster" Target="/ppt/notesMasters/notesMaster1.xml" Id="R86e58597c50b433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c814b52187425a" /><Relationship Type="http://schemas.openxmlformats.org/officeDocument/2006/relationships/notesMaster" Target="/ppt/notesMasters/notesMaster1.xml" Id="R817b03dc254f4ee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abb437bf9841b2" /><Relationship Type="http://schemas.openxmlformats.org/officeDocument/2006/relationships/notesMaster" Target="/ppt/notesMasters/notesMaster1.xml" Id="Rcb2b21dda50f49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bc97d988dc40ad" /><Relationship Type="http://schemas.openxmlformats.org/officeDocument/2006/relationships/notesMaster" Target="/ppt/notesMasters/notesMaster1.xml" Id="Rcc8cb8334a0d473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eac30bfc9d341df" /><Relationship Type="http://schemas.openxmlformats.org/officeDocument/2006/relationships/notesMaster" Target="/ppt/notesMasters/notesMaster1.xml" Id="Rced5593a05e34d8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0039d3556584f71" /><Relationship Type="http://schemas.openxmlformats.org/officeDocument/2006/relationships/notesMaster" Target="/ppt/notesMasters/notesMaster1.xml" Id="R932e2d5932c443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5ae8ebaa464786" /><Relationship Type="http://schemas.openxmlformats.org/officeDocument/2006/relationships/notesMaster" Target="/ppt/notesMasters/notesMaster1.xml" Id="R22aae88646c841d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90d575c74124754" /><Relationship Type="http://schemas.openxmlformats.org/officeDocument/2006/relationships/notesMaster" Target="/ppt/notesMasters/notesMaster1.xml" Id="R339827ed43714f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ab80ff42da641cf" /><Relationship Type="http://schemas.openxmlformats.org/officeDocument/2006/relationships/notesMaster" Target="/ppt/notesMasters/notesMaster1.xml" Id="Rd2b72257e9d742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a:t>
            </a:r>
          </a:p>
          <a:p xmlns:a="http://schemas.openxmlformats.org/drawingml/2006/main">
            <a:r>
              <a:t>Target duration: 0.5 minutes</a:t>
            </a:r>
          </a:p>
          <a:p xmlns:a="http://schemas.openxmlformats.org/drawingml/2006/main">
            <a:r>
              <a:t/>
            </a:r>
          </a:p>
          <a:p xmlns:a="http://schemas.openxmlformats.org/drawingml/2006/main">
            <a:r>
              <a:t>Key points and spoken script</a:t>
            </a:r>
          </a:p>
          <a:p xmlns:a="http://schemas.openxmlformats.org/drawingml/2006/main">
            <a:r>
              <a:t>Good morning. We are Team 13. ReleaseGuard helps an application team examine the evidence for a candidate change before a different person makes a release decision. Our example consumer is a fictional returns assistant. We will show the complete platform workflow, explain the service boundaries, and replay the model experiments that exposed the limits of our early evaluation approach. The platform and the experimental semantic reviewer have different readiness states. We will keep those states visible throughout the presentation.</a:t>
            </a:r>
          </a:p>
          <a:p xmlns:a="http://schemas.openxmlformats.org/drawingml/2006/main">
            <a:r>
              <a:t/>
            </a:r>
          </a:p>
          <a:p xmlns:a="http://schemas.openxmlformats.org/drawingml/2006/main">
            <a:r>
              <a:t>Chinese rehearsal prompt</a:t>
            </a:r>
          </a:p>
          <a:p xmlns:a="http://schemas.openxmlformats.org/drawingml/2006/main">
            <a:r>
              <a:t>先说明平台用途。客服只是消费应用，评审 v3 仍为影子实验。</a:t>
            </a:r>
          </a:p>
          <a:p xmlns:a="http://schemas.openxmlformats.org/drawingml/2006/main">
            <a:r>
              <a:t/>
            </a:r>
          </a:p>
          <a:p xmlns:a="http://schemas.openxmlformats.org/drawingml/2006/main">
            <a:r>
              <a:t>Switch / demo cue</a:t>
            </a:r>
          </a:p>
          <a:p xmlns:a="http://schemas.openxmlformats.org/drawingml/2006/main">
            <a:r>
              <a:t>Start timer. Show branch name only in notes.</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a:t>
            </a:r>
          </a:p>
          <a:p xmlns:a="http://schemas.openxmlformats.org/drawingml/2006/main">
            <a:r>
              <a:t>Target duration: 1 minutes</a:t>
            </a:r>
          </a:p>
          <a:p xmlns:a="http://schemas.openxmlformats.org/drawingml/2006/main">
            <a:r>
              <a:t/>
            </a:r>
          </a:p>
          <a:p xmlns:a="http://schemas.openxmlformats.org/drawingml/2006/main">
            <a:r>
              <a:t>Key points and spoken script</a:t>
            </a:r>
          </a:p>
          <a:p xmlns:a="http://schemas.openxmlformats.org/drawingml/2006/main">
            <a:r>
              <a:t>A prompt change can produce a convincing answer while omitting a required question, inventing a refund action or contradicting its own JSON. A single aggregate score makes those differences difficult to investigate. We therefore record the candidate, the exact suite version and each original output together. Contributors can submit an evaluation and request review. A different reviewer can approve or reject the captured evidence. GitHub manages our code and CI. ReleaseGuard adds an application evaluation and review workflow, so we do not present it as a replacement for GitHub. We did not train a new model or connect real customer records. All return-policy cases in this presentation are fictional.</a:t>
            </a:r>
          </a:p>
          <a:p xmlns:a="http://schemas.openxmlformats.org/drawingml/2006/main">
            <a:r>
              <a:t/>
            </a:r>
          </a:p>
          <a:p xmlns:a="http://schemas.openxmlformats.org/drawingml/2006/main">
            <a:r>
              <a:t>Chinese rehearsal prompt</a:t>
            </a:r>
          </a:p>
          <a:p xmlns:a="http://schemas.openxmlformats.org/drawingml/2006/main">
            <a:r>
              <a:t>解释业务问题与目标用户，不说已经替企业处理客户。</a:t>
            </a:r>
          </a:p>
          <a:p xmlns:a="http://schemas.openxmlformats.org/drawingml/2006/main">
            <a:r>
              <a:t/>
            </a:r>
          </a:p>
          <a:p xmlns:a="http://schemas.openxmlformats.org/drawingml/2006/main">
            <a:r>
              <a:t>Switch / demo cue</a:t>
            </a:r>
          </a:p>
          <a:p xmlns:a="http://schemas.openxmlformats.org/drawingml/2006/main">
            <a:r>
              <a:t>Introduce B after project conduct.</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a:t>
            </a:r>
          </a:p>
          <a:p xmlns:a="http://schemas.openxmlformats.org/drawingml/2006/main">
            <a:r>
              <a:t>Target duration: 1.5 minutes</a:t>
            </a:r>
          </a:p>
          <a:p xmlns:a="http://schemas.openxmlformats.org/drawingml/2006/main">
            <a:r>
              <a:t/>
            </a:r>
          </a:p>
          <a:p xmlns:a="http://schemas.openxmlformats.org/drawingml/2006/main">
            <a:r>
              <a:t>Key points and spoken script</a:t>
            </a:r>
          </a:p>
          <a:p xmlns:a="http://schemas.openxmlformats.org/drawingml/2006/main">
            <a:r>
              <a:t>Our two planned sprints are 8 to 13 October and 14 to 20 October. The first target was a complete evaluation and review flow. The second target was validation, recovery and evidence for acceptance. Dated records show cloud and pipeline experiments on 11 October, UAT and API work on 14 and 15 October, and model and reviewer experiments through 19 October. These are observed milestones, not a claim that every planned task finished on its due date. Actual hours and a team retrospective meeting have not been recorded. Our fresh clean checkout builds, but the full test command retains one failed acceptance test for a rejected evaluator candidate. We keep that failure visible. The remaining acceptance work includes genuine peer review, final multi-person UAT and a timed team rehearsal.</a:t>
            </a:r>
          </a:p>
          <a:p xmlns:a="http://schemas.openxmlformats.org/drawingml/2006/main">
            <a:r>
              <a:t/>
            </a:r>
          </a:p>
          <a:p xmlns:a="http://schemas.openxmlformats.org/drawingml/2006/main">
            <a:r>
              <a:t>Chinese rehearsal prompt</a:t>
            </a:r>
          </a:p>
          <a:p xmlns:a="http://schemas.openxmlformats.org/drawingml/2006/main">
            <a:r>
              <a:t>两轮是原计划；实际小时、正式回顾会议均未记录。准确说 776/777，不说全绿。</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a:t>
            </a:r>
          </a:p>
          <a:p xmlns:a="http://schemas.openxmlformats.org/drawingml/2006/main">
            <a:r>
              <a:t>Target duration: 1 minutes</a:t>
            </a:r>
          </a:p>
          <a:p xmlns:a="http://schemas.openxmlformats.org/drawingml/2006/main">
            <a:r>
              <a:t/>
            </a:r>
          </a:p>
          <a:p xmlns:a="http://schemas.openxmlformats.org/drawingml/2006/main">
            <a:r>
              <a:t>Key points and spoken script</a:t>
            </a:r>
          </a:p>
          <a:p xmlns:a="http://schemas.openxmlformats.org/drawingml/2006/main">
            <a:r>
              <a:t>The five responsibility areas remain unchanged. Tang Yuchen leads requirements, UI and UAT. Zhu Pengxu owns API and data invariants. Lin Xinda owns the consumer adapter and evaluation experiments. Liao Can owns deployment and the pipeline. Liao Binfeng owns quality testing. These are responsibilities, not measured hours or proof of individual authorship. The cumulative preparation work used AI assistance, while member-specific records need their actual authors to confirm them. Our definition of done requires a reproducible result, preserved evidence, enforced permissions and review. The semantic reviewer meets its limited development checks, but does not yet meet production calibration. Zhu Pengxu will now explain why we chose these service boundaries.</a:t>
            </a:r>
          </a:p>
          <a:p xmlns:a="http://schemas.openxmlformats.org/drawingml/2006/main">
            <a:r>
              <a:t/>
            </a:r>
          </a:p>
          <a:p xmlns:a="http://schemas.openxmlformats.org/drawingml/2006/main">
            <a:r>
              <a:t>Chinese rehearsal prompt</a:t>
            </a:r>
          </a:p>
          <a:p xmlns:a="http://schemas.openxmlformats.org/drawingml/2006/main">
            <a:r>
              <a:t>分工表代表责任；共同基线和工具辅助产出不能算成某组员独立贡献。</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a:t>
            </a:r>
          </a:p>
          <a:p xmlns:a="http://schemas.openxmlformats.org/drawingml/2006/main">
            <a:r>
              <a:t>Target duration: 1.5 minutes</a:t>
            </a:r>
          </a:p>
          <a:p xmlns:a="http://schemas.openxmlformats.org/drawingml/2006/main">
            <a:r>
              <a:t/>
            </a:r>
          </a:p>
          <a:p xmlns:a="http://schemas.openxmlformats.org/drawingml/2006/main">
            <a:r>
              <a:t>Key points and spoken script</a:t>
            </a:r>
          </a:p>
          <a:p xmlns:a="http://schemas.openxmlformats.org/drawingml/2006/main">
            <a:r>
              <a:t>We applied domain-driven design to consistency and ownership boundaries. Test Assets owns applications and immutable suite versions. Evaluation owns jobs, the transactional outbox, leases and results. Review and Evidence owns release requests and audit records. A worker is an executor inside Evaluation, rather than a fourth business context. The gateway routes public requests and applies boundary controls. The support adapter isolates provider details from the platform. Each business service has its own database and login, although the local stack shares one PostgreSQL instance. Services run as separate processes. A common image and monorepo simplify this course implementation but leave release coupling. This is the implemented logical design. We do not describe every box as an independently autonomous product.</a:t>
            </a:r>
          </a:p>
          <a:p xmlns:a="http://schemas.openxmlformats.org/drawingml/2006/main">
            <a:r>
              <a:t/>
            </a:r>
          </a:p>
          <a:p xmlns:a="http://schemas.openxmlformats.org/drawingml/2006/main">
            <a:r>
              <a:t>Chinese rehearsal prompt</a:t>
            </a:r>
          </a:p>
          <a:p xmlns:a="http://schemas.openxmlformats.org/drawingml/2006/main">
            <a:r>
              <a:t>DDD 的边界依据是业务一致性与数据所有权，不是一人一个服务。</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a:t>
            </a:r>
          </a:p>
          <a:p xmlns:a="http://schemas.openxmlformats.org/drawingml/2006/main">
            <a:r>
              <a:t>Target duration: 1.5 minutes</a:t>
            </a:r>
          </a:p>
          <a:p xmlns:a="http://schemas.openxmlformats.org/drawingml/2006/main">
            <a:r>
              <a:t/>
            </a:r>
          </a:p>
          <a:p xmlns:a="http://schemas.openxmlformats.org/drawingml/2006/main">
            <a:r>
              <a:t>Key points and spoken script</a:t>
            </a:r>
          </a:p>
          <a:p xmlns:a="http://schemas.openxmlformats.org/drawingml/2006/main">
            <a:r>
              <a:t>Consider a contributor submitting a prompt candidate. Evaluation first checks the workspace idempotency key and obtains an immutable asset snapshot. It commits the job and its outbox entry in the same database transaction. The publisher sends a persistent notification and waits for a broker confirmation. Duplicate notifications can still occur, so the worker conditionally claims the job and records a lease. The final database update requires the same active lease. This prevents a stale worker from overwriting a later result. Replay and imported work have bounded recovery attempts. Real-provider jobs permit one execution attempt and require explicit resubmission after recovery failure. We claim at-least-once notification and guarded state transitions, not exactly-once external execution. Review copies the passing evidence so a later decision does not depend on live upstream data.</a:t>
            </a:r>
          </a:p>
          <a:p xmlns:a="http://schemas.openxmlformats.org/drawingml/2006/main">
            <a:r>
              <a:t/>
            </a:r>
          </a:p>
          <a:p xmlns:a="http://schemas.openxmlformats.org/drawingml/2006/main">
            <a:r>
              <a:t>Chinese rehearsal prompt</a:t>
            </a:r>
          </a:p>
          <a:p xmlns:a="http://schemas.openxmlformats.org/drawingml/2006/main">
            <a:r>
              <a:t>讲解事务 outbox、幂等、租约，不说外部模型 exactly-once。</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a:t>
            </a:r>
          </a:p>
          <a:p xmlns:a="http://schemas.openxmlformats.org/drawingml/2006/main">
            <a:r>
              <a:t>Target duration: 1 minutes</a:t>
            </a:r>
          </a:p>
          <a:p xmlns:a="http://schemas.openxmlformats.org/drawingml/2006/main">
            <a:r>
              <a:t/>
            </a:r>
          </a:p>
          <a:p xmlns:a="http://schemas.openxmlformats.org/drawingml/2006/main">
            <a:r>
              <a:t>Key points and spoken script</a:t>
            </a:r>
          </a:p>
          <a:p xmlns:a="http://schemas.openxmlformats.org/drawingml/2006/main">
            <a:r>
              <a:t>The database design follows the same boundaries. Test Assets relates suite versions through a parent identifier. Evaluation relates outbox entries to jobs and stores the immutable input snapshot with each job. Review stores its own evidence copy and audit sequence. Cross-context relationships use API snapshots and identifiers rather than foreign keys across databases. The transactional outbox addresses database-to-broker reliability. Optimistic review versions and row locking protect the terminal decision. The provider adapter is an anti-corruption layer for bounded output and errors. These are patterns we can point to in the source. We do not add names such as Saga or CQRS merely to fill a presentation requirement.</a:t>
            </a:r>
          </a:p>
          <a:p xmlns:a="http://schemas.openxmlformats.org/drawingml/2006/main">
            <a:r>
              <a:t/>
            </a:r>
          </a:p>
          <a:p xmlns:a="http://schemas.openxmlformats.org/drawingml/2006/main">
            <a:r>
              <a:t>Chinese rehearsal prompt</a:t>
            </a:r>
          </a:p>
          <a:p xmlns:a="http://schemas.openxmlformats.org/drawingml/2006/main">
            <a:r>
              <a:t>模式只讲代码中存在的：outbox、版本检查、adapter。</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a:t>
            </a:r>
          </a:p>
          <a:p xmlns:a="http://schemas.openxmlformats.org/drawingml/2006/main">
            <a:r>
              <a:t>Target duration: 1 minutes</a:t>
            </a:r>
          </a:p>
          <a:p xmlns:a="http://schemas.openxmlformats.org/drawingml/2006/main">
            <a:r>
              <a:t/>
            </a:r>
          </a:p>
          <a:p xmlns:a="http://schemas.openxmlformats.org/drawingml/2006/main">
            <a:r>
              <a:t>Key points and spoken script</a:t>
            </a:r>
          </a:p>
          <a:p xmlns:a="http://schemas.openxmlformats.org/drawingml/2006/main">
            <a:r>
              <a:t>The local runtime uses Docker Compose. The historical cloud trial used Google Kubernetes Engine in Singapore, with HTTPS, OIDC and TLS for internal stateful connections. Dated experiments include API security, image rollback, logical restore and queue-driven worker scaling. The scaling evidence includes failures before a controlled pause scenario reached three ready workers and later returned to one. That result demonstrates scaler behaviour under that stimulus. It does not establish sustained provider throughput, high availability or linear speedup. We have not restarted cloud resources for this presentation preparation. For the live system segment, we use the existing local baseline and display its image identity. The v3 evidence is replayed separately from that runtime.</a:t>
            </a:r>
          </a:p>
          <a:p xmlns:a="http://schemas.openxmlformats.org/drawingml/2006/main">
            <a:r>
              <a:t/>
            </a:r>
          </a:p>
          <a:p xmlns:a="http://schemas.openxmlformats.org/drawingml/2006/main">
            <a:r>
              <a:t>Chinese rehearsal prompt</a:t>
            </a:r>
          </a:p>
          <a:p xmlns:a="http://schemas.openxmlformats.org/drawingml/2006/main">
            <a:r>
              <a:t>历史云结果不能变成本轮部署证据；本地运行版本与源码要分开。</a:t>
            </a:r>
          </a:p>
          <a:p xmlns:a="http://schemas.openxmlformats.org/drawingml/2006/main">
            <a:r>
              <a:t/>
            </a:r>
          </a:p>
          <a:p xmlns:a="http://schemas.openxmlformats.org/drawingml/2006/main">
            <a:r>
              <a:t>Switch / demo cue</a:t>
            </a:r>
          </a:p>
          <a:p xmlns:a="http://schemas.openxmlformats.org/drawingml/2006/main">
            <a:r>
              <a:t>Hand to E for test taxonomy.</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 · LIAO BINFENG</a:t>
            </a:r>
          </a:p>
          <a:p xmlns:a="http://schemas.openxmlformats.org/drawingml/2006/main">
            <a:r>
              <a:t>Target duration: 1.5 minutes</a:t>
            </a:r>
          </a:p>
          <a:p xmlns:a="http://schemas.openxmlformats.org/drawingml/2006/main">
            <a:r>
              <a:t/>
            </a:r>
          </a:p>
          <a:p xmlns:a="http://schemas.openxmlformats.org/drawingml/2006/main">
            <a:r>
              <a:t>Key points and spoken script</a:t>
            </a:r>
          </a:p>
          <a:p xmlns:a="http://schemas.openxmlformats.org/drawingml/2006/main">
            <a:r>
              <a:t>We classify evidence by what it can establish. Unit and contract tests check deterministic program behaviour. Integration scripts use real local services and databases. Security tests exercise authentication, tenant scope and review invariants. Performance runs use labelled replay and describe only the tested environment. Real model generation and real model review are separate experiments. In a fresh clean checkout, the TypeScript build succeeds. The full command has 777 tests: 776 pass and one rejected evaluator acceptance test fails. The targeted v3 protocol and transport tests pass 12 out of 12. We retain the old holdout failure and do not remove it to make CI green. Synthetic fixtures demonstrate expected program behaviour, but they are not model-generated answers or independent human UAT.</a:t>
            </a:r>
          </a:p>
          <a:p xmlns:a="http://schemas.openxmlformats.org/drawingml/2006/main">
            <a:r>
              <a:t/>
            </a:r>
          </a:p>
          <a:p xmlns:a="http://schemas.openxmlformats.org/drawingml/2006/main">
            <a:r>
              <a:t>Chinese rehearsal prompt</a:t>
            </a:r>
          </a:p>
          <a:p xmlns:a="http://schemas.openxmlformats.org/drawingml/2006/main">
            <a:r>
              <a:t>代码测试、合成数据、历史回放、真实生成、真实评审分别计数。</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 · LIN XINDA</a:t>
            </a:r>
          </a:p>
          <a:p xmlns:a="http://schemas.openxmlformats.org/drawingml/2006/main">
            <a:r>
              <a:t>Target duration: 1.5 minutes</a:t>
            </a:r>
          </a:p>
          <a:p xmlns:a="http://schemas.openxmlformats.org/drawingml/2006/main">
            <a:r>
              <a:t/>
            </a:r>
          </a:p>
          <a:p xmlns:a="http://schemas.openxmlformats.org/drawingml/2006/main">
            <a:r>
              <a:t>Key points and spoken script</a:t>
            </a:r>
          </a:p>
          <a:p xmlns:a="http://schemas.openxmlformats.org/drawingml/2006/main">
            <a:r>
              <a:t>Our early rules could accept one phrase and miss a contradictory sentence, or reject a valid paraphrase. We added explicit contracts, but the next handwritten evaluator still failed its independent holdout. The Hybrid design therefore separates deterministic checks from semantic judgment. The first real reviewer experiment also exposed transport failures. JSON mode did not guarantee our schema, and asking the model to calculate character offsets increased errors. Strict schema and programmatic quote location improved this. A later pilot stopped because evidence and missingReason conflicted. Version 3 keeps status, reason and exact evidence quotes in the model output, while the program derives coordinates and provenance. The two v3 runs then passed their stated development criteria. Original customer-generation scores remain 70 and 75. Reviewer success has not changed those scores.</a:t>
            </a:r>
          </a:p>
          <a:p xmlns:a="http://schemas.openxmlformats.org/drawingml/2006/main">
            <a:r>
              <a:t/>
            </a:r>
          </a:p>
          <a:p xmlns:a="http://schemas.openxmlformats.org/drawingml/2006/main">
            <a:r>
              <a:t>Chinese rehearsal prompt</a:t>
            </a:r>
          </a:p>
          <a:p xmlns:a="http://schemas.openxmlformats.org/drawingml/2006/main">
            <a:r>
              <a:t>修复链突出根因与实证；三个样本和十七个样本分别报告。</a:t>
            </a:r>
          </a:p>
          <a:p xmlns:a="http://schemas.openxmlformats.org/drawingml/2006/main">
            <a:r>
              <a:t/>
            </a:r>
          </a:p>
          <a:p xmlns:a="http://schemas.openxmlformats.org/drawingml/2006/main">
            <a:r>
              <a:t>Switch / demo cue</a:t>
            </a:r>
          </a:p>
          <a:p xmlns:a="http://schemas.openxmlformats.org/drawingml/2006/main">
            <a:r>
              <a:t>Hand to D. Open CI bookmarks before timer reaches 12:00.</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a:t>
            </a:r>
          </a:p>
          <a:p xmlns:a="http://schemas.openxmlformats.org/drawingml/2006/main">
            <a:r>
              <a:t>Target duration: 2 minutes</a:t>
            </a:r>
          </a:p>
          <a:p xmlns:a="http://schemas.openxmlformats.org/drawingml/2006/main">
            <a:r>
              <a:t/>
            </a:r>
          </a:p>
          <a:p xmlns:a="http://schemas.openxmlformats.org/drawingml/2006/main">
            <a:r>
              <a:t>Key points and spoken script</a:t>
            </a:r>
          </a:p>
          <a:p xmlns:a="http://schemas.openxmlformats.org/drawingml/2006/main">
            <a:r>
              <a:t>This workflow starts with a clean install from the lockfile. It runs tests before building the service containers and then checks integration, contracts and fault behaviour with replay data. The dependency advisory gate uses npm audit, and the image gate uses Trivy for high and critical findings. A successful run saves a tested image and its source identity. The separate manual deployment workflow checks that the supplied CI succeeded for the same source, downloads that tested artifact and compares its image identity. The trial used workload identity federation for short-lived cloud credentials. Manual dispatch does not prove independent human approval. The new preparation branch does not automatically run CI on push because the workflow push filter selects main. We will show this condition explicitly, then open the completed historical CI and its matching deployment rather than imply that a new deployment occurred.</a:t>
            </a:r>
          </a:p>
          <a:p xmlns:a="http://schemas.openxmlformats.org/drawingml/2006/main">
            <a:r>
              <a:t/>
            </a:r>
          </a:p>
          <a:p xmlns:a="http://schemas.openxmlformats.org/drawingml/2006/main">
            <a:r>
              <a:t>Chinese rehearsal prompt</a:t>
            </a:r>
          </a:p>
          <a:p xmlns:a="http://schemas.openxmlformats.org/drawingml/2006/main">
            <a:r>
              <a:t>当前分支无新CI。演示历史同 SHA CI/CD，不能拿不同版本拼一条流水线。</a:t>
            </a:r>
          </a:p>
          <a:p xmlns:a="http://schemas.openxmlformats.org/drawingml/2006/main">
            <a:r>
              <a:t/>
            </a:r>
          </a:p>
          <a:p xmlns:a="http://schemas.openxmlformats.org/drawingml/2006/main">
            <a:r>
              <a:t>Switch / demo cue</a:t>
            </a:r>
          </a:p>
          <a:p xmlns:a="http://schemas.openxmlformats.org/drawingml/2006/main">
            <a:r>
              <a:t>CI demo starts. Time budget includes slides 11–13.</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a:t>
            </a:r>
          </a:p>
          <a:p xmlns:a="http://schemas.openxmlformats.org/drawingml/2006/main">
            <a:r>
              <a:t>Target duration: 7 minutes</a:t>
            </a:r>
          </a:p>
          <a:p xmlns:a="http://schemas.openxmlformats.org/drawingml/2006/main">
            <a:r>
              <a:t/>
            </a:r>
          </a:p>
          <a:p xmlns:a="http://schemas.openxmlformats.org/drawingml/2006/main">
            <a:r>
              <a:t>Key points and spoken script</a:t>
            </a:r>
          </a:p>
          <a:p xmlns:a="http://schemas.openxmlformats.org/drawingml/2006/main">
            <a:r>
              <a:t>First, here is our preparation branch and the exact commit being reviewed. The changes include the cumulative source and evidence plus the presentation pack. No merge into main has occurred. Next, here is the clean-checkout log. The build succeeds, but the rejected evaluator acceptance test remains red. A release workflow should stop on that result. Now we switch to a completed historical CI run. We inspect the source commit, test steps, scans and artifact identity. For the deployment relationship we use the matched CI and CD pair for source 362e8dd. We do not connect a deployment to a different source just because both links show success. These pages are historical hosted records. No workflow, model request or cloud resource is being started during this walkthrough. If the network is unavailable, our saved screenshots and local evidence viewer show the same dated records.</a:t>
            </a:r>
          </a:p>
          <a:p xmlns:a="http://schemas.openxmlformats.org/drawingml/2006/main">
            <a:r>
              <a:t/>
            </a:r>
          </a:p>
          <a:p xmlns:a="http://schemas.openxmlformats.org/drawingml/2006/main">
            <a:r>
              <a:t>Chinese rehearsal prompt</a:t>
            </a:r>
          </a:p>
          <a:p xmlns:a="http://schemas.openxmlformats.org/drawingml/2006/main">
            <a:r>
              <a:t>本段约7分钟主要操作与看日志，不连续念稿。每个页面停下来讲清 source 和结论。</a:t>
            </a:r>
          </a:p>
          <a:p xmlns:a="http://schemas.openxmlformats.org/drawingml/2006/main">
            <a:r>
              <a:t/>
            </a:r>
          </a:p>
          <a:p xmlns:a="http://schemas.openxmlformats.org/drawingml/2006/main">
            <a:r>
              <a:t>Switch / demo cue</a:t>
            </a:r>
          </a:p>
          <a:p xmlns:a="http://schemas.openxmlformats.org/drawingml/2006/main">
            <a:r>
              <a:t>Open branch, clean log, CI, then matched CD. Backup: CICD_Backup.webm.</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a:t>
            </a:r>
          </a:p>
          <a:p xmlns:a="http://schemas.openxmlformats.org/drawingml/2006/main">
            <a:r>
              <a:t>Target duration: 3 minutes</a:t>
            </a:r>
          </a:p>
          <a:p xmlns:a="http://schemas.openxmlformats.org/drawingml/2006/main">
            <a:r>
              <a:t/>
            </a:r>
          </a:p>
          <a:p xmlns:a="http://schemas.openxmlformats.org/drawingml/2006/main">
            <a:r>
              <a:t>Key points and spoken script</a:t>
            </a:r>
          </a:p>
          <a:p xmlns:a="http://schemas.openxmlformats.org/drawingml/2006/main">
            <a:r>
              <a:t>The failed runs are useful evidence. One build failed because the public fixture files were absent from the container build stage. A later source change included them and produced a successful run. Another deployment stopped when its health precondition did not hold. We kept that failure rather than bypassing the check. The historical trial also exercised image rollback and a separate logical database restore. Restoring tables into a temporary database on the same instance is a narrower result than disaster recovery. Today we are publishing reviewable source and presentation evidence. The current branch has no newly observed hosted success, and we have not deployed it. I will now hand back to Tang Yuchen to demonstrate the application workflow with replay data.</a:t>
            </a:r>
          </a:p>
          <a:p xmlns:a="http://schemas.openxmlformats.org/drawingml/2006/main">
            <a:r>
              <a:t/>
            </a:r>
          </a:p>
          <a:p xmlns:a="http://schemas.openxmlformats.org/drawingml/2006/main">
            <a:r>
              <a:t>Chinese rehearsal prompt</a:t>
            </a:r>
          </a:p>
          <a:p xmlns:a="http://schemas.openxmlformats.org/drawingml/2006/main">
            <a:r>
              <a:t>回滚、DB恢复各自是什么证据要讲清。可压缩至1分钟。</a:t>
            </a:r>
          </a:p>
          <a:p xmlns:a="http://schemas.openxmlformats.org/drawingml/2006/main">
            <a:r>
              <a:t/>
            </a:r>
          </a:p>
          <a:p xmlns:a="http://schemas.openxmlformats.org/drawingml/2006/main">
            <a:r>
              <a:t>Switch / demo cue</a:t>
            </a:r>
          </a:p>
          <a:p xmlns:a="http://schemas.openxmlformats.org/drawingml/2006/main">
            <a:r>
              <a:t>End CI segment at 24:00. Switch to local console.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a:t>
            </a:r>
          </a:p>
          <a:p xmlns:a="http://schemas.openxmlformats.org/drawingml/2006/main">
            <a:r>
              <a:t>Target duration: 5 minutes</a:t>
            </a:r>
          </a:p>
          <a:p xmlns:a="http://schemas.openxmlformats.org/drawingml/2006/main">
            <a:r>
              <a:t/>
            </a:r>
          </a:p>
          <a:p xmlns:a="http://schemas.openxmlformats.org/drawingml/2006/main">
            <a:r>
              <a:t>Key points and spoken script</a:t>
            </a:r>
          </a:p>
          <a:p xmlns:a="http://schemas.openxmlformats.org/drawingml/2006/main">
            <a:r>
              <a:t>This is the existing local course runtime. The page identifies replay data, and no provider is being called. We register an application and a fixed suite, then submit a passing replay candidate. The API accepts work asynchronously, and the worker records its result. Succeeded means execution completed. The gate result is a separate decision. We now submit the failing fixture. The job still completes, but a critical rule fails and the review request is rejected. The score cannot override that hard condition. Notice that the original answer remains visible in the evidence view. We can inspect the suite snapshot and candidate reference that produced it. Our local rehearsal also checks this workflow through HTTP and records the status codes. These fixtures help demonstrate orchestration. They do not prove the customer model can produce a correct answer.</a:t>
            </a:r>
          </a:p>
          <a:p xmlns:a="http://schemas.openxmlformats.org/drawingml/2006/main">
            <a:r>
              <a:t/>
            </a:r>
          </a:p>
          <a:p xmlns:a="http://schemas.openxmlformats.org/drawingml/2006/main">
            <a:r>
              <a:t>Chinese rehearsal prompt</a:t>
            </a:r>
          </a:p>
          <a:p xmlns:a="http://schemas.openxmlformats.org/drawingml/2006/main">
            <a:r>
              <a:t>先看source=replay，再看执行成功与gate阻断区别。不要点real。</a:t>
            </a:r>
          </a:p>
          <a:p xmlns:a="http://schemas.openxmlformats.org/drawingml/2006/main">
            <a:r>
              <a:t/>
            </a:r>
          </a:p>
          <a:p xmlns:a="http://schemas.openxmlformats.org/drawingml/2006/main">
            <a:r>
              <a:t>Switch / demo cue</a:t>
            </a:r>
          </a:p>
          <a:p xmlns:a="http://schemas.openxmlformats.org/drawingml/2006/main">
            <a:r>
              <a:t>Use runbook S1–S6. Backup: System_Demo_Backup.webm.</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a:t>
            </a:r>
          </a:p>
          <a:p xmlns:a="http://schemas.openxmlformats.org/drawingml/2006/main">
            <a:r>
              <a:t>Target duration: 4 minutes</a:t>
            </a:r>
          </a:p>
          <a:p xmlns:a="http://schemas.openxmlformats.org/drawingml/2006/main">
            <a:r>
              <a:t/>
            </a:r>
          </a:p>
          <a:p xmlns:a="http://schemas.openxmlformats.org/drawingml/2006/main">
            <a:r>
              <a:t>Key points and spoken script</a:t>
            </a:r>
          </a:p>
          <a:p xmlns:a="http://schemas.openxmlformats.org/drawingml/2006/main">
            <a:r>
              <a:t>A passing evaluation can request review, but it cannot approve itself. We switch to a different signed local test identity, inspect the captured evidence and record a decision. These are test identities controlled by this demonstration. We do not count them as independent student approval. A stale version receives a conflict response, and an approved or rejected review cannot be reopened. Re-evaluation creates a new job and review with predecessor links, preserving the previous record. The evidence export contains the input snapshot, outputs and audit. A candidate commit reference is caller supplied, so it is not a cryptographic attestation that the candidate truly came from that commit. ReleaseGuard records a decision and does not directly deploy the application.</a:t>
            </a:r>
          </a:p>
          <a:p xmlns:a="http://schemas.openxmlformats.org/drawingml/2006/main">
            <a:r>
              <a:t/>
            </a:r>
          </a:p>
          <a:p xmlns:a="http://schemas.openxmlformats.org/drawingml/2006/main">
            <a:r>
              <a:t>Chinese rehearsal prompt</a:t>
            </a:r>
          </a:p>
          <a:p xmlns:a="http://schemas.openxmlformats.org/drawingml/2006/main">
            <a:r>
              <a:t>独立测试身份不等于独立真人审核；审批记录不等于部署。</a:t>
            </a:r>
          </a:p>
          <a:p xmlns:a="http://schemas.openxmlformats.org/drawingml/2006/main">
            <a:r>
              <a:t/>
            </a:r>
          </a:p>
          <a:p xmlns:a="http://schemas.openxmlformats.org/drawingml/2006/main">
            <a:r>
              <a:t>Switch / demo cue</a:t>
            </a:r>
          </a:p>
          <a:p xmlns:a="http://schemas.openxmlformats.org/drawingml/2006/main">
            <a:r>
              <a:t>Use runbook S7–S10. Hand to C without leaving the evidence view.</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 · LIN XINDA</a:t>
            </a:r>
          </a:p>
          <a:p xmlns:a="http://schemas.openxmlformats.org/drawingml/2006/main">
            <a:r>
              <a:t>Target duration: 3 minutes</a:t>
            </a:r>
          </a:p>
          <a:p xmlns:a="http://schemas.openxmlformats.org/drawingml/2006/main">
            <a:r>
              <a:t/>
            </a:r>
          </a:p>
          <a:p xmlns:a="http://schemas.openxmlformats.org/drawingml/2006/main">
            <a:r>
              <a:t>Key points and spoken script</a:t>
            </a:r>
          </a:p>
          <a:p xmlns:a="http://schemas.openxmlformats.org/drawingml/2006/main">
            <a:r>
              <a:t>We now switch from live replay to historical real-provider evidence. The frozen customer-generation A/B run used the same twenty questions and preserved each original response. The original v2.10 scores were 70 for 20B and 75 for 120B. The full old delivery intersection allowed five and one respectively, showing why a larger model or aggregate score alone did not solve the problem. Those figures describe that frozen generation run. The later semantic reviewer uses 120B for evaluation, rather than replacing the customer generator. The reviewer protocol experiment contains three samples. The separate development run contains seventeen previously unexecuted pilot samples. We can open one correct judgment and one violation, compare the raw review text to its derived evidence coordinates, and verify the quotes against the original answer. We have not repaired the model answer after generation.</a:t>
            </a:r>
          </a:p>
          <a:p xmlns:a="http://schemas.openxmlformats.org/drawingml/2006/main">
            <a:r>
              <a:t/>
            </a:r>
          </a:p>
          <a:p xmlns:a="http://schemas.openxmlformats.org/drawingml/2006/main">
            <a:r>
              <a:t>Chinese rehearsal prompt</a:t>
            </a:r>
          </a:p>
          <a:p xmlns:a="http://schemas.openxmlformats.org/drawingml/2006/main">
            <a:r>
              <a:t>切换时明确说“历史真实运行回放”。原客服分数70/75与v3评审结果不能混算。</a:t>
            </a:r>
          </a:p>
          <a:p xmlns:a="http://schemas.openxmlformats.org/drawingml/2006/main">
            <a:r>
              <a:t/>
            </a:r>
          </a:p>
          <a:p xmlns:a="http://schemas.openxmlformats.org/drawingml/2006/main">
            <a:r>
              <a:t>Switch / demo cue</a:t>
            </a:r>
          </a:p>
          <a:p xmlns:a="http://schemas.openxmlformats.org/drawingml/2006/main">
            <a:r>
              <a:t>Open historical viewer. Pause on original response and source label.</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 · LIAO BINFENG</a:t>
            </a:r>
          </a:p>
          <a:p xmlns:a="http://schemas.openxmlformats.org/drawingml/2006/main">
            <a:r>
              <a:t>Target duration: 2 minutes</a:t>
            </a:r>
          </a:p>
          <a:p xmlns:a="http://schemas.openxmlformats.org/drawingml/2006/main">
            <a:r>
              <a:t/>
            </a:r>
          </a:p>
          <a:p xmlns:a="http://schemas.openxmlformats.org/drawingml/2006/main">
            <a:r>
              <a:t>Key points and spoken script</a:t>
            </a:r>
          </a:p>
          <a:p xmlns:a="http://schemas.openxmlformats.org/drawingml/2006/main">
            <a:r>
              <a:t>Our quality evidence has a date, source and tested stimulus. The cloud replay experiments show multiple workers processing tasks, and one controlled failure scenario shows queue-based scaling. We do not convert those replay figures into model tokens per second. The semantic development set contains nine compliant and eight violating answers. All seventeen protocol results were valid and matched the frozen project labels, including the expected critical issue for each violation. The labels came from project reference annotation, not verified human blind review. This supports the stated development result and no wider accuracy estimate. The reviewer remains in shadow mode. A future qualification decision would require separate evidence and authorization, which this presentation does not claim.</a:t>
            </a:r>
          </a:p>
          <a:p xmlns:a="http://schemas.openxmlformats.org/drawingml/2006/main">
            <a:r>
              <a:t/>
            </a:r>
          </a:p>
          <a:p xmlns:a="http://schemas.openxmlformats.org/drawingml/2006/main">
            <a:r>
              <a:t>Chinese rehearsal prompt</a:t>
            </a:r>
          </a:p>
          <a:p xmlns:a="http://schemas.openxmlformats.org/drawingml/2006/main">
            <a:r>
              <a:t>性能分母、模型分母分别讲。开发集通过不等于任意自然语言可靠。</a:t>
            </a:r>
          </a:p>
          <a:p xmlns:a="http://schemas.openxmlformats.org/drawingml/2006/main">
            <a:r>
              <a:t/>
            </a:r>
          </a:p>
          <a:p xmlns:a="http://schemas.openxmlformats.org/drawingml/2006/main">
            <a:r>
              <a:t>Switch / demo cue</a:t>
            </a:r>
          </a:p>
          <a:p xmlns:a="http://schemas.openxmlformats.org/drawingml/2006/main">
            <a:r>
              <a:t>System segment ends at 38:00. Switch to closing slide.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C</a:t>
            </a:r>
          </a:p>
          <a:p xmlns:a="http://schemas.openxmlformats.org/drawingml/2006/main">
            <a:r>
              <a:t>Target duration: 2 minutes</a:t>
            </a:r>
          </a:p>
          <a:p xmlns:a="http://schemas.openxmlformats.org/drawingml/2006/main">
            <a:r>
              <a:t/>
            </a:r>
          </a:p>
          <a:p xmlns:a="http://schemas.openxmlformats.org/drawingml/2006/main">
            <a:r>
              <a:t>Key points and spoken script</a:t>
            </a:r>
          </a:p>
          <a:p xmlns:a="http://schemas.openxmlformats.org/drawingml/2006/main">
            <a:r>
              <a:t>The main outcome is an inspectable workflow: a candidate has an immutable suite, original outputs, a gate result and a review trail. The repair process also taught us that a schema-valid review and a semantically correct review are separate questions. Version 3 reduced the protocol burden and passed two bounded real validations. We still retain the old evaluator failure, the original customer scores and the unavailable historical review text. The immediate team work is to confirm contributions, finish genuine review and UAT, and rehearse the handoffs and backups. We are not presenting this snapshot as production authorization. Thank you. We are ready for questions.</a:t>
            </a:r>
          </a:p>
          <a:p xmlns:a="http://schemas.openxmlformats.org/drawingml/2006/main">
            <a:r>
              <a:t/>
            </a:r>
          </a:p>
          <a:p xmlns:a="http://schemas.openxmlformats.org/drawingml/2006/main">
            <a:r>
              <a:t>Chinese rehearsal prompt</a:t>
            </a:r>
          </a:p>
          <a:p xmlns:a="http://schemas.openxmlformats.org/drawingml/2006/main">
            <a:r>
              <a:t>收尾包含2分钟缓冲；回答不超出证据。</a:t>
            </a:r>
          </a:p>
          <a:p xmlns:a="http://schemas.openxmlformats.org/drawingml/2006/main">
            <a:r>
              <a:t/>
            </a:r>
          </a:p>
          <a:p xmlns:a="http://schemas.openxmlformats.org/drawingml/2006/main">
            <a:r>
              <a:t>Switch / demo cue</a:t>
            </a:r>
          </a:p>
          <a:p xmlns:a="http://schemas.openxmlformats.org/drawingml/2006/main">
            <a:r>
              <a:t>Reserve 5 additional minutes for Q&amp;A. Jump to backup slides when needed.</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a:t>
            </a:r>
          </a:p>
          <a:p xmlns:a="http://schemas.openxmlformats.org/drawingml/2006/main">
            <a:r>
              <a:t>Target duration: 0 minutes (backup only)</a:t>
            </a:r>
          </a:p>
          <a:p xmlns:a="http://schemas.openxmlformats.org/drawingml/2006/main">
            <a:r>
              <a:t/>
            </a:r>
          </a:p>
          <a:p xmlns:a="http://schemas.openxmlformats.org/drawingml/2006/main">
            <a:r>
              <a:t>Key points and spoken script</a:t>
            </a:r>
          </a:p>
          <a:p xmlns:a="http://schemas.openxmlformats.org/drawingml/2006/main">
            <a:r>
              <a:t>The registry database stores application and suite JSON documents with workspace scoping. Suites have parent identifiers. Evaluation stores job input, snapshot, result, execution metadata, leases and attempts. The outbox refers to the local job. Governance stores captured evidence and versioned terminal review decisions. Its audit records link through entity identifiers, and previous-release links preserve re-evaluation lineage. There are no cross-database foreign keys.</a:t>
            </a:r>
          </a:p>
          <a:p xmlns:a="http://schemas.openxmlformats.org/drawingml/2006/main">
            <a:r>
              <a:t/>
            </a:r>
          </a:p>
          <a:p xmlns:a="http://schemas.openxmlformats.org/drawingml/2006/main">
            <a:r>
              <a:t>Chinese rehearsal prompt</a:t>
            </a:r>
          </a:p>
          <a:p xmlns:a="http://schemas.openxmlformats.org/drawingml/2006/main">
            <a:r>
              <a:t>数据库细节仅老师问时展开。</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 + E</a:t>
            </a:r>
          </a:p>
          <a:p xmlns:a="http://schemas.openxmlformats.org/drawingml/2006/main">
            <a:r>
              <a:t>Target duration: 0 minutes (backup only)</a:t>
            </a:r>
          </a:p>
          <a:p xmlns:a="http://schemas.openxmlformats.org/drawingml/2006/main">
            <a:r>
              <a:t/>
            </a:r>
          </a:p>
          <a:p xmlns:a="http://schemas.openxmlformats.org/drawingml/2006/main">
            <a:r>
              <a:t>Key points and spoken script</a:t>
            </a:r>
          </a:p>
          <a:p xmlns:a="http://schemas.openxmlformats.org/drawingml/2006/main">
            <a:r>
              <a:t>Synthetic fixture results are program tests. Replay jobs run static fictional outputs through the actual platform. Imported results are caller supplied. Real customer generation and real semantic review both require provider execution, but they are different sources. Historical real replay means we are viewing saved output from a dated real call, without making a new call. No category is relabelled to improve a score.</a:t>
            </a:r>
          </a:p>
          <a:p xmlns:a="http://schemas.openxmlformats.org/drawingml/2006/main">
            <a:r>
              <a:t/>
            </a:r>
          </a:p>
          <a:p xmlns:a="http://schemas.openxmlformats.org/drawingml/2006/main">
            <a:r>
              <a:t>Chinese rehearsal prompt</a:t>
            </a:r>
          </a:p>
          <a:p xmlns:a="http://schemas.openxmlformats.org/drawingml/2006/main">
            <a:r>
              <a:t>防止fixture、replay、real三者混算。</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a:t>
            </a:r>
          </a:p>
          <a:p xmlns:a="http://schemas.openxmlformats.org/drawingml/2006/main">
            <a:r>
              <a:t>Target duration: 0 minutes (backup only)</a:t>
            </a:r>
          </a:p>
          <a:p xmlns:a="http://schemas.openxmlformats.org/drawingml/2006/main">
            <a:r>
              <a:t/>
            </a:r>
          </a:p>
          <a:p xmlns:a="http://schemas.openxmlformats.org/drawingml/2006/main">
            <a:r>
              <a:t>Key points and spoken script</a:t>
            </a:r>
          </a:p>
          <a:p xmlns:a="http://schemas.openxmlformats.org/drawingml/2006/main">
            <a:r>
              <a:t>The three-sample run has its own authorization, attempt ledger and completion seal. The seventeen-sample run uses the old pilot positions four through twenty but has a new experiment identity. The old pilot remains incomplete. All seventeen new results are protocol valid, with nine compliant allows and eight critical-issue detections. We keep these as two separate development reports. Both use frozen project labels rather than verified human blind review.</a:t>
            </a:r>
          </a:p>
          <a:p xmlns:a="http://schemas.openxmlformats.org/drawingml/2006/main">
            <a:r>
              <a:t/>
            </a:r>
          </a:p>
          <a:p xmlns:a="http://schemas.openxmlformats.org/drawingml/2006/main">
            <a:r>
              <a:t>Chinese rehearsal prompt</a:t>
            </a:r>
          </a:p>
          <a:p xmlns:a="http://schemas.openxmlformats.org/drawingml/2006/main">
            <a:r>
              <a:t>不能拼为同一20/20，不重写旧pilot。</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C</a:t>
            </a:r>
          </a:p>
          <a:p xmlns:a="http://schemas.openxmlformats.org/drawingml/2006/main">
            <a:r>
              <a:t>Target duration: 0 minutes (backup only)</a:t>
            </a:r>
          </a:p>
          <a:p xmlns:a="http://schemas.openxmlformats.org/drawingml/2006/main">
            <a:r>
              <a:t/>
            </a:r>
          </a:p>
          <a:p xmlns:a="http://schemas.openxmlformats.org/drawingml/2006/main">
            <a:r>
              <a:t>Key points and spoken script</a:t>
            </a:r>
          </a:p>
          <a:p xmlns:a="http://schemas.openxmlformats.org/drawingml/2006/main">
            <a:r>
              <a:t>A numeric score is one condition. The gate also requires no critical failures or execution errors. Controlled output checks may independently block delivery. Human review is a later lifecycle step. The new reviewer has not been wired into formal customer release, so a shadow allow cannot override these conditions.</a:t>
            </a:r>
          </a:p>
          <a:p xmlns:a="http://schemas.openxmlformats.org/drawingml/2006/main">
            <a:r>
              <a:t/>
            </a:r>
          </a:p>
          <a:p xmlns:a="http://schemas.openxmlformats.org/drawingml/2006/main">
            <a:r>
              <a:t>Chinese rehearsal prompt</a:t>
            </a:r>
          </a:p>
          <a:p xmlns:a="http://schemas.openxmlformats.org/drawingml/2006/main">
            <a:r>
              <a:t>95分不是唯一条件；不要把min数量当交集。</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a:t>
            </a:r>
          </a:p>
          <a:p xmlns:a="http://schemas.openxmlformats.org/drawingml/2006/main">
            <a:r>
              <a:t>Target duration: 0 minutes (backup only)</a:t>
            </a:r>
          </a:p>
          <a:p xmlns:a="http://schemas.openxmlformats.org/drawingml/2006/main">
            <a:r>
              <a:t/>
            </a:r>
          </a:p>
          <a:p xmlns:a="http://schemas.openxmlformats.org/drawingml/2006/main">
            <a:r>
              <a:t>Key points and spoken script</a:t>
            </a:r>
          </a:p>
          <a:p xmlns:a="http://schemas.openxmlformats.org/drawingml/2006/main">
            <a:r>
              <a:t>Our requested main plan is forty minutes plus five minutes of questions. The retrieved course PDF instead includes questions in a forty-minute slot and lists Team 13 on 26 October at 9:45. If that older PDF governs the session, use the compressed schedule here. The team must confirm the newer notice rather than assume the slot has changed.</a:t>
            </a:r>
          </a:p>
          <a:p xmlns:a="http://schemas.openxmlformats.org/drawingml/2006/main">
            <a:r>
              <a:t/>
            </a:r>
          </a:p>
          <a:p xmlns:a="http://schemas.openxmlformats.org/drawingml/2006/main">
            <a:r>
              <a:t>Chinese rehearsal prompt</a:t>
            </a:r>
          </a:p>
          <a:p xmlns:a="http://schemas.openxmlformats.org/drawingml/2006/main">
            <a:r>
              <a:t>40+5按用户提供邮件转录；原PDF40含Q&amp;A需要团队确认。</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a:t>
            </a:r>
          </a:p>
          <a:p xmlns:a="http://schemas.openxmlformats.org/drawingml/2006/main">
            <a:r>
              <a:t>Target duration: 0 minutes (backup only)</a:t>
            </a:r>
          </a:p>
          <a:p xmlns:a="http://schemas.openxmlformats.org/drawingml/2006/main">
            <a:r>
              <a:t/>
            </a:r>
          </a:p>
          <a:p xmlns:a="http://schemas.openxmlformats.org/drawingml/2006/main">
            <a:r>
              <a:t>Key points and spoken script</a:t>
            </a:r>
          </a:p>
          <a:p xmlns:a="http://schemas.openxmlformats.org/drawingml/2006/main">
            <a:r>
              <a:t>Implementation, experiments and presentation preparation used Codex assistance. The team is responsible for checking the content and declaring tool use in the submission. Named responsibilities do not attribute all shared code to a member. Source paths and exact hashes are available in the handoff pack rather than on the main slides.</a:t>
            </a:r>
          </a:p>
          <a:p xmlns:a="http://schemas.openxmlformats.org/drawingml/2006/main">
            <a:r>
              <a:t/>
            </a:r>
          </a:p>
          <a:p xmlns:a="http://schemas.openxmlformats.org/drawingml/2006/main">
            <a:r>
              <a:t>Chinese rehearsal prompt</a:t>
            </a:r>
          </a:p>
          <a:p xmlns:a="http://schemas.openxmlformats.org/drawingml/2006/main">
            <a:r>
              <a:t>集中保留工具使用说明。提交时按课程要求声明。</a:t>
            </a:r>
          </a:p>
          <a:p xmlns:a="http://schemas.openxmlformats.org/drawingml/2006/main">
            <a:r>
              <a:t/>
            </a:r>
          </a:p>
          <a:p xmlns:a="http://schemas.openxmlformats.org/drawingml/2006/main">
            <a:r>
              <a:t>Switch / demo cue</a:t>
            </a:r>
          </a:p>
          <a:p xmlns:a="http://schemas.openxmlformats.org/drawingml/2006/main">
            <a:r>
              <a:t>Remain on this slide. Use only the stated evidence.</a:t>
            </a:r>
          </a:p>
          <a:p xmlns:a="http://schemas.openxmlformats.org/drawingml/2006/main">
            <a:r>
              <a:t/>
            </a:r>
          </a:p>
          <a:p xmlns:a="http://schemas.openxmlformats.org/drawingml/2006/main">
            <a:r>
              <a:t>Source: repository README, docs/07-DDD-Design.md and service source</a:t>
            </a:r>
          </a:p>
          <a:p xmlns:a="http://schemas.openxmlformats.org/drawingml/2006/main">
            <a:r>
              <a:t>Verification: docs/evidence/git-handoff-2026-10-19/ and clean checkout record</a:t>
            </a:r>
          </a:p>
          <a:p xmlns:a="http://schemas.openxmlformats.org/drawingml/2006/main">
            <a:r>
              <a:t>Historical real evidence: model-v17-ab-r4-2026-10-17; separate v3 directories dated 2026-10-19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067435d94942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8c7ace16c643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c7ee05988445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aab6ad3aee4c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fe9b6b95df42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73b217a4c44b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7518D2-5877-4174-9509-1436ACC019E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956BD4-F640-4B2D-8D86-A04D954C42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74B71F3-E61A-485C-8740-BD1581C748D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872106-AA0F-48EF-8E49-1FE22C437F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FBD568-192C-4937-90C8-C3933D980D1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94C0A1-E7F6-46CC-8C31-B89E415D1B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04B816-C966-4EAE-99B1-B26D0B976E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E4C8C27-1199-4F3F-9B16-EA5943E0D7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3A48B8-C712-495D-B259-C0B1DB29A4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AA7CEF-452E-430A-A61B-814A4FD836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4edcc0bb824e8e" /><Relationship Type="http://schemas.openxmlformats.org/officeDocument/2006/relationships/slideLayout" Target="/ppt/slideLayouts/slideLayout1.xml" Id="R5dd1d99ee0a9450c" /><Relationship Type="http://schemas.openxmlformats.org/officeDocument/2006/relationships/slideLayout" Target="/ppt/slideLayouts/slideLayout2.xml" Id="Rcfd4290ed0c940d2" /><Relationship Type="http://schemas.openxmlformats.org/officeDocument/2006/relationships/slideLayout" Target="/ppt/slideLayouts/slideLayout3.xml" Id="Rcc674a62771b4e43" /><Relationship Type="http://schemas.openxmlformats.org/officeDocument/2006/relationships/slideLayout" Target="/ppt/slideLayouts/slideLayout4.xml" Id="R8b936831747e4c57" /><Relationship Type="http://schemas.openxmlformats.org/officeDocument/2006/relationships/slideLayout" Target="/ppt/slideLayouts/slideLayout5.xml" Id="R5261c020dfa946c8" /><Relationship Type="http://schemas.openxmlformats.org/officeDocument/2006/relationships/slideLayout" Target="/ppt/slideLayouts/slideLayout6.xml" Id="Ra056a3f8b02047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d1d99ee0a9450c"/>
    <p:sldLayoutId xmlns:r="http://schemas.openxmlformats.org/officeDocument/2006/relationships" id="2147483650" r:id="Rcfd4290ed0c940d2"/>
    <p:sldLayoutId xmlns:r="http://schemas.openxmlformats.org/officeDocument/2006/relationships" id="2147483651" r:id="Rcc674a62771b4e43"/>
    <p:sldLayoutId xmlns:r="http://schemas.openxmlformats.org/officeDocument/2006/relationships" id="2147483652" r:id="R8b936831747e4c57"/>
    <p:sldLayoutId xmlns:r="http://schemas.openxmlformats.org/officeDocument/2006/relationships" id="2147483653" r:id="R5261c020dfa946c8"/>
    <p:sldLayoutId xmlns:r="http://schemas.openxmlformats.org/officeDocument/2006/relationships" id="2147483654" r:id="Ra056a3f8b02047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f40b8fc2384463" /><Relationship Type="http://schemas.openxmlformats.org/officeDocument/2006/relationships/notesSlide" Target="/ppt/notesSlides/notesSlide1.xml" Id="Re3a00bbaf2d34c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c19b8583764455" /><Relationship Type="http://schemas.openxmlformats.org/officeDocument/2006/relationships/notesSlide" Target="/ppt/notesSlides/notesSlide2.xml" Id="R05355e7985ef49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f88b88342848bb" /><Relationship Type="http://schemas.openxmlformats.org/officeDocument/2006/relationships/notesSlide" Target="/ppt/notesSlides/notesSlide3.xml" Id="Ra0d10caccafb4c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4c24a7dda0442b" /><Relationship Type="http://schemas.openxmlformats.org/officeDocument/2006/relationships/notesSlide" Target="/ppt/notesSlides/notesSlide4.xml" Id="R9deb21c9fce346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5c5e13f6c4456c" /><Relationship Type="http://schemas.openxmlformats.org/officeDocument/2006/relationships/notesSlide" Target="/ppt/notesSlides/notesSlide5.xml" Id="Ra13251e3f35845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87532f3f8b4a85" /><Relationship Type="http://schemas.openxmlformats.org/officeDocument/2006/relationships/notesSlide" Target="/ppt/notesSlides/notesSlide6.xml" Id="Rfbc96c1a919744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7bd567422b49b3" /><Relationship Type="http://schemas.openxmlformats.org/officeDocument/2006/relationships/notesSlide" Target="/ppt/notesSlides/notesSlide7.xml" Id="R367e9c33d0044e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3f117a3ebc47dc" /><Relationship Type="http://schemas.openxmlformats.org/officeDocument/2006/relationships/notesSlide" Target="/ppt/notesSlides/notesSlide8.xml" Id="R99d85d70374042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89ebca8c2f4112" /><Relationship Type="http://schemas.openxmlformats.org/officeDocument/2006/relationships/notesSlide" Target="/ppt/notesSlides/notesSlide9.xml" Id="R1a9bcb08143746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3cc20b6521408f" /><Relationship Type="http://schemas.openxmlformats.org/officeDocument/2006/relationships/notesSlide" Target="/ppt/notesSlides/notesSlide10.xml" Id="Rfb580a142a1c4f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6c6d09263ba4ba1" /><Relationship Type="http://schemas.openxmlformats.org/officeDocument/2006/relationships/notesSlide" Target="/ppt/notesSlides/notesSlide11.xml" Id="R39cbece5ce6c44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5b0726a6e3c428c" /><Relationship Type="http://schemas.openxmlformats.org/officeDocument/2006/relationships/notesSlide" Target="/ppt/notesSlides/notesSlide12.xml" Id="R6e69f7a188d941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c5143bf26924d54" /><Relationship Type="http://schemas.openxmlformats.org/officeDocument/2006/relationships/notesSlide" Target="/ppt/notesSlides/notesSlide13.xml" Id="Rcfe3fbd19adc4d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4af67fe70e242c7" /><Relationship Type="http://schemas.openxmlformats.org/officeDocument/2006/relationships/image" Target="/ppt/media/image.png" Id="Rc95f95c0bd6941ac" /><Relationship Type="http://schemas.openxmlformats.org/officeDocument/2006/relationships/notesSlide" Target="/ppt/notesSlides/notesSlide14.xml" Id="R1319d95920544c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5605222c9ff40b9" /><Relationship Type="http://schemas.openxmlformats.org/officeDocument/2006/relationships/image" Target="/ppt/media/image2.png" Id="R55af3f055eef4e55" /><Relationship Type="http://schemas.openxmlformats.org/officeDocument/2006/relationships/notesSlide" Target="/ppt/notesSlides/notesSlide15.xml" Id="R00152c4dcce044f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ad8bcd188c14e39" /><Relationship Type="http://schemas.openxmlformats.org/officeDocument/2006/relationships/notesSlide" Target="/ppt/notesSlides/notesSlide16.xml" Id="R11ceac83cede46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4b9c08cef1b4934" /><Relationship Type="http://schemas.openxmlformats.org/officeDocument/2006/relationships/notesSlide" Target="/ppt/notesSlides/notesSlide17.xml" Id="R721ef1708bcf49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3dae2efbc9d4b96" /><Relationship Type="http://schemas.openxmlformats.org/officeDocument/2006/relationships/notesSlide" Target="/ppt/notesSlides/notesSlide18.xml" Id="R8f0e9b3a2406486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e10fee032124453" /><Relationship Type="http://schemas.openxmlformats.org/officeDocument/2006/relationships/notesSlide" Target="/ppt/notesSlides/notesSlide19.xml" Id="Rb972e976baeb447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95c38165afe4e8d" /><Relationship Type="http://schemas.openxmlformats.org/officeDocument/2006/relationships/notesSlide" Target="/ppt/notesSlides/notesSlide20.xml" Id="R8fd440eeee0b44c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917f10d55644df2" /><Relationship Type="http://schemas.openxmlformats.org/officeDocument/2006/relationships/notesSlide" Target="/ppt/notesSlides/notesSlide21.xml" Id="R0bc098afb3fd476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dffed21d8c84d90" /><Relationship Type="http://schemas.openxmlformats.org/officeDocument/2006/relationships/notesSlide" Target="/ppt/notesSlides/notesSlide22.xml" Id="Rb9eb9b106e0b4a6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78eebc717e2409e" /><Relationship Type="http://schemas.openxmlformats.org/officeDocument/2006/relationships/notesSlide" Target="/ppt/notesSlides/notesSlide23.xml" Id="Rc1f7bc9c581640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cec4b527dee4ddd" /><Relationship Type="http://schemas.openxmlformats.org/officeDocument/2006/relationships/notesSlide" Target="/ppt/notesSlides/notesSlide24.xml" Id="R49ae57f5a6ae45d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438565-7A9F-4DFB-86D1-23B701196806}"/>
              </a:ext>
            </a:extLst>
          </p:cNvPr>
          <p:cNvSpPr>
            <a:spLocks xmlns:a="http://schemas.openxmlformats.org/drawingml/2006/main" noGrp="1"/>
          </p:cNvSpPr>
          <p:nvPr/>
        </p:nvSpPr>
        <p:spPr>
          <a:xfrm xmlns:a="http://schemas.openxmlformats.org/drawingml/2006/main">
            <a:off x="609600" y="14287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102A37"/>
                </a:solidFill>
                <a:latin typeface="Arial"/>
                <a:ea typeface="Arial"/>
                <a:cs typeface="Arial"/>
              </a:defRPr>
            </a:defPPr>
          </a:lstStyle>
          <a:p xmlns:a="http://schemas.openxmlformats.org/drawingml/2006/main">
            <a:pPr>
              <a:defRPr sz="4950" b="1">
                <a:solidFill>
                  <a:srgbClr val="102A37"/>
                </a:solidFill>
                <a:latin typeface="Arial"/>
                <a:ea typeface="Arial"/>
                <a:cs typeface="Arial"/>
              </a:defRPr>
            </a:pPr>
            <a:r>
              <a:rPr sz="4950" b="1">
                <a:solidFill>
                  <a:srgbClr val="102A37"/>
                </a:solidFill>
                <a:latin typeface="Arial"/>
                <a:ea typeface="Arial"/>
                <a:cs typeface="Arial"/>
              </a:rPr>
              <a:t>ReleaseGuard</a:t>
            </a:r>
          </a:p>
        </p:txBody>
      </p:sp>
      <p:sp>
        <p:nvSpPr>
          <p:cNvPr id="2" name="subtitle">
            <a:extLst xmlns:a="http://schemas.openxmlformats.org/drawingml/2006/main">
              <a:ext uri="{FF2B5EF4-FFF2-40B4-BE49-F238E27FC236}">
                <a16:creationId xmlns:a16="http://schemas.microsoft.com/office/drawing/2014/main" id="{831E5E0A-AA75-40EB-8A7E-34B64682694B}"/>
              </a:ext>
            </a:extLst>
          </p:cNvPr>
          <p:cNvSpPr>
            <a:spLocks xmlns:a="http://schemas.openxmlformats.org/drawingml/2006/main" noGrp="1"/>
          </p:cNvSpPr>
          <p:nvPr/>
        </p:nvSpPr>
        <p:spPr>
          <a:xfrm xmlns:a="http://schemas.openxmlformats.org/drawingml/2006/main">
            <a:off x="638175" y="2714625"/>
            <a:ext cx="10477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566975"/>
                </a:solidFill>
                <a:latin typeface="Arial"/>
                <a:ea typeface="Arial"/>
                <a:cs typeface="Arial"/>
              </a:defRPr>
            </a:defPPr>
          </a:lstStyle>
          <a:p xmlns:a="http://schemas.openxmlformats.org/drawingml/2006/main">
            <a:pPr>
              <a:defRPr sz="2250" b="0">
                <a:solidFill>
                  <a:srgbClr val="566975"/>
                </a:solidFill>
                <a:latin typeface="Arial"/>
                <a:ea typeface="Arial"/>
                <a:cs typeface="Arial"/>
              </a:defRPr>
            </a:pPr>
            <a:r>
              <a:rPr sz="2250" b="0">
                <a:solidFill>
                  <a:srgbClr val="566975"/>
                </a:solidFill>
                <a:latin typeface="Arial"/>
                <a:ea typeface="Arial"/>
                <a:cs typeface="Arial"/>
              </a:rPr>
              <a:t>Evaluation evidence and independent release review</a:t>
            </a:r>
          </a:p>
          <a:p xmlns:a="http://schemas.openxmlformats.org/drawingml/2006/main">
            <a:r>
              <a:t/>
            </a:r>
          </a:p>
          <a:p xmlns:a="http://schemas.openxmlformats.org/drawingml/2006/main">
            <a:pPr>
              <a:defRPr sz="2250" b="0">
                <a:solidFill>
                  <a:srgbClr val="566975"/>
                </a:solidFill>
                <a:latin typeface="Arial"/>
                <a:ea typeface="Arial"/>
                <a:cs typeface="Arial"/>
              </a:defRPr>
            </a:pPr>
            <a:r>
              <a:rPr sz="2250" b="0">
                <a:solidFill>
                  <a:srgbClr val="566975"/>
                </a:solidFill>
                <a:latin typeface="Arial"/>
                <a:ea typeface="Arial"/>
                <a:cs typeface="Arial"/>
              </a:rPr>
              <a:t>SE34FT Team 13 · Architecting Scalable Systems</a:t>
            </a:r>
          </a:p>
          <a:p xmlns:a="http://schemas.openxmlformats.org/drawingml/2006/main">
            <a:r>
              <a:t/>
            </a:r>
          </a:p>
          <a:p xmlns:a="http://schemas.openxmlformats.org/drawingml/2006/main">
            <a:pPr>
              <a:defRPr sz="2250" b="0">
                <a:solidFill>
                  <a:srgbClr val="566975"/>
                </a:solidFill>
                <a:latin typeface="Arial"/>
                <a:ea typeface="Arial"/>
                <a:cs typeface="Arial"/>
              </a:defRPr>
            </a:pPr>
            <a:r>
              <a:rPr sz="2250" b="0">
                <a:solidFill>
                  <a:srgbClr val="566975"/>
                </a:solidFill>
                <a:latin typeface="Arial"/>
                <a:ea typeface="Arial"/>
                <a:cs typeface="Arial"/>
              </a:rPr>
              <a:t>19 October 2026 evidence snapshot</a:t>
            </a:r>
          </a:p>
        </p:txBody>
      </p:sp>
    </p:spTree>
    <p:extLst>
      <p:ext uri="{BB962C8B-B14F-4D97-AF65-F5344CB8AC3E}">
        <p14:creationId xmlns:p14="http://schemas.microsoft.com/office/powerpoint/2010/main" val="21376228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0B3F110-9348-4B1E-A324-8D5733D13AD6}"/>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Problem and project scope</a:t>
            </a:r>
          </a:p>
        </p:txBody>
      </p:sp>
      <p:sp>
        <p:nvSpPr>
          <p:cNvPr id="2" name="body-0">
            <a:extLst xmlns:a="http://schemas.openxmlformats.org/drawingml/2006/main">
              <a:ext uri="{FF2B5EF4-FFF2-40B4-BE49-F238E27FC236}">
                <a16:creationId xmlns:a16="http://schemas.microsoft.com/office/drawing/2014/main" id="{136A4579-DA65-431C-B077-62B05011E57F}"/>
              </a:ext>
            </a:extLst>
          </p:cNvPr>
          <p:cNvSpPr>
            <a:spLocks xmlns:a="http://schemas.openxmlformats.org/drawingml/2006/main" noGrp="1"/>
          </p:cNvSpPr>
          <p:nvPr/>
        </p:nvSpPr>
        <p:spPr>
          <a:xfrm xmlns:a="http://schemas.openxmlformats.org/drawingml/2006/main">
            <a:off x="628650" y="15811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86F70"/>
                </a:solidFill>
                <a:latin typeface="Arial"/>
                <a:ea typeface="Arial"/>
                <a:cs typeface="Arial"/>
              </a:defRPr>
            </a:defPPr>
          </a:lstStyle>
          <a:p xmlns:a="http://schemas.openxmlformats.org/drawingml/2006/main">
            <a:pPr>
              <a:defRPr sz="2325" b="1">
                <a:solidFill>
                  <a:srgbClr val="086F70"/>
                </a:solidFill>
                <a:latin typeface="Arial"/>
                <a:ea typeface="Arial"/>
                <a:cs typeface="Arial"/>
              </a:defRPr>
            </a:pPr>
            <a:r>
              <a:rPr sz="2325" b="1">
                <a:solidFill>
                  <a:srgbClr val="086F70"/>
                </a:solidFill>
                <a:latin typeface="Arial"/>
                <a:ea typeface="Arial"/>
                <a:cs typeface="Arial"/>
              </a:rPr>
              <a:t>A fluent answer can still contradict policy</a:t>
            </a:r>
          </a:p>
        </p:txBody>
      </p:sp>
      <p:sp>
        <p:nvSpPr>
          <p:cNvPr id="3" name="body-1">
            <a:extLst xmlns:a="http://schemas.openxmlformats.org/drawingml/2006/main">
              <a:ext uri="{FF2B5EF4-FFF2-40B4-BE49-F238E27FC236}">
                <a16:creationId xmlns:a16="http://schemas.microsoft.com/office/drawing/2014/main" id="{F8F30160-7AAA-4E3F-8113-0CECE37374FC}"/>
              </a:ext>
            </a:extLst>
          </p:cNvPr>
          <p:cNvSpPr>
            <a:spLocks xmlns:a="http://schemas.openxmlformats.org/drawingml/2006/main" noGrp="1"/>
          </p:cNvSpPr>
          <p:nvPr/>
        </p:nvSpPr>
        <p:spPr>
          <a:xfrm xmlns:a="http://schemas.openxmlformats.org/drawingml/2006/main">
            <a:off x="628650" y="252412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Teams need immutable tests, original outputs and a review trail</a:t>
            </a:r>
          </a:p>
        </p:txBody>
      </p:sp>
      <p:sp>
        <p:nvSpPr>
          <p:cNvPr id="4" name="body-2">
            <a:extLst xmlns:a="http://schemas.openxmlformats.org/drawingml/2006/main">
              <a:ext uri="{FF2B5EF4-FFF2-40B4-BE49-F238E27FC236}">
                <a16:creationId xmlns:a16="http://schemas.microsoft.com/office/drawing/2014/main" id="{68ED020E-6FDD-41FA-9F0B-65CC28C3FEC9}"/>
              </a:ext>
            </a:extLst>
          </p:cNvPr>
          <p:cNvSpPr>
            <a:spLocks xmlns:a="http://schemas.openxmlformats.org/drawingml/2006/main" noGrp="1"/>
          </p:cNvSpPr>
          <p:nvPr/>
        </p:nvSpPr>
        <p:spPr>
          <a:xfrm xmlns:a="http://schemas.openxmlformats.org/drawingml/2006/main">
            <a:off x="628650" y="3467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Consumer: fictional returns assistant. Users: contributors and reviewers</a:t>
            </a:r>
          </a:p>
        </p:txBody>
      </p:sp>
      <p:sp>
        <p:nvSpPr>
          <p:cNvPr id="5" name="body-3">
            <a:extLst xmlns:a="http://schemas.openxmlformats.org/drawingml/2006/main">
              <a:ext uri="{FF2B5EF4-FFF2-40B4-BE49-F238E27FC236}">
                <a16:creationId xmlns:a16="http://schemas.microsoft.com/office/drawing/2014/main" id="{F2F1368E-1BBF-40FF-860E-20582F4661D4}"/>
              </a:ext>
            </a:extLst>
          </p:cNvPr>
          <p:cNvSpPr>
            <a:spLocks xmlns:a="http://schemas.openxmlformats.org/drawingml/2006/main" noGrp="1"/>
          </p:cNvSpPr>
          <p:nvPr/>
        </p:nvSpPr>
        <p:spPr>
          <a:xfrm xmlns:a="http://schemas.openxmlformats.org/drawingml/2006/main">
            <a:off x="628650" y="441007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Scope ends at a recorded review decision</a:t>
            </a:r>
          </a:p>
        </p:txBody>
      </p:sp>
      <p:sp>
        <p:nvSpPr>
          <p:cNvPr id="6" name="slide-number">
            <a:extLst xmlns:a="http://schemas.openxmlformats.org/drawingml/2006/main">
              <a:ext uri="{FF2B5EF4-FFF2-40B4-BE49-F238E27FC236}">
                <a16:creationId xmlns:a16="http://schemas.microsoft.com/office/drawing/2014/main" id="{E3C7648C-0747-4F61-826E-67142BB509F9}"/>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02</a:t>
            </a:r>
          </a:p>
        </p:txBody>
      </p:sp>
    </p:spTree>
    <p:extLst>
      <p:ext uri="{BB962C8B-B14F-4D97-AF65-F5344CB8AC3E}">
        <p14:creationId xmlns:p14="http://schemas.microsoft.com/office/powerpoint/2010/main" val="3715523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8C599D-EAF8-4102-BF94-C6125E3F9FBA}"/>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Delivery status and project conduct</a:t>
            </a:r>
          </a:p>
        </p:txBody>
      </p:sp>
      <p:graphicFrame>
        <p:nvGraphicFramePr>
          <p:cNvPr id="2" name="">
            <a:extLst xmlns:a="http://schemas.openxmlformats.org/drawingml/2006/main">
              <a:ext uri="{FF2B5EF4-FFF2-40B4-BE49-F238E27FC236}">
                <a16:creationId xmlns:a16="http://schemas.microsoft.com/office/drawing/2014/main" id="{32388765-EA6D-4BE6-9438-B5BDFFB1CD8B}"/>
              </a:ext>
            </a:extLst>
          </p:cNvPr>
          <p:cNvGraphicFramePr/>
          <p:nvPr/>
        </p:nvGraphicFramePr>
        <p:xfrm>
          <a:off xmlns:a="http://schemas.openxmlformats.org/drawingml/2006/main" x="609600" y="1562100"/>
          <a:ext xmlns:a="http://schemas.openxmlformats.org/drawingml/2006/main" cx="10972800" cy="3524250"/>
        </p:xfrm>
        <a:graphic xmlns:a="http://schemas.openxmlformats.org/drawingml/2006/main">
          <a:graphicData uri="http://schemas.openxmlformats.org/drawingml/2006/table">
            <a:tbl>
              <a:tblPr/>
              <a:tblGrid>
                <a:gridCol w="2524125"/>
                <a:gridCol w="4019550"/>
                <a:gridCol w="4429125"/>
              </a:tblGrid>
              <a:tr h="704850">
                <a:tc>
                  <a:txBody>
                    <a:bodyPr/>
                    <a:lstStyle/>
                    <a:p>
                      <a:r>
                        <a:rPr sz="1800" b="1">
                          <a:solidFill>
                            <a:srgbClr val="FFFFFF"/>
                          </a:solidFill>
                          <a:latin typeface="Arial"/>
                          <a:ea typeface="Arial"/>
                          <a:cs typeface="Arial"/>
                        </a:rPr>
                        <a:t>Area</a:t>
                      </a:r>
                    </a:p>
                  </a:txBody>
                  <a:tcPr marL="142875" marR="142875" marT="133350" marB="133350" anchor="ctr">
                    <a:lnL w="9525">
                      <a:solidFill>
                        <a:srgbClr val="CAD6D9"/>
                      </a:solidFill>
                      <a:prstDash val="solid"/>
                    </a:lnL>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Current evidence</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Remaining boundary</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r>
              <a:tr h="704850">
                <a:tc>
                  <a:txBody>
                    <a:bodyPr/>
                    <a:lstStyle/>
                    <a:p>
                      <a:r>
                        <a:rPr sz="1875" b="0">
                          <a:solidFill>
                            <a:srgbClr val="102A37"/>
                          </a:solidFill>
                          <a:latin typeface="Arial"/>
                          <a:ea typeface="Arial"/>
                          <a:cs typeface="Arial"/>
                        </a:rPr>
                        <a:t>Core workflow</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Implemented; dated API tests</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Final team UAT</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Current checkout</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Build; 776/777 tests</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Retained old holdout failure</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704850">
                <a:tc>
                  <a:txBody>
                    <a:bodyPr/>
                    <a:lstStyle/>
                    <a:p>
                      <a:r>
                        <a:rPr sz="1875" b="0">
                          <a:solidFill>
                            <a:srgbClr val="102A37"/>
                          </a:solidFill>
                          <a:latin typeface="Arial"/>
                          <a:ea typeface="Arial"/>
                          <a:cs typeface="Arial"/>
                        </a:rPr>
                        <a:t>Reviewer v3</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3-sample and 17-sample runs</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Shadow only; calibration pending</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Team process</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Responsibilities and dated PRs</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Actual effort and peer review</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bl>
          </a:graphicData>
        </a:graphic>
      </p:graphicFrame>
      <p:sp>
        <p:nvSpPr>
          <p:cNvPr id="3" name="slide-number">
            <a:extLst xmlns:a="http://schemas.openxmlformats.org/drawingml/2006/main">
              <a:ext uri="{FF2B5EF4-FFF2-40B4-BE49-F238E27FC236}">
                <a16:creationId xmlns:a16="http://schemas.microsoft.com/office/drawing/2014/main" id="{72E29715-0054-4F55-B11B-90025EC0AA4E}"/>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03</a:t>
            </a:r>
          </a:p>
        </p:txBody>
      </p:sp>
    </p:spTree>
    <p:extLst>
      <p:ext uri="{BB962C8B-B14F-4D97-AF65-F5344CB8AC3E}">
        <p14:creationId xmlns:p14="http://schemas.microsoft.com/office/powerpoint/2010/main" val="2678340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38FB91-CB0E-46A9-B0C6-08B2C20AA37B}"/>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Team responsibilities and definition of done</a:t>
            </a:r>
          </a:p>
        </p:txBody>
      </p:sp>
      <p:graphicFrame>
        <p:nvGraphicFramePr>
          <p:cNvPr id="2" name="">
            <a:extLst xmlns:a="http://schemas.openxmlformats.org/drawingml/2006/main">
              <a:ext uri="{FF2B5EF4-FFF2-40B4-BE49-F238E27FC236}">
                <a16:creationId xmlns:a16="http://schemas.microsoft.com/office/drawing/2014/main" id="{35C467A2-9D8E-4186-832E-0EAC56A37829}"/>
              </a:ext>
            </a:extLst>
          </p:cNvPr>
          <p:cNvGraphicFramePr/>
          <p:nvPr/>
        </p:nvGraphicFramePr>
        <p:xfrm>
          <a:off xmlns:a="http://schemas.openxmlformats.org/drawingml/2006/main" x="609600" y="1562100"/>
          <a:ext xmlns:a="http://schemas.openxmlformats.org/drawingml/2006/main" cx="10972800" cy="4000500"/>
        </p:xfrm>
        <a:graphic xmlns:a="http://schemas.openxmlformats.org/drawingml/2006/main">
          <a:graphicData uri="http://schemas.openxmlformats.org/drawingml/2006/table">
            <a:tbl>
              <a:tblPr/>
              <a:tblGrid>
                <a:gridCol w="2524125"/>
                <a:gridCol w="4019550"/>
                <a:gridCol w="4429125"/>
              </a:tblGrid>
              <a:tr h="666750">
                <a:tc>
                  <a:txBody>
                    <a:bodyPr/>
                    <a:lstStyle/>
                    <a:p>
                      <a:r>
                        <a:rPr sz="1800" b="1">
                          <a:solidFill>
                            <a:srgbClr val="FFFFFF"/>
                          </a:solidFill>
                          <a:latin typeface="Arial"/>
                          <a:ea typeface="Arial"/>
                          <a:cs typeface="Arial"/>
                        </a:rPr>
                        <a:t>Member</a:t>
                      </a:r>
                    </a:p>
                  </a:txBody>
                  <a:tcPr marL="142875" marR="142875" marT="133350" marB="133350" anchor="ctr">
                    <a:lnL w="9525">
                      <a:solidFill>
                        <a:srgbClr val="CAD6D9"/>
                      </a:solidFill>
                      <a:prstDash val="solid"/>
                    </a:lnL>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Responsibility</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Presentation role</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r>
              <a:tr h="666750">
                <a:tc>
                  <a:txBody>
                    <a:bodyPr/>
                    <a:lstStyle/>
                    <a:p>
                      <a:r>
                        <a:rPr sz="1875" b="0">
                          <a:solidFill>
                            <a:srgbClr val="102A37"/>
                          </a:solidFill>
                          <a:latin typeface="Arial"/>
                          <a:ea typeface="Arial"/>
                          <a:cs typeface="Arial"/>
                        </a:rPr>
                        <a:t>A · TANG YUCHEN</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Requirements, UI, UAT</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Opening and system workflow</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666750">
                <a:tc>
                  <a:txBody>
                    <a:bodyPr/>
                    <a:lstStyle/>
                    <a:p>
                      <a:r>
                        <a:rPr sz="1875" b="0">
                          <a:solidFill>
                            <a:srgbClr val="102A37"/>
                          </a:solidFill>
                          <a:latin typeface="Arial"/>
                          <a:ea typeface="Arial"/>
                          <a:cs typeface="Arial"/>
                        </a:rPr>
                        <a:t>B · ZHU PENGXU</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APIs, data, review invariants</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Architecture and review demo</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666750">
                <a:tc>
                  <a:txBody>
                    <a:bodyPr/>
                    <a:lstStyle/>
                    <a:p>
                      <a:r>
                        <a:rPr sz="1875" b="0">
                          <a:solidFill>
                            <a:srgbClr val="102A37"/>
                          </a:solidFill>
                          <a:latin typeface="Arial"/>
                          <a:ea typeface="Arial"/>
                          <a:cs typeface="Arial"/>
                        </a:rPr>
                        <a:t>C · LIN XINDA</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Consumer and evaluation</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Model evidence and v3</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666750">
                <a:tc>
                  <a:txBody>
                    <a:bodyPr/>
                    <a:lstStyle/>
                    <a:p>
                      <a:r>
                        <a:rPr sz="1875" b="0">
                          <a:solidFill>
                            <a:srgbClr val="102A37"/>
                          </a:solidFill>
                          <a:latin typeface="Arial"/>
                          <a:ea typeface="Arial"/>
                          <a:cs typeface="Arial"/>
                        </a:rPr>
                        <a:t>D · LIAO CAN</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Cloud, CI/CD, recovery</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Pipeline demo</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666750">
                <a:tc>
                  <a:txBody>
                    <a:bodyPr/>
                    <a:lstStyle/>
                    <a:p>
                      <a:r>
                        <a:rPr sz="1875" b="0">
                          <a:solidFill>
                            <a:srgbClr val="102A37"/>
                          </a:solidFill>
                          <a:latin typeface="Arial"/>
                          <a:ea typeface="Arial"/>
                          <a:cs typeface="Arial"/>
                        </a:rPr>
                        <a:t>E · LIAO BINFENG</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Security and performance</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Testing and quality limits</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bl>
          </a:graphicData>
        </a:graphic>
      </p:graphicFrame>
      <p:sp>
        <p:nvSpPr>
          <p:cNvPr id="3" name="slide-number">
            <a:extLst xmlns:a="http://schemas.openxmlformats.org/drawingml/2006/main">
              <a:ext uri="{FF2B5EF4-FFF2-40B4-BE49-F238E27FC236}">
                <a16:creationId xmlns:a16="http://schemas.microsoft.com/office/drawing/2014/main" id="{0F966F6F-32FE-49C4-9C83-F0E3D1E02A5D}"/>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04</a:t>
            </a:r>
          </a:p>
        </p:txBody>
      </p:sp>
    </p:spTree>
    <p:extLst>
      <p:ext uri="{BB962C8B-B14F-4D97-AF65-F5344CB8AC3E}">
        <p14:creationId xmlns:p14="http://schemas.microsoft.com/office/powerpoint/2010/main" val="21138085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CB6BA65-D5FE-4858-A76D-98850CDA4253}"/>
              </a:ext>
            </a:extLst>
          </p:cNvPr>
          <p:cNvCxnSpPr>
            <a:stCxn xmlns:a="http://schemas.openxmlformats.org/drawingml/2006/main" id="5" idx="3"/>
            <a:endCxn xmlns:a="http://schemas.openxmlformats.org/drawingml/2006/main" id="11" idx="1"/>
          </p:cNvCxnSpPr>
          <p:nvPr/>
        </p:nvCxnSpPr>
        <p:spPr>
          <a:xfrm xmlns:a="http://schemas.openxmlformats.org/drawingml/2006/main">
            <a:off x="5953125" y="4391025"/>
            <a:ext cx="1285875" cy="0"/>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13" name="">
            <a:extLst xmlns:a="http://schemas.openxmlformats.org/drawingml/2006/main">
              <a:ext uri="{FF2B5EF4-FFF2-40B4-BE49-F238E27FC236}">
                <a16:creationId xmlns:a16="http://schemas.microsoft.com/office/drawing/2014/main" id="{DD577126-42C2-485B-9F7D-4A427622743F}"/>
              </a:ext>
            </a:extLst>
          </p:cNvPr>
          <p:cNvCxnSpPr>
            <a:stCxn xmlns:a="http://schemas.openxmlformats.org/drawingml/2006/main" id="4" idx="3"/>
            <a:endCxn xmlns:a="http://schemas.openxmlformats.org/drawingml/2006/main" id="10" idx="1"/>
          </p:cNvCxnSpPr>
          <p:nvPr/>
        </p:nvCxnSpPr>
        <p:spPr>
          <a:xfrm xmlns:a="http://schemas.openxmlformats.org/drawingml/2006/main">
            <a:off x="5953125" y="3190875"/>
            <a:ext cx="1285875" cy="0"/>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12" name="">
            <a:extLst xmlns:a="http://schemas.openxmlformats.org/drawingml/2006/main">
              <a:ext uri="{FF2B5EF4-FFF2-40B4-BE49-F238E27FC236}">
                <a16:creationId xmlns:a16="http://schemas.microsoft.com/office/drawing/2014/main" id="{6427A117-C9B9-47DB-A090-AB087BC51D5D}"/>
              </a:ext>
            </a:extLst>
          </p:cNvPr>
          <p:cNvCxnSpPr>
            <a:stCxn xmlns:a="http://schemas.openxmlformats.org/drawingml/2006/main" id="3" idx="3"/>
            <a:endCxn xmlns:a="http://schemas.openxmlformats.org/drawingml/2006/main" id="9" idx="1"/>
          </p:cNvCxnSpPr>
          <p:nvPr/>
        </p:nvCxnSpPr>
        <p:spPr>
          <a:xfrm xmlns:a="http://schemas.openxmlformats.org/drawingml/2006/main">
            <a:off x="5953125" y="1990725"/>
            <a:ext cx="1285875" cy="0"/>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8" name="">
            <a:extLst xmlns:a="http://schemas.openxmlformats.org/drawingml/2006/main">
              <a:ext uri="{FF2B5EF4-FFF2-40B4-BE49-F238E27FC236}">
                <a16:creationId xmlns:a16="http://schemas.microsoft.com/office/drawing/2014/main" id="{FA4161DC-F88C-46C8-88D6-B230452CFF10}"/>
              </a:ext>
            </a:extLst>
          </p:cNvPr>
          <p:cNvCxnSpPr>
            <a:stCxn xmlns:a="http://schemas.openxmlformats.org/drawingml/2006/main" id="2" idx="3"/>
            <a:endCxn xmlns:a="http://schemas.openxmlformats.org/drawingml/2006/main" id="5" idx="1"/>
          </p:cNvCxnSpPr>
          <p:nvPr/>
        </p:nvCxnSpPr>
        <p:spPr>
          <a:xfrm xmlns:a="http://schemas.openxmlformats.org/drawingml/2006/main">
            <a:off x="2571750" y="2571750"/>
            <a:ext cx="1047750" cy="1819275"/>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7" name="">
            <a:extLst xmlns:a="http://schemas.openxmlformats.org/drawingml/2006/main">
              <a:ext uri="{FF2B5EF4-FFF2-40B4-BE49-F238E27FC236}">
                <a16:creationId xmlns:a16="http://schemas.microsoft.com/office/drawing/2014/main" id="{D1D96F46-D25A-454A-94A1-BFBE80993190}"/>
              </a:ext>
            </a:extLst>
          </p:cNvPr>
          <p:cNvCxnSpPr>
            <a:stCxn xmlns:a="http://schemas.openxmlformats.org/drawingml/2006/main" id="2" idx="3"/>
            <a:endCxn xmlns:a="http://schemas.openxmlformats.org/drawingml/2006/main" id="4" idx="1"/>
          </p:cNvCxnSpPr>
          <p:nvPr/>
        </p:nvCxnSpPr>
        <p:spPr>
          <a:xfrm xmlns:a="http://schemas.openxmlformats.org/drawingml/2006/main">
            <a:off x="2571750" y="2571750"/>
            <a:ext cx="1047750" cy="619125"/>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6" name="">
            <a:extLst xmlns:a="http://schemas.openxmlformats.org/drawingml/2006/main">
              <a:ext uri="{FF2B5EF4-FFF2-40B4-BE49-F238E27FC236}">
                <a16:creationId xmlns:a16="http://schemas.microsoft.com/office/drawing/2014/main" id="{8CBA8CA6-D1A3-4787-BDE2-5B67B8602355}"/>
              </a:ext>
            </a:extLst>
          </p:cNvPr>
          <p:cNvCxnSpPr>
            <a:stCxn xmlns:a="http://schemas.openxmlformats.org/drawingml/2006/main" id="2" idx="3"/>
            <a:endCxn xmlns:a="http://schemas.openxmlformats.org/drawingml/2006/main" id="3" idx="1"/>
          </p:cNvCxnSpPr>
          <p:nvPr/>
        </p:nvCxnSpPr>
        <p:spPr>
          <a:xfrm xmlns:a="http://schemas.openxmlformats.org/drawingml/2006/main" flipV="1">
            <a:off x="2571750" y="1990725"/>
            <a:ext cx="1047750" cy="581025"/>
          </a:xfrm>
          <a:prstGeom xmlns:a="http://schemas.openxmlformats.org/drawingml/2006/main" prst="straightConnector1">
            <a:avLst/>
          </a:prstGeom>
          <a:ln xmlns:a="http://schemas.openxmlformats.org/drawingml/2006/main" w="19050">
            <a:solidFill>
              <a:srgbClr val="086F70"/>
            </a:solidFill>
            <a:tailEnd type="arrow" w="med" len="med"/>
          </a:ln>
        </p:spPr>
      </p:cxnSp>
      <p:sp>
        <p:nvSpPr>
          <p:cNvPr id="17" name="title">
            <a:extLst xmlns:a="http://schemas.openxmlformats.org/drawingml/2006/main">
              <a:ext uri="{FF2B5EF4-FFF2-40B4-BE49-F238E27FC236}">
                <a16:creationId xmlns:a16="http://schemas.microsoft.com/office/drawing/2014/main" id="{97DC29D7-C6D6-4A1B-9492-135C3DEBA933}"/>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Service boundaries</a:t>
            </a:r>
          </a:p>
        </p:txBody>
      </p:sp>
      <p:sp>
        <p:nvSpPr>
          <p:cNvPr id="2" name="gateway">
            <a:extLst xmlns:a="http://schemas.openxmlformats.org/drawingml/2006/main">
              <a:ext uri="{FF2B5EF4-FFF2-40B4-BE49-F238E27FC236}">
                <a16:creationId xmlns:a16="http://schemas.microsoft.com/office/drawing/2014/main" id="{FF242EF1-5E10-4866-8802-E574AF1361FB}"/>
              </a:ext>
            </a:extLst>
          </p:cNvPr>
          <p:cNvSpPr>
            <a:spLocks xmlns:a="http://schemas.openxmlformats.org/drawingml/2006/main" noGrp="1"/>
          </p:cNvSpPr>
          <p:nvPr/>
        </p:nvSpPr>
        <p:spPr>
          <a:xfrm xmlns:a="http://schemas.openxmlformats.org/drawingml/2006/main">
            <a:off x="666750" y="2143125"/>
            <a:ext cx="1905000" cy="8572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Gateway</a:t>
            </a:r>
          </a:p>
        </p:txBody>
      </p:sp>
      <p:sp>
        <p:nvSpPr>
          <p:cNvPr id="3" name="assets">
            <a:extLst xmlns:a="http://schemas.openxmlformats.org/drawingml/2006/main">
              <a:ext uri="{FF2B5EF4-FFF2-40B4-BE49-F238E27FC236}">
                <a16:creationId xmlns:a16="http://schemas.microsoft.com/office/drawing/2014/main" id="{E6BE4C95-445C-4133-B27D-1C7DBEA75141}"/>
              </a:ext>
            </a:extLst>
          </p:cNvPr>
          <p:cNvSpPr>
            <a:spLocks xmlns:a="http://schemas.openxmlformats.org/drawingml/2006/main" noGrp="1"/>
          </p:cNvSpPr>
          <p:nvPr/>
        </p:nvSpPr>
        <p:spPr>
          <a:xfrm xmlns:a="http://schemas.openxmlformats.org/drawingml/2006/main">
            <a:off x="3619500" y="1562100"/>
            <a:ext cx="2333625" cy="8572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Test Assets</a:t>
            </a:r>
          </a:p>
        </p:txBody>
      </p:sp>
      <p:sp>
        <p:nvSpPr>
          <p:cNvPr id="4" name="evaluation">
            <a:extLst xmlns:a="http://schemas.openxmlformats.org/drawingml/2006/main">
              <a:ext uri="{FF2B5EF4-FFF2-40B4-BE49-F238E27FC236}">
                <a16:creationId xmlns:a16="http://schemas.microsoft.com/office/drawing/2014/main" id="{009BCBF3-D6C1-48C8-B55D-65ABBD894254}"/>
              </a:ext>
            </a:extLst>
          </p:cNvPr>
          <p:cNvSpPr>
            <a:spLocks xmlns:a="http://schemas.openxmlformats.org/drawingml/2006/main" noGrp="1"/>
          </p:cNvSpPr>
          <p:nvPr/>
        </p:nvSpPr>
        <p:spPr>
          <a:xfrm xmlns:a="http://schemas.openxmlformats.org/drawingml/2006/main">
            <a:off x="3619500" y="2762250"/>
            <a:ext cx="2333625" cy="8572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Evaluation</a:t>
            </a:r>
          </a:p>
        </p:txBody>
      </p:sp>
      <p:sp>
        <p:nvSpPr>
          <p:cNvPr id="5" name="review">
            <a:extLst xmlns:a="http://schemas.openxmlformats.org/drawingml/2006/main">
              <a:ext uri="{FF2B5EF4-FFF2-40B4-BE49-F238E27FC236}">
                <a16:creationId xmlns:a16="http://schemas.microsoft.com/office/drawing/2014/main" id="{15E5AA4A-DCA8-42C9-B4ED-590AE2C807D9}"/>
              </a:ext>
            </a:extLst>
          </p:cNvPr>
          <p:cNvSpPr>
            <a:spLocks xmlns:a="http://schemas.openxmlformats.org/drawingml/2006/main" noGrp="1"/>
          </p:cNvSpPr>
          <p:nvPr/>
        </p:nvSpPr>
        <p:spPr>
          <a:xfrm xmlns:a="http://schemas.openxmlformats.org/drawingml/2006/main">
            <a:off x="3619500" y="3962400"/>
            <a:ext cx="2333625" cy="8572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Review and Evidence</a:t>
            </a:r>
          </a:p>
        </p:txBody>
      </p:sp>
      <p:sp>
        <p:nvSpPr>
          <p:cNvPr id="9" name="registry-db">
            <a:extLst xmlns:a="http://schemas.openxmlformats.org/drawingml/2006/main">
              <a:ext uri="{FF2B5EF4-FFF2-40B4-BE49-F238E27FC236}">
                <a16:creationId xmlns:a16="http://schemas.microsoft.com/office/drawing/2014/main" id="{3F30A00E-F3FD-453A-AC35-77CA31D88230}"/>
              </a:ext>
            </a:extLst>
          </p:cNvPr>
          <p:cNvSpPr>
            <a:spLocks xmlns:a="http://schemas.openxmlformats.org/drawingml/2006/main" noGrp="1"/>
          </p:cNvSpPr>
          <p:nvPr/>
        </p:nvSpPr>
        <p:spPr>
          <a:xfrm xmlns:a="http://schemas.openxmlformats.org/drawingml/2006/main">
            <a:off x="7239000" y="1562100"/>
            <a:ext cx="2190750" cy="8572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rg_registry</a:t>
            </a:r>
          </a:p>
        </p:txBody>
      </p:sp>
      <p:sp>
        <p:nvSpPr>
          <p:cNvPr id="10" name="evaluation-db">
            <a:extLst xmlns:a="http://schemas.openxmlformats.org/drawingml/2006/main">
              <a:ext uri="{FF2B5EF4-FFF2-40B4-BE49-F238E27FC236}">
                <a16:creationId xmlns:a16="http://schemas.microsoft.com/office/drawing/2014/main" id="{0C5A1DEE-73C9-401F-83D6-F9447B2665DE}"/>
              </a:ext>
            </a:extLst>
          </p:cNvPr>
          <p:cNvSpPr>
            <a:spLocks xmlns:a="http://schemas.openxmlformats.org/drawingml/2006/main" noGrp="1"/>
          </p:cNvSpPr>
          <p:nvPr/>
        </p:nvSpPr>
        <p:spPr>
          <a:xfrm xmlns:a="http://schemas.openxmlformats.org/drawingml/2006/main">
            <a:off x="7239000" y="2762250"/>
            <a:ext cx="2190750" cy="8572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rg_evaluation</a:t>
            </a:r>
          </a:p>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Jobs + outbox</a:t>
            </a:r>
          </a:p>
        </p:txBody>
      </p:sp>
      <p:sp>
        <p:nvSpPr>
          <p:cNvPr id="11" name="review-db">
            <a:extLst xmlns:a="http://schemas.openxmlformats.org/drawingml/2006/main">
              <a:ext uri="{FF2B5EF4-FFF2-40B4-BE49-F238E27FC236}">
                <a16:creationId xmlns:a16="http://schemas.microsoft.com/office/drawing/2014/main" id="{691F6AC4-156D-4BD7-9C39-7EF4BBE1D023}"/>
              </a:ext>
            </a:extLst>
          </p:cNvPr>
          <p:cNvSpPr>
            <a:spLocks xmlns:a="http://schemas.openxmlformats.org/drawingml/2006/main" noGrp="1"/>
          </p:cNvSpPr>
          <p:nvPr/>
        </p:nvSpPr>
        <p:spPr>
          <a:xfrm xmlns:a="http://schemas.openxmlformats.org/drawingml/2006/main">
            <a:off x="7239000" y="3962400"/>
            <a:ext cx="2190750" cy="8572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rg_governance</a:t>
            </a:r>
          </a:p>
        </p:txBody>
      </p:sp>
      <p:sp>
        <p:nvSpPr>
          <p:cNvPr id="15" name="execution-path">
            <a:extLst xmlns:a="http://schemas.openxmlformats.org/drawingml/2006/main">
              <a:ext uri="{FF2B5EF4-FFF2-40B4-BE49-F238E27FC236}">
                <a16:creationId xmlns:a16="http://schemas.microsoft.com/office/drawing/2014/main" id="{5F367F91-B642-4DE1-BBF9-D60931DF42C3}"/>
              </a:ext>
            </a:extLst>
          </p:cNvPr>
          <p:cNvSpPr>
            <a:spLocks xmlns:a="http://schemas.openxmlformats.org/drawingml/2006/main" noGrp="1"/>
          </p:cNvSpPr>
          <p:nvPr/>
        </p:nvSpPr>
        <p:spPr>
          <a:xfrm xmlns:a="http://schemas.openxmlformats.org/drawingml/2006/main">
            <a:off x="3619500" y="5295900"/>
            <a:ext cx="7524750" cy="6667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Evaluation execution: RabbitMQ / Workers / Support</a:t>
            </a:r>
          </a:p>
        </p:txBody>
      </p:sp>
      <p:sp>
        <p:nvSpPr>
          <p:cNvPr id="16" name="slide-number">
            <a:extLst xmlns:a="http://schemas.openxmlformats.org/drawingml/2006/main">
              <a:ext uri="{FF2B5EF4-FFF2-40B4-BE49-F238E27FC236}">
                <a16:creationId xmlns:a16="http://schemas.microsoft.com/office/drawing/2014/main" id="{BD120810-4202-4A14-ADAF-E6DAD0177BEB}"/>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05</a:t>
            </a:r>
          </a:p>
        </p:txBody>
      </p:sp>
    </p:spTree>
    <p:extLst>
      <p:ext uri="{BB962C8B-B14F-4D97-AF65-F5344CB8AC3E}">
        <p14:creationId xmlns:p14="http://schemas.microsoft.com/office/powerpoint/2010/main" val="18041385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ED8C1B5-BD8F-46FB-A14C-DAA160A82603}"/>
              </a:ext>
            </a:extLst>
          </p:cNvPr>
          <p:cNvCxnSpPr>
            <a:stCxn xmlns:a="http://schemas.openxmlformats.org/drawingml/2006/main" id="5" idx="3"/>
            <a:endCxn xmlns:a="http://schemas.openxmlformats.org/drawingml/2006/main" id="6" idx="1"/>
          </p:cNvCxnSpPr>
          <p:nvPr/>
        </p:nvCxnSpPr>
        <p:spPr>
          <a:xfrm xmlns:a="http://schemas.openxmlformats.org/drawingml/2006/main">
            <a:off x="9334500" y="2362200"/>
            <a:ext cx="266700" cy="0"/>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9" name="">
            <a:extLst xmlns:a="http://schemas.openxmlformats.org/drawingml/2006/main">
              <a:ext uri="{FF2B5EF4-FFF2-40B4-BE49-F238E27FC236}">
                <a16:creationId xmlns:a16="http://schemas.microsoft.com/office/drawing/2014/main" id="{2016FD39-683E-4271-B169-DD98391047DB}"/>
              </a:ext>
            </a:extLst>
          </p:cNvPr>
          <p:cNvCxnSpPr>
            <a:stCxn xmlns:a="http://schemas.openxmlformats.org/drawingml/2006/main" id="4" idx="3"/>
            <a:endCxn xmlns:a="http://schemas.openxmlformats.org/drawingml/2006/main" id="5" idx="1"/>
          </p:cNvCxnSpPr>
          <p:nvPr/>
        </p:nvCxnSpPr>
        <p:spPr>
          <a:xfrm xmlns:a="http://schemas.openxmlformats.org/drawingml/2006/main">
            <a:off x="7086600" y="2362200"/>
            <a:ext cx="266700" cy="0"/>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8" name="">
            <a:extLst xmlns:a="http://schemas.openxmlformats.org/drawingml/2006/main">
              <a:ext uri="{FF2B5EF4-FFF2-40B4-BE49-F238E27FC236}">
                <a16:creationId xmlns:a16="http://schemas.microsoft.com/office/drawing/2014/main" id="{BA0949A1-57EC-4344-AE13-EEE97D1FD74A}"/>
              </a:ext>
            </a:extLst>
          </p:cNvPr>
          <p:cNvCxnSpPr>
            <a:stCxn xmlns:a="http://schemas.openxmlformats.org/drawingml/2006/main" id="3" idx="3"/>
            <a:endCxn xmlns:a="http://schemas.openxmlformats.org/drawingml/2006/main" id="4" idx="1"/>
          </p:cNvCxnSpPr>
          <p:nvPr/>
        </p:nvCxnSpPr>
        <p:spPr>
          <a:xfrm xmlns:a="http://schemas.openxmlformats.org/drawingml/2006/main">
            <a:off x="4838700" y="2362200"/>
            <a:ext cx="266700" cy="0"/>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7" name="">
            <a:extLst xmlns:a="http://schemas.openxmlformats.org/drawingml/2006/main">
              <a:ext uri="{FF2B5EF4-FFF2-40B4-BE49-F238E27FC236}">
                <a16:creationId xmlns:a16="http://schemas.microsoft.com/office/drawing/2014/main" id="{D96BF205-0997-40FF-A2D2-43406BA44BD0}"/>
              </a:ext>
            </a:extLst>
          </p:cNvPr>
          <p:cNvCxnSpPr>
            <a:stCxn xmlns:a="http://schemas.openxmlformats.org/drawingml/2006/main" id="2" idx="3"/>
            <a:endCxn xmlns:a="http://schemas.openxmlformats.org/drawingml/2006/main" id="3" idx="1"/>
          </p:cNvCxnSpPr>
          <p:nvPr/>
        </p:nvCxnSpPr>
        <p:spPr>
          <a:xfrm xmlns:a="http://schemas.openxmlformats.org/drawingml/2006/main">
            <a:off x="2590800" y="2362200"/>
            <a:ext cx="266700" cy="0"/>
          </a:xfrm>
          <a:prstGeom xmlns:a="http://schemas.openxmlformats.org/drawingml/2006/main" prst="straightConnector1">
            <a:avLst/>
          </a:prstGeom>
          <a:ln xmlns:a="http://schemas.openxmlformats.org/drawingml/2006/main" w="19050">
            <a:solidFill>
              <a:srgbClr val="086F70"/>
            </a:solidFill>
            <a:tailEnd type="arrow" w="med" len="med"/>
          </a:ln>
        </p:spPr>
      </p:cxnSp>
      <p:sp>
        <p:nvSpPr>
          <p:cNvPr id="15" name="title">
            <a:extLst xmlns:a="http://schemas.openxmlformats.org/drawingml/2006/main">
              <a:ext uri="{FF2B5EF4-FFF2-40B4-BE49-F238E27FC236}">
                <a16:creationId xmlns:a16="http://schemas.microsoft.com/office/drawing/2014/main" id="{E86EC147-E36A-4653-ABE8-BF7E078696D2}"/>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A representative evaluation request</a:t>
            </a:r>
          </a:p>
        </p:txBody>
      </p:sp>
      <p:sp>
        <p:nvSpPr>
          <p:cNvPr id="2" name="step-0">
            <a:extLst xmlns:a="http://schemas.openxmlformats.org/drawingml/2006/main">
              <a:ext uri="{FF2B5EF4-FFF2-40B4-BE49-F238E27FC236}">
                <a16:creationId xmlns:a16="http://schemas.microsoft.com/office/drawing/2014/main" id="{4A1285A3-6D22-4AB0-8FBA-B0BDF78C77C6}"/>
              </a:ext>
            </a:extLst>
          </p:cNvPr>
          <p:cNvSpPr>
            <a:spLocks xmlns:a="http://schemas.openxmlformats.org/drawingml/2006/main" noGrp="1"/>
          </p:cNvSpPr>
          <p:nvPr/>
        </p:nvSpPr>
        <p:spPr>
          <a:xfrm xmlns:a="http://schemas.openxmlformats.org/drawingml/2006/main">
            <a:off x="6096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Admit + snapshot</a:t>
            </a:r>
          </a:p>
        </p:txBody>
      </p:sp>
      <p:sp>
        <p:nvSpPr>
          <p:cNvPr id="3" name="step-1">
            <a:extLst xmlns:a="http://schemas.openxmlformats.org/drawingml/2006/main">
              <a:ext uri="{FF2B5EF4-FFF2-40B4-BE49-F238E27FC236}">
                <a16:creationId xmlns:a16="http://schemas.microsoft.com/office/drawing/2014/main" id="{06225D64-D883-4615-8AF1-F40D7C907499}"/>
              </a:ext>
            </a:extLst>
          </p:cNvPr>
          <p:cNvSpPr>
            <a:spLocks xmlns:a="http://schemas.openxmlformats.org/drawingml/2006/main" noGrp="1"/>
          </p:cNvSpPr>
          <p:nvPr/>
        </p:nvSpPr>
        <p:spPr>
          <a:xfrm xmlns:a="http://schemas.openxmlformats.org/drawingml/2006/main">
            <a:off x="28575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Job + outbox</a:t>
            </a:r>
          </a:p>
        </p:txBody>
      </p:sp>
      <p:sp>
        <p:nvSpPr>
          <p:cNvPr id="4" name="step-2">
            <a:extLst xmlns:a="http://schemas.openxmlformats.org/drawingml/2006/main">
              <a:ext uri="{FF2B5EF4-FFF2-40B4-BE49-F238E27FC236}">
                <a16:creationId xmlns:a16="http://schemas.microsoft.com/office/drawing/2014/main" id="{4EAD452B-D09F-42B6-AC56-BC2CB1D146F3}"/>
              </a:ext>
            </a:extLst>
          </p:cNvPr>
          <p:cNvSpPr>
            <a:spLocks xmlns:a="http://schemas.openxmlformats.org/drawingml/2006/main" noGrp="1"/>
          </p:cNvSpPr>
          <p:nvPr/>
        </p:nvSpPr>
        <p:spPr>
          <a:xfrm xmlns:a="http://schemas.openxmlformats.org/drawingml/2006/main">
            <a:off x="51054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Broker + lease</a:t>
            </a:r>
          </a:p>
        </p:txBody>
      </p:sp>
      <p:sp>
        <p:nvSpPr>
          <p:cNvPr id="5" name="step-3">
            <a:extLst xmlns:a="http://schemas.openxmlformats.org/drawingml/2006/main">
              <a:ext uri="{FF2B5EF4-FFF2-40B4-BE49-F238E27FC236}">
                <a16:creationId xmlns:a16="http://schemas.microsoft.com/office/drawing/2014/main" id="{8F80B45C-111B-4822-B482-97AFF47575A1}"/>
              </a:ext>
            </a:extLst>
          </p:cNvPr>
          <p:cNvSpPr>
            <a:spLocks xmlns:a="http://schemas.openxmlformats.org/drawingml/2006/main" noGrp="1"/>
          </p:cNvSpPr>
          <p:nvPr/>
        </p:nvSpPr>
        <p:spPr>
          <a:xfrm xmlns:a="http://schemas.openxmlformats.org/drawingml/2006/main">
            <a:off x="73533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Execute + gate</a:t>
            </a:r>
          </a:p>
        </p:txBody>
      </p:sp>
      <p:sp>
        <p:nvSpPr>
          <p:cNvPr id="6" name="step-4">
            <a:extLst xmlns:a="http://schemas.openxmlformats.org/drawingml/2006/main">
              <a:ext uri="{FF2B5EF4-FFF2-40B4-BE49-F238E27FC236}">
                <a16:creationId xmlns:a16="http://schemas.microsoft.com/office/drawing/2014/main" id="{1EE1040E-BC06-4854-B386-74C1329EFA91}"/>
              </a:ext>
            </a:extLst>
          </p:cNvPr>
          <p:cNvSpPr>
            <a:spLocks xmlns:a="http://schemas.openxmlformats.org/drawingml/2006/main" noGrp="1"/>
          </p:cNvSpPr>
          <p:nvPr/>
        </p:nvSpPr>
        <p:spPr>
          <a:xfrm xmlns:a="http://schemas.openxmlformats.org/drawingml/2006/main">
            <a:off x="96012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Review snapshot</a:t>
            </a:r>
          </a:p>
        </p:txBody>
      </p:sp>
      <p:sp>
        <p:nvSpPr>
          <p:cNvPr id="11" name="flow-note-0">
            <a:extLst xmlns:a="http://schemas.openxmlformats.org/drawingml/2006/main">
              <a:ext uri="{FF2B5EF4-FFF2-40B4-BE49-F238E27FC236}">
                <a16:creationId xmlns:a16="http://schemas.microsoft.com/office/drawing/2014/main" id="{DD788E9C-FDA5-450F-8188-DC9DDE16182D}"/>
              </a:ext>
            </a:extLst>
          </p:cNvPr>
          <p:cNvSpPr>
            <a:spLocks xmlns:a="http://schemas.openxmlformats.org/drawingml/2006/main" noGrp="1"/>
          </p:cNvSpPr>
          <p:nvPr/>
        </p:nvSpPr>
        <p:spPr>
          <a:xfrm xmlns:a="http://schemas.openxmlformats.org/drawingml/2006/main">
            <a:off x="647700" y="35147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66975"/>
                </a:solidFill>
                <a:latin typeface="Arial"/>
                <a:ea typeface="Arial"/>
                <a:cs typeface="Arial"/>
              </a:defRPr>
            </a:defPPr>
          </a:lstStyle>
          <a:p xmlns:a="http://schemas.openxmlformats.org/drawingml/2006/main">
            <a:pPr>
              <a:defRPr sz="2100" b="0">
                <a:solidFill>
                  <a:srgbClr val="566975"/>
                </a:solidFill>
                <a:latin typeface="Arial"/>
                <a:ea typeface="Arial"/>
                <a:cs typeface="Arial"/>
              </a:defRPr>
            </a:pPr>
            <a:r>
              <a:rPr sz="2100" b="0">
                <a:solidFill>
                  <a:srgbClr val="566975"/>
                </a:solidFill>
                <a:latin typeface="Arial"/>
                <a:ea typeface="Arial"/>
                <a:cs typeface="Arial"/>
              </a:rPr>
              <a:t>Idempotency binds workspace and request</a:t>
            </a:r>
          </a:p>
        </p:txBody>
      </p:sp>
      <p:sp>
        <p:nvSpPr>
          <p:cNvPr id="12" name="flow-note-1">
            <a:extLst xmlns:a="http://schemas.openxmlformats.org/drawingml/2006/main">
              <a:ext uri="{FF2B5EF4-FFF2-40B4-BE49-F238E27FC236}">
                <a16:creationId xmlns:a16="http://schemas.microsoft.com/office/drawing/2014/main" id="{48D364A8-EB0B-47C8-821B-8FB667FCFA19}"/>
              </a:ext>
            </a:extLst>
          </p:cNvPr>
          <p:cNvSpPr>
            <a:spLocks xmlns:a="http://schemas.openxmlformats.org/drawingml/2006/main" noGrp="1"/>
          </p:cNvSpPr>
          <p:nvPr/>
        </p:nvSpPr>
        <p:spPr>
          <a:xfrm xmlns:a="http://schemas.openxmlformats.org/drawingml/2006/main">
            <a:off x="647700" y="42005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66975"/>
                </a:solidFill>
                <a:latin typeface="Arial"/>
                <a:ea typeface="Arial"/>
                <a:cs typeface="Arial"/>
              </a:defRPr>
            </a:defPPr>
          </a:lstStyle>
          <a:p xmlns:a="http://schemas.openxmlformats.org/drawingml/2006/main">
            <a:pPr>
              <a:defRPr sz="2100" b="0">
                <a:solidFill>
                  <a:srgbClr val="566975"/>
                </a:solidFill>
                <a:latin typeface="Arial"/>
                <a:ea typeface="Arial"/>
                <a:cs typeface="Arial"/>
              </a:defRPr>
            </a:pPr>
            <a:r>
              <a:rPr sz="2100" b="0">
                <a:solidFill>
                  <a:srgbClr val="566975"/>
                </a:solidFill>
                <a:latin typeface="Arial"/>
                <a:ea typeface="Arial"/>
                <a:cs typeface="Arial"/>
              </a:rPr>
              <a:t>Lease identity guards the terminal write</a:t>
            </a:r>
          </a:p>
        </p:txBody>
      </p:sp>
      <p:sp>
        <p:nvSpPr>
          <p:cNvPr id="13" name="flow-note-2">
            <a:extLst xmlns:a="http://schemas.openxmlformats.org/drawingml/2006/main">
              <a:ext uri="{FF2B5EF4-FFF2-40B4-BE49-F238E27FC236}">
                <a16:creationId xmlns:a16="http://schemas.microsoft.com/office/drawing/2014/main" id="{BB8F1DF8-715F-4E62-88F3-DBBB84743AFF}"/>
              </a:ext>
            </a:extLst>
          </p:cNvPr>
          <p:cNvSpPr>
            <a:spLocks xmlns:a="http://schemas.openxmlformats.org/drawingml/2006/main" noGrp="1"/>
          </p:cNvSpPr>
          <p:nvPr/>
        </p:nvSpPr>
        <p:spPr>
          <a:xfrm xmlns:a="http://schemas.openxmlformats.org/drawingml/2006/main">
            <a:off x="647700" y="48863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66975"/>
                </a:solidFill>
                <a:latin typeface="Arial"/>
                <a:ea typeface="Arial"/>
                <a:cs typeface="Arial"/>
              </a:defRPr>
            </a:defPPr>
          </a:lstStyle>
          <a:p xmlns:a="http://schemas.openxmlformats.org/drawingml/2006/main">
            <a:pPr>
              <a:defRPr sz="2100" b="0">
                <a:solidFill>
                  <a:srgbClr val="566975"/>
                </a:solidFill>
                <a:latin typeface="Arial"/>
                <a:ea typeface="Arial"/>
                <a:cs typeface="Arial"/>
              </a:defRPr>
            </a:pPr>
            <a:r>
              <a:rPr sz="2100" b="0">
                <a:solidFill>
                  <a:srgbClr val="566975"/>
                </a:solidFill>
                <a:latin typeface="Arial"/>
                <a:ea typeface="Arial"/>
                <a:cs typeface="Arial"/>
              </a:rPr>
              <a:t>One attempt for real-provider execution</a:t>
            </a:r>
          </a:p>
        </p:txBody>
      </p:sp>
      <p:sp>
        <p:nvSpPr>
          <p:cNvPr id="14" name="slide-number">
            <a:extLst xmlns:a="http://schemas.openxmlformats.org/drawingml/2006/main">
              <a:ext uri="{FF2B5EF4-FFF2-40B4-BE49-F238E27FC236}">
                <a16:creationId xmlns:a16="http://schemas.microsoft.com/office/drawing/2014/main" id="{84586F5F-63C2-4635-A57D-07EA8C3A593C}"/>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06</a:t>
            </a:r>
          </a:p>
        </p:txBody>
      </p:sp>
    </p:spTree>
    <p:extLst>
      <p:ext uri="{BB962C8B-B14F-4D97-AF65-F5344CB8AC3E}">
        <p14:creationId xmlns:p14="http://schemas.microsoft.com/office/powerpoint/2010/main" val="16231915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509BCF-231F-4DA5-87B0-A8743C648E31}"/>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Persistence and implemented patterns</a:t>
            </a:r>
          </a:p>
        </p:txBody>
      </p:sp>
      <p:graphicFrame>
        <p:nvGraphicFramePr>
          <p:cNvPr id="2" name="">
            <a:extLst xmlns:a="http://schemas.openxmlformats.org/drawingml/2006/main">
              <a:ext uri="{FF2B5EF4-FFF2-40B4-BE49-F238E27FC236}">
                <a16:creationId xmlns:a16="http://schemas.microsoft.com/office/drawing/2014/main" id="{0FE96F77-1F4F-47CE-8CE1-D0730BB1C907}"/>
              </a:ext>
            </a:extLst>
          </p:cNvPr>
          <p:cNvGraphicFramePr/>
          <p:nvPr/>
        </p:nvGraphicFramePr>
        <p:xfrm>
          <a:off xmlns:a="http://schemas.openxmlformats.org/drawingml/2006/main" x="609600" y="1562100"/>
          <a:ext xmlns:a="http://schemas.openxmlformats.org/drawingml/2006/main" cx="10972800" cy="2819400"/>
        </p:xfrm>
        <a:graphic xmlns:a="http://schemas.openxmlformats.org/drawingml/2006/main">
          <a:graphicData uri="http://schemas.openxmlformats.org/drawingml/2006/table">
            <a:tbl>
              <a:tblPr/>
              <a:tblGrid>
                <a:gridCol w="2524125"/>
                <a:gridCol w="4019550"/>
                <a:gridCol w="4429125"/>
              </a:tblGrid>
              <a:tr h="704850">
                <a:tc>
                  <a:txBody>
                    <a:bodyPr/>
                    <a:lstStyle/>
                    <a:p>
                      <a:r>
                        <a:rPr sz="1800" b="1">
                          <a:solidFill>
                            <a:srgbClr val="FFFFFF"/>
                          </a:solidFill>
                          <a:latin typeface="Arial"/>
                          <a:ea typeface="Arial"/>
                          <a:cs typeface="Arial"/>
                        </a:rPr>
                        <a:t>Owner database</a:t>
                      </a:r>
                    </a:p>
                  </a:txBody>
                  <a:tcPr marL="142875" marR="142875" marT="133350" marB="133350" anchor="ctr">
                    <a:lnL w="9525">
                      <a:solidFill>
                        <a:srgbClr val="CAD6D9"/>
                      </a:solidFill>
                      <a:prstDash val="solid"/>
                    </a:lnL>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Entities</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Important relationship</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r>
              <a:tr h="704850">
                <a:tc>
                  <a:txBody>
                    <a:bodyPr/>
                    <a:lstStyle/>
                    <a:p>
                      <a:r>
                        <a:rPr sz="1875" b="0">
                          <a:solidFill>
                            <a:srgbClr val="102A37"/>
                          </a:solidFill>
                          <a:latin typeface="Arial"/>
                          <a:ea typeface="Arial"/>
                          <a:cs typeface="Arial"/>
                        </a:rPr>
                        <a:t>rg_registry</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applications, suites</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suites.parent_id → suites.id</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rg_evaluation</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jobs, outbox, admission_limits</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outbox.job_id → jobs.id</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704850">
                <a:tc>
                  <a:txBody>
                    <a:bodyPr/>
                    <a:lstStyle/>
                    <a:p>
                      <a:r>
                        <a:rPr sz="1875" b="0">
                          <a:solidFill>
                            <a:srgbClr val="102A37"/>
                          </a:solidFill>
                          <a:latin typeface="Arial"/>
                          <a:ea typeface="Arial"/>
                          <a:cs typeface="Arial"/>
                        </a:rPr>
                        <a:t>rg_governance</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releases, audit</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previous release and entity audit</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bl>
          </a:graphicData>
        </a:graphic>
      </p:graphicFrame>
      <p:sp>
        <p:nvSpPr>
          <p:cNvPr id="3" name="slide-number">
            <a:extLst xmlns:a="http://schemas.openxmlformats.org/drawingml/2006/main">
              <a:ext uri="{FF2B5EF4-FFF2-40B4-BE49-F238E27FC236}">
                <a16:creationId xmlns:a16="http://schemas.microsoft.com/office/drawing/2014/main" id="{F98CA5A7-285F-4242-A630-6360A7DD3BC0}"/>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07</a:t>
            </a:r>
          </a:p>
        </p:txBody>
      </p:sp>
    </p:spTree>
    <p:extLst>
      <p:ext uri="{BB962C8B-B14F-4D97-AF65-F5344CB8AC3E}">
        <p14:creationId xmlns:p14="http://schemas.microsoft.com/office/powerpoint/2010/main" val="18931363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29E9FE14-E2D3-4C07-AC09-A4EB89643F82}"/>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Runtime and quality attributes</a:t>
            </a:r>
          </a:p>
        </p:txBody>
      </p:sp>
      <p:sp>
        <p:nvSpPr>
          <p:cNvPr id="2" name="local-heading">
            <a:extLst xmlns:a="http://schemas.openxmlformats.org/drawingml/2006/main">
              <a:ext uri="{FF2B5EF4-FFF2-40B4-BE49-F238E27FC236}">
                <a16:creationId xmlns:a16="http://schemas.microsoft.com/office/drawing/2014/main" id="{804F6DDB-3501-48A2-86BA-D954847FB27D}"/>
              </a:ext>
            </a:extLst>
          </p:cNvPr>
          <p:cNvSpPr>
            <a:spLocks xmlns:a="http://schemas.openxmlformats.org/drawingml/2006/main" noGrp="1"/>
          </p:cNvSpPr>
          <p:nvPr/>
        </p:nvSpPr>
        <p:spPr>
          <a:xfrm xmlns:a="http://schemas.openxmlformats.org/drawingml/2006/main">
            <a:off x="628650" y="15240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86F70"/>
                </a:solidFill>
                <a:latin typeface="Arial"/>
                <a:ea typeface="Arial"/>
                <a:cs typeface="Arial"/>
              </a:defRPr>
            </a:defPPr>
          </a:lstStyle>
          <a:p xmlns:a="http://schemas.openxmlformats.org/drawingml/2006/main">
            <a:pPr>
              <a:defRPr sz="2325" b="1">
                <a:solidFill>
                  <a:srgbClr val="086F70"/>
                </a:solidFill>
                <a:latin typeface="Arial"/>
                <a:ea typeface="Arial"/>
                <a:cs typeface="Arial"/>
              </a:defRPr>
            </a:pPr>
            <a:r>
              <a:rPr sz="2325" b="1">
                <a:solidFill>
                  <a:srgbClr val="086F70"/>
                </a:solidFill>
                <a:latin typeface="Arial"/>
                <a:ea typeface="Arial"/>
                <a:cs typeface="Arial"/>
              </a:rPr>
              <a:t>Local Docker baseline</a:t>
            </a:r>
          </a:p>
        </p:txBody>
      </p:sp>
      <p:sp>
        <p:nvSpPr>
          <p:cNvPr id="3" name="cloud-heading">
            <a:extLst xmlns:a="http://schemas.openxmlformats.org/drawingml/2006/main">
              <a:ext uri="{FF2B5EF4-FFF2-40B4-BE49-F238E27FC236}">
                <a16:creationId xmlns:a16="http://schemas.microsoft.com/office/drawing/2014/main" id="{48B1585B-5370-456C-A731-ED3B24686F8E}"/>
              </a:ext>
            </a:extLst>
          </p:cNvPr>
          <p:cNvSpPr>
            <a:spLocks xmlns:a="http://schemas.openxmlformats.org/drawingml/2006/main" noGrp="1"/>
          </p:cNvSpPr>
          <p:nvPr/>
        </p:nvSpPr>
        <p:spPr>
          <a:xfrm xmlns:a="http://schemas.openxmlformats.org/drawingml/2006/main">
            <a:off x="6572250" y="15240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86F70"/>
                </a:solidFill>
                <a:latin typeface="Arial"/>
                <a:ea typeface="Arial"/>
                <a:cs typeface="Arial"/>
              </a:defRPr>
            </a:defPPr>
          </a:lstStyle>
          <a:p xmlns:a="http://schemas.openxmlformats.org/drawingml/2006/main">
            <a:pPr>
              <a:defRPr sz="2325" b="1">
                <a:solidFill>
                  <a:srgbClr val="086F70"/>
                </a:solidFill>
                <a:latin typeface="Arial"/>
                <a:ea typeface="Arial"/>
                <a:cs typeface="Arial"/>
              </a:defRPr>
            </a:pPr>
            <a:r>
              <a:rPr sz="2325" b="1">
                <a:solidFill>
                  <a:srgbClr val="086F70"/>
                </a:solidFill>
                <a:latin typeface="Arial"/>
                <a:ea typeface="Arial"/>
                <a:cs typeface="Arial"/>
              </a:rPr>
              <a:t>Historical GKE trial</a:t>
            </a:r>
          </a:p>
        </p:txBody>
      </p:sp>
      <p:sp>
        <p:nvSpPr>
          <p:cNvPr id="4" name="local-services">
            <a:extLst xmlns:a="http://schemas.openxmlformats.org/drawingml/2006/main">
              <a:ext uri="{FF2B5EF4-FFF2-40B4-BE49-F238E27FC236}">
                <a16:creationId xmlns:a16="http://schemas.microsoft.com/office/drawing/2014/main" id="{A8BDDABE-313D-4C84-8397-7F4542980E38}"/>
              </a:ext>
            </a:extLst>
          </p:cNvPr>
          <p:cNvSpPr>
            <a:spLocks xmlns:a="http://schemas.openxmlformats.org/drawingml/2006/main" noGrp="1"/>
          </p:cNvSpPr>
          <p:nvPr/>
        </p:nvSpPr>
        <p:spPr>
          <a:xfrm xmlns:a="http://schemas.openxmlformats.org/drawingml/2006/main">
            <a:off x="628650" y="2209800"/>
            <a:ext cx="4857750" cy="12382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Gateway + business services</a:t>
            </a:r>
          </a:p>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Worker + support adapter</a:t>
            </a:r>
          </a:p>
        </p:txBody>
      </p:sp>
      <p:sp>
        <p:nvSpPr>
          <p:cNvPr id="5" name="local-state">
            <a:extLst xmlns:a="http://schemas.openxmlformats.org/drawingml/2006/main">
              <a:ext uri="{FF2B5EF4-FFF2-40B4-BE49-F238E27FC236}">
                <a16:creationId xmlns:a16="http://schemas.microsoft.com/office/drawing/2014/main" id="{17BCD31C-D3AE-44D5-8757-2306E01977E2}"/>
              </a:ext>
            </a:extLst>
          </p:cNvPr>
          <p:cNvSpPr>
            <a:spLocks xmlns:a="http://schemas.openxmlformats.org/drawingml/2006/main" noGrp="1"/>
          </p:cNvSpPr>
          <p:nvPr/>
        </p:nvSpPr>
        <p:spPr>
          <a:xfrm xmlns:a="http://schemas.openxmlformats.org/drawingml/2006/main">
            <a:off x="628650" y="4000500"/>
            <a:ext cx="4857750" cy="11430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PostgreSQL: 3 owned databases</a:t>
            </a:r>
          </a:p>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RabbitMQ</a:t>
            </a:r>
          </a:p>
        </p:txBody>
      </p:sp>
      <p:sp>
        <p:nvSpPr>
          <p:cNvPr id="6" name="cloud-services">
            <a:extLst xmlns:a="http://schemas.openxmlformats.org/drawingml/2006/main">
              <a:ext uri="{FF2B5EF4-FFF2-40B4-BE49-F238E27FC236}">
                <a16:creationId xmlns:a16="http://schemas.microsoft.com/office/drawing/2014/main" id="{1E3B89BF-F1FA-4172-87BB-1E1A7D6C4B12}"/>
              </a:ext>
            </a:extLst>
          </p:cNvPr>
          <p:cNvSpPr>
            <a:spLocks xmlns:a="http://schemas.openxmlformats.org/drawingml/2006/main" noGrp="1"/>
          </p:cNvSpPr>
          <p:nvPr/>
        </p:nvSpPr>
        <p:spPr>
          <a:xfrm xmlns:a="http://schemas.openxmlformats.org/drawingml/2006/main">
            <a:off x="6572250" y="2209800"/>
            <a:ext cx="4857750" cy="123825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HTTPS ingress + OIDC</a:t>
            </a:r>
          </a:p>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Separate Deployments and Services</a:t>
            </a:r>
          </a:p>
        </p:txBody>
      </p:sp>
      <p:sp>
        <p:nvSpPr>
          <p:cNvPr id="7" name="cloud-state">
            <a:extLst xmlns:a="http://schemas.openxmlformats.org/drawingml/2006/main">
              <a:ext uri="{FF2B5EF4-FFF2-40B4-BE49-F238E27FC236}">
                <a16:creationId xmlns:a16="http://schemas.microsoft.com/office/drawing/2014/main" id="{A5A08783-37EF-417D-A7E2-24D929B7AF95}"/>
              </a:ext>
            </a:extLst>
          </p:cNvPr>
          <p:cNvSpPr>
            <a:spLocks xmlns:a="http://schemas.openxmlformats.org/drawingml/2006/main" noGrp="1"/>
          </p:cNvSpPr>
          <p:nvPr/>
        </p:nvSpPr>
        <p:spPr>
          <a:xfrm xmlns:a="http://schemas.openxmlformats.org/drawingml/2006/main">
            <a:off x="6572250" y="4000500"/>
            <a:ext cx="4857750" cy="11430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TLS stateful connections</a:t>
            </a:r>
          </a:p>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Queue-based KEDA worker scaling</a:t>
            </a:r>
          </a:p>
        </p:txBody>
      </p:sp>
      <p:sp>
        <p:nvSpPr>
          <p:cNvPr id="8" name="runtime-scope">
            <a:extLst xmlns:a="http://schemas.openxmlformats.org/drawingml/2006/main">
              <a:ext uri="{FF2B5EF4-FFF2-40B4-BE49-F238E27FC236}">
                <a16:creationId xmlns:a16="http://schemas.microsoft.com/office/drawing/2014/main" id="{18CA8919-9736-4041-B22B-04B337330F70}"/>
              </a:ext>
            </a:extLst>
          </p:cNvPr>
          <p:cNvSpPr>
            <a:spLocks xmlns:a="http://schemas.openxmlformats.org/drawingml/2006/main" noGrp="1"/>
          </p:cNvSpPr>
          <p:nvPr/>
        </p:nvSpPr>
        <p:spPr>
          <a:xfrm xmlns:a="http://schemas.openxmlformats.org/drawingml/2006/main">
            <a:off x="647700" y="55149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66975"/>
                </a:solidFill>
                <a:latin typeface="Arial"/>
                <a:ea typeface="Arial"/>
                <a:cs typeface="Arial"/>
              </a:defRPr>
            </a:defPPr>
          </a:lstStyle>
          <a:p xmlns:a="http://schemas.openxmlformats.org/drawingml/2006/main">
            <a:pPr>
              <a:defRPr sz="1725" b="0">
                <a:solidFill>
                  <a:srgbClr val="566975"/>
                </a:solidFill>
                <a:latin typeface="Arial"/>
                <a:ea typeface="Arial"/>
                <a:cs typeface="Arial"/>
              </a:defRPr>
            </a:pPr>
            <a:r>
              <a:rPr sz="1725" b="0">
                <a:solidFill>
                  <a:srgbClr val="566975"/>
                </a:solidFill>
                <a:latin typeface="Arial"/>
                <a:ea typeface="Arial"/>
                <a:cs typeface="Arial"/>
              </a:rPr>
              <a:t>Existing baseline rehearsal</a:t>
            </a:r>
          </a:p>
        </p:txBody>
      </p:sp>
      <p:sp>
        <p:nvSpPr>
          <p:cNvPr id="9" name="cloud-scope">
            <a:extLst xmlns:a="http://schemas.openxmlformats.org/drawingml/2006/main">
              <a:ext uri="{FF2B5EF4-FFF2-40B4-BE49-F238E27FC236}">
                <a16:creationId xmlns:a16="http://schemas.microsoft.com/office/drawing/2014/main" id="{810C19D7-906C-4054-ABA0-6CC4E4A84123}"/>
              </a:ext>
            </a:extLst>
          </p:cNvPr>
          <p:cNvSpPr>
            <a:spLocks xmlns:a="http://schemas.openxmlformats.org/drawingml/2006/main" noGrp="1"/>
          </p:cNvSpPr>
          <p:nvPr/>
        </p:nvSpPr>
        <p:spPr>
          <a:xfrm xmlns:a="http://schemas.openxmlformats.org/drawingml/2006/main">
            <a:off x="6591300" y="55149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66975"/>
                </a:solidFill>
                <a:latin typeface="Arial"/>
                <a:ea typeface="Arial"/>
                <a:cs typeface="Arial"/>
              </a:defRPr>
            </a:defPPr>
          </a:lstStyle>
          <a:p xmlns:a="http://schemas.openxmlformats.org/drawingml/2006/main">
            <a:pPr>
              <a:defRPr sz="1725" b="0">
                <a:solidFill>
                  <a:srgbClr val="566975"/>
                </a:solidFill>
                <a:latin typeface="Arial"/>
                <a:ea typeface="Arial"/>
                <a:cs typeface="Arial"/>
              </a:defRPr>
            </a:pPr>
            <a:r>
              <a:rPr sz="1725" b="0">
                <a:solidFill>
                  <a:srgbClr val="566975"/>
                </a:solidFill>
                <a:latin typeface="Arial"/>
                <a:ea typeface="Arial"/>
                <a:cs typeface="Arial"/>
              </a:rPr>
              <a:t>Dated evidence. No cloud revalidation today.</a:t>
            </a:r>
          </a:p>
        </p:txBody>
      </p:sp>
      <p:sp>
        <p:nvSpPr>
          <p:cNvPr id="10" name="slide-number">
            <a:extLst xmlns:a="http://schemas.openxmlformats.org/drawingml/2006/main">
              <a:ext uri="{FF2B5EF4-FFF2-40B4-BE49-F238E27FC236}">
                <a16:creationId xmlns:a16="http://schemas.microsoft.com/office/drawing/2014/main" id="{14AA2015-2063-412A-9B58-B16F5C9B5B10}"/>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08</a:t>
            </a:r>
          </a:p>
        </p:txBody>
      </p:sp>
    </p:spTree>
    <p:extLst>
      <p:ext uri="{BB962C8B-B14F-4D97-AF65-F5344CB8AC3E}">
        <p14:creationId xmlns:p14="http://schemas.microsoft.com/office/powerpoint/2010/main" val="16983787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5BC5479-15E1-479E-9399-A98C6F5CF272}"/>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Verification strategy and current results</a:t>
            </a:r>
          </a:p>
        </p:txBody>
      </p:sp>
      <p:graphicFrame>
        <p:nvGraphicFramePr>
          <p:cNvPr id="2" name="">
            <a:extLst xmlns:a="http://schemas.openxmlformats.org/drawingml/2006/main">
              <a:ext uri="{FF2B5EF4-FFF2-40B4-BE49-F238E27FC236}">
                <a16:creationId xmlns:a16="http://schemas.microsoft.com/office/drawing/2014/main" id="{23CB7F8E-1C4E-4073-AB5A-1E106C36F282}"/>
              </a:ext>
            </a:extLst>
          </p:cNvPr>
          <p:cNvGraphicFramePr/>
          <p:nvPr/>
        </p:nvGraphicFramePr>
        <p:xfrm>
          <a:off xmlns:a="http://schemas.openxmlformats.org/drawingml/2006/main" x="609600" y="1562100"/>
          <a:ext xmlns:a="http://schemas.openxmlformats.org/drawingml/2006/main" cx="10972800" cy="3524250"/>
        </p:xfrm>
        <a:graphic xmlns:a="http://schemas.openxmlformats.org/drawingml/2006/main">
          <a:graphicData uri="http://schemas.openxmlformats.org/drawingml/2006/table">
            <a:tbl>
              <a:tblPr/>
              <a:tblGrid>
                <a:gridCol w="2524125"/>
                <a:gridCol w="4019550"/>
                <a:gridCol w="4429125"/>
              </a:tblGrid>
              <a:tr h="704850">
                <a:tc>
                  <a:txBody>
                    <a:bodyPr/>
                    <a:lstStyle/>
                    <a:p>
                      <a:r>
                        <a:rPr sz="1800" b="1">
                          <a:solidFill>
                            <a:srgbClr val="FFFFFF"/>
                          </a:solidFill>
                          <a:latin typeface="Arial"/>
                          <a:ea typeface="Arial"/>
                          <a:cs typeface="Arial"/>
                        </a:rPr>
                        <a:t>Evidence type</a:t>
                      </a:r>
                    </a:p>
                  </a:txBody>
                  <a:tcPr marL="142875" marR="142875" marT="133350" marB="133350" anchor="ctr">
                    <a:lnL w="9525">
                      <a:solidFill>
                        <a:srgbClr val="CAD6D9"/>
                      </a:solidFill>
                      <a:prstDash val="solid"/>
                    </a:lnL>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Observed result</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Meaning</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r>
              <a:tr h="704850">
                <a:tc>
                  <a:txBody>
                    <a:bodyPr/>
                    <a:lstStyle/>
                    <a:p>
                      <a:r>
                        <a:rPr sz="1875" b="0">
                          <a:solidFill>
                            <a:srgbClr val="102A37"/>
                          </a:solidFill>
                          <a:latin typeface="Arial"/>
                          <a:ea typeface="Arial"/>
                          <a:cs typeface="Arial"/>
                        </a:rPr>
                        <a:t>Clean checkout regression</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776 / 777</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One old holdout retained</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v3 protocol + transport</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12 / 12</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Program behaviour, mocked transport</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704850">
                <a:tc>
                  <a:txBody>
                    <a:bodyPr/>
                    <a:lstStyle/>
                    <a:p>
                      <a:r>
                        <a:rPr sz="1875" b="0">
                          <a:solidFill>
                            <a:srgbClr val="102A37"/>
                          </a:solidFill>
                          <a:latin typeface="Arial"/>
                          <a:ea typeface="Arial"/>
                          <a:cs typeface="Arial"/>
                        </a:rPr>
                        <a:t>Real v3 protocol</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3 / 3</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Three fixed types</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Real v3 development</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17 / 17</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Separate frozen development set</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bl>
          </a:graphicData>
        </a:graphic>
      </p:graphicFrame>
      <p:sp>
        <p:nvSpPr>
          <p:cNvPr id="3" name="slide-number">
            <a:extLst xmlns:a="http://schemas.openxmlformats.org/drawingml/2006/main">
              <a:ext uri="{FF2B5EF4-FFF2-40B4-BE49-F238E27FC236}">
                <a16:creationId xmlns:a16="http://schemas.microsoft.com/office/drawing/2014/main" id="{17E5F5DA-FF24-429F-A8CE-2EAB989D4751}"/>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09</a:t>
            </a:r>
          </a:p>
        </p:txBody>
      </p:sp>
    </p:spTree>
    <p:extLst>
      <p:ext uri="{BB962C8B-B14F-4D97-AF65-F5344CB8AC3E}">
        <p14:creationId xmlns:p14="http://schemas.microsoft.com/office/powerpoint/2010/main" val="8509241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72E2AED-902B-44BB-BFD5-396C56784DEC}"/>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Repair process and measured limits</a:t>
            </a:r>
          </a:p>
        </p:txBody>
      </p:sp>
      <p:sp>
        <p:nvSpPr>
          <p:cNvPr id="2" name="body-0">
            <a:extLst xmlns:a="http://schemas.openxmlformats.org/drawingml/2006/main">
              <a:ext uri="{FF2B5EF4-FFF2-40B4-BE49-F238E27FC236}">
                <a16:creationId xmlns:a16="http://schemas.microsoft.com/office/drawing/2014/main" id="{070EB4A0-30A3-4020-9A68-07359D146739}"/>
              </a:ext>
            </a:extLst>
          </p:cNvPr>
          <p:cNvSpPr>
            <a:spLocks xmlns:a="http://schemas.openxmlformats.org/drawingml/2006/main" noGrp="1"/>
          </p:cNvSpPr>
          <p:nvPr/>
        </p:nvSpPr>
        <p:spPr>
          <a:xfrm xmlns:a="http://schemas.openxmlformats.org/drawingml/2006/main">
            <a:off x="628650" y="15811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86F70"/>
                </a:solidFill>
                <a:latin typeface="Arial"/>
                <a:ea typeface="Arial"/>
                <a:cs typeface="Arial"/>
              </a:defRPr>
            </a:defPPr>
          </a:lstStyle>
          <a:p xmlns:a="http://schemas.openxmlformats.org/drawingml/2006/main">
            <a:pPr>
              <a:defRPr sz="2325" b="1">
                <a:solidFill>
                  <a:srgbClr val="086F70"/>
                </a:solidFill>
                <a:latin typeface="Arial"/>
                <a:ea typeface="Arial"/>
                <a:cs typeface="Arial"/>
              </a:defRPr>
            </a:pPr>
            <a:r>
              <a:rPr sz="2325" b="1">
                <a:solidFill>
                  <a:srgbClr val="086F70"/>
                </a:solidFill>
                <a:latin typeface="Arial"/>
                <a:ea typeface="Arial"/>
                <a:cs typeface="Arial"/>
              </a:rPr>
              <a:t>Phrase matching produced false blocks and missed new violations</a:t>
            </a:r>
          </a:p>
        </p:txBody>
      </p:sp>
      <p:sp>
        <p:nvSpPr>
          <p:cNvPr id="3" name="body-1">
            <a:extLst xmlns:a="http://schemas.openxmlformats.org/drawingml/2006/main">
              <a:ext uri="{FF2B5EF4-FFF2-40B4-BE49-F238E27FC236}">
                <a16:creationId xmlns:a16="http://schemas.microsoft.com/office/drawing/2014/main" id="{D33E9E4B-99E5-41C2-A529-24A611132C47}"/>
              </a:ext>
            </a:extLst>
          </p:cNvPr>
          <p:cNvSpPr>
            <a:spLocks xmlns:a="http://schemas.openxmlformats.org/drawingml/2006/main" noGrp="1"/>
          </p:cNvSpPr>
          <p:nvPr/>
        </p:nvSpPr>
        <p:spPr>
          <a:xfrm xmlns:a="http://schemas.openxmlformats.org/drawingml/2006/main">
            <a:off x="628650" y="252412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Deterministic control and semantic review now have distinct jobs</a:t>
            </a:r>
          </a:p>
        </p:txBody>
      </p:sp>
      <p:sp>
        <p:nvSpPr>
          <p:cNvPr id="4" name="body-2">
            <a:extLst xmlns:a="http://schemas.openxmlformats.org/drawingml/2006/main">
              <a:ext uri="{FF2B5EF4-FFF2-40B4-BE49-F238E27FC236}">
                <a16:creationId xmlns:a16="http://schemas.microsoft.com/office/drawing/2014/main" id="{CC6B043B-F4A8-48A7-BD50-A38B01C692FC}"/>
              </a:ext>
            </a:extLst>
          </p:cNvPr>
          <p:cNvSpPr>
            <a:spLocks xmlns:a="http://schemas.openxmlformats.org/drawingml/2006/main" noGrp="1"/>
          </p:cNvSpPr>
          <p:nvPr/>
        </p:nvSpPr>
        <p:spPr>
          <a:xfrm xmlns:a="http://schemas.openxmlformats.org/drawingml/2006/main">
            <a:off x="628650" y="3467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Strict schema plus exact quotes replaced model-written coordinates</a:t>
            </a:r>
          </a:p>
        </p:txBody>
      </p:sp>
      <p:sp>
        <p:nvSpPr>
          <p:cNvPr id="5" name="body-3">
            <a:extLst xmlns:a="http://schemas.openxmlformats.org/drawingml/2006/main">
              <a:ext uri="{FF2B5EF4-FFF2-40B4-BE49-F238E27FC236}">
                <a16:creationId xmlns:a16="http://schemas.microsoft.com/office/drawing/2014/main" id="{018D9DE0-C223-46B7-9F13-1AF35D663E76}"/>
              </a:ext>
            </a:extLst>
          </p:cNvPr>
          <p:cNvSpPr>
            <a:spLocks xmlns:a="http://schemas.openxmlformats.org/drawingml/2006/main" noGrp="1"/>
          </p:cNvSpPr>
          <p:nvPr/>
        </p:nvSpPr>
        <p:spPr>
          <a:xfrm xmlns:a="http://schemas.openxmlformats.org/drawingml/2006/main">
            <a:off x="628650" y="441007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v3 removes redundant missingReason from the model wire</a:t>
            </a:r>
          </a:p>
        </p:txBody>
      </p:sp>
      <p:sp>
        <p:nvSpPr>
          <p:cNvPr id="6" name="slide-number">
            <a:extLst xmlns:a="http://schemas.openxmlformats.org/drawingml/2006/main">
              <a:ext uri="{FF2B5EF4-FFF2-40B4-BE49-F238E27FC236}">
                <a16:creationId xmlns:a16="http://schemas.microsoft.com/office/drawing/2014/main" id="{E7B0F4A1-7276-4B2B-AC48-69199E01CD87}"/>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10</a:t>
            </a:r>
          </a:p>
        </p:txBody>
      </p:sp>
    </p:spTree>
    <p:extLst>
      <p:ext uri="{BB962C8B-B14F-4D97-AF65-F5344CB8AC3E}">
        <p14:creationId xmlns:p14="http://schemas.microsoft.com/office/powerpoint/2010/main" val="13666173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0C6737A-643D-4894-84D6-002370159A36}"/>
              </a:ext>
            </a:extLst>
          </p:cNvPr>
          <p:cNvCxnSpPr>
            <a:stCxn xmlns:a="http://schemas.openxmlformats.org/drawingml/2006/main" id="5" idx="3"/>
            <a:endCxn xmlns:a="http://schemas.openxmlformats.org/drawingml/2006/main" id="6" idx="1"/>
          </p:cNvCxnSpPr>
          <p:nvPr/>
        </p:nvCxnSpPr>
        <p:spPr>
          <a:xfrm xmlns:a="http://schemas.openxmlformats.org/drawingml/2006/main">
            <a:off x="9334500" y="2362200"/>
            <a:ext cx="266700" cy="0"/>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9" name="">
            <a:extLst xmlns:a="http://schemas.openxmlformats.org/drawingml/2006/main">
              <a:ext uri="{FF2B5EF4-FFF2-40B4-BE49-F238E27FC236}">
                <a16:creationId xmlns:a16="http://schemas.microsoft.com/office/drawing/2014/main" id="{3044AE8F-ECD5-4725-A09A-EF0F3D915CF6}"/>
              </a:ext>
            </a:extLst>
          </p:cNvPr>
          <p:cNvCxnSpPr>
            <a:stCxn xmlns:a="http://schemas.openxmlformats.org/drawingml/2006/main" id="4" idx="3"/>
            <a:endCxn xmlns:a="http://schemas.openxmlformats.org/drawingml/2006/main" id="5" idx="1"/>
          </p:cNvCxnSpPr>
          <p:nvPr/>
        </p:nvCxnSpPr>
        <p:spPr>
          <a:xfrm xmlns:a="http://schemas.openxmlformats.org/drawingml/2006/main">
            <a:off x="7086600" y="2362200"/>
            <a:ext cx="266700" cy="0"/>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8" name="">
            <a:extLst xmlns:a="http://schemas.openxmlformats.org/drawingml/2006/main">
              <a:ext uri="{FF2B5EF4-FFF2-40B4-BE49-F238E27FC236}">
                <a16:creationId xmlns:a16="http://schemas.microsoft.com/office/drawing/2014/main" id="{E0B378B3-1B06-4F9F-8AC1-B372438C2A58}"/>
              </a:ext>
            </a:extLst>
          </p:cNvPr>
          <p:cNvCxnSpPr>
            <a:stCxn xmlns:a="http://schemas.openxmlformats.org/drawingml/2006/main" id="3" idx="3"/>
            <a:endCxn xmlns:a="http://schemas.openxmlformats.org/drawingml/2006/main" id="4" idx="1"/>
          </p:cNvCxnSpPr>
          <p:nvPr/>
        </p:nvCxnSpPr>
        <p:spPr>
          <a:xfrm xmlns:a="http://schemas.openxmlformats.org/drawingml/2006/main">
            <a:off x="4838700" y="2362200"/>
            <a:ext cx="266700" cy="0"/>
          </a:xfrm>
          <a:prstGeom xmlns:a="http://schemas.openxmlformats.org/drawingml/2006/main" prst="straightConnector1">
            <a:avLst/>
          </a:prstGeom>
          <a:ln xmlns:a="http://schemas.openxmlformats.org/drawingml/2006/main" w="19050">
            <a:solidFill>
              <a:srgbClr val="086F70"/>
            </a:solidFill>
            <a:tailEnd type="arrow" w="med" len="med"/>
          </a:ln>
        </p:spPr>
      </p:cxnSp>
      <p:cxnSp>
        <p:nvCxnSpPr>
          <p:cNvPr id="7" name="">
            <a:extLst xmlns:a="http://schemas.openxmlformats.org/drawingml/2006/main">
              <a:ext uri="{FF2B5EF4-FFF2-40B4-BE49-F238E27FC236}">
                <a16:creationId xmlns:a16="http://schemas.microsoft.com/office/drawing/2014/main" id="{E3B05402-C97F-4053-B6E9-3257459643EB}"/>
              </a:ext>
            </a:extLst>
          </p:cNvPr>
          <p:cNvCxnSpPr>
            <a:stCxn xmlns:a="http://schemas.openxmlformats.org/drawingml/2006/main" id="2" idx="3"/>
            <a:endCxn xmlns:a="http://schemas.openxmlformats.org/drawingml/2006/main" id="3" idx="1"/>
          </p:cNvCxnSpPr>
          <p:nvPr/>
        </p:nvCxnSpPr>
        <p:spPr>
          <a:xfrm xmlns:a="http://schemas.openxmlformats.org/drawingml/2006/main">
            <a:off x="2590800" y="2362200"/>
            <a:ext cx="266700" cy="0"/>
          </a:xfrm>
          <a:prstGeom xmlns:a="http://schemas.openxmlformats.org/drawingml/2006/main" prst="straightConnector1">
            <a:avLst/>
          </a:prstGeom>
          <a:ln xmlns:a="http://schemas.openxmlformats.org/drawingml/2006/main" w="19050">
            <a:solidFill>
              <a:srgbClr val="086F70"/>
            </a:solidFill>
            <a:tailEnd type="arrow" w="med" len="med"/>
          </a:ln>
        </p:spPr>
      </p:cxnSp>
      <p:sp>
        <p:nvSpPr>
          <p:cNvPr id="15" name="title">
            <a:extLst xmlns:a="http://schemas.openxmlformats.org/drawingml/2006/main">
              <a:ext uri="{FF2B5EF4-FFF2-40B4-BE49-F238E27FC236}">
                <a16:creationId xmlns:a16="http://schemas.microsoft.com/office/drawing/2014/main" id="{F7B39D26-D0CF-4C0E-BB51-0A1CF9F3DAF1}"/>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CI and tested artifact workflow</a:t>
            </a:r>
          </a:p>
        </p:txBody>
      </p:sp>
      <p:sp>
        <p:nvSpPr>
          <p:cNvPr id="2" name="step-0">
            <a:extLst xmlns:a="http://schemas.openxmlformats.org/drawingml/2006/main">
              <a:ext uri="{FF2B5EF4-FFF2-40B4-BE49-F238E27FC236}">
                <a16:creationId xmlns:a16="http://schemas.microsoft.com/office/drawing/2014/main" id="{E5ABA7DB-0E94-4180-A534-5EF94E23A6CD}"/>
              </a:ext>
            </a:extLst>
          </p:cNvPr>
          <p:cNvSpPr>
            <a:spLocks xmlns:a="http://schemas.openxmlformats.org/drawingml/2006/main" noGrp="1"/>
          </p:cNvSpPr>
          <p:nvPr/>
        </p:nvSpPr>
        <p:spPr>
          <a:xfrm xmlns:a="http://schemas.openxmlformats.org/drawingml/2006/main">
            <a:off x="6096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Lockfile install</a:t>
            </a:r>
          </a:p>
        </p:txBody>
      </p:sp>
      <p:sp>
        <p:nvSpPr>
          <p:cNvPr id="3" name="step-1">
            <a:extLst xmlns:a="http://schemas.openxmlformats.org/drawingml/2006/main">
              <a:ext uri="{FF2B5EF4-FFF2-40B4-BE49-F238E27FC236}">
                <a16:creationId xmlns:a16="http://schemas.microsoft.com/office/drawing/2014/main" id="{64A6E5BC-F236-49AD-A670-560B9F0EA75D}"/>
              </a:ext>
            </a:extLst>
          </p:cNvPr>
          <p:cNvSpPr>
            <a:spLocks xmlns:a="http://schemas.openxmlformats.org/drawingml/2006/main" noGrp="1"/>
          </p:cNvSpPr>
          <p:nvPr/>
        </p:nvSpPr>
        <p:spPr>
          <a:xfrm xmlns:a="http://schemas.openxmlformats.org/drawingml/2006/main">
            <a:off x="28575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Tests + contracts</a:t>
            </a:r>
          </a:p>
        </p:txBody>
      </p:sp>
      <p:sp>
        <p:nvSpPr>
          <p:cNvPr id="4" name="step-2">
            <a:extLst xmlns:a="http://schemas.openxmlformats.org/drawingml/2006/main">
              <a:ext uri="{FF2B5EF4-FFF2-40B4-BE49-F238E27FC236}">
                <a16:creationId xmlns:a16="http://schemas.microsoft.com/office/drawing/2014/main" id="{5A4E6103-E5C5-4EDE-8460-E793D0E9B295}"/>
              </a:ext>
            </a:extLst>
          </p:cNvPr>
          <p:cNvSpPr>
            <a:spLocks xmlns:a="http://schemas.openxmlformats.org/drawingml/2006/main" noGrp="1"/>
          </p:cNvSpPr>
          <p:nvPr/>
        </p:nvSpPr>
        <p:spPr>
          <a:xfrm xmlns:a="http://schemas.openxmlformats.org/drawingml/2006/main">
            <a:off x="51054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Security scans</a:t>
            </a:r>
          </a:p>
        </p:txBody>
      </p:sp>
      <p:sp>
        <p:nvSpPr>
          <p:cNvPr id="5" name="step-3">
            <a:extLst xmlns:a="http://schemas.openxmlformats.org/drawingml/2006/main">
              <a:ext uri="{FF2B5EF4-FFF2-40B4-BE49-F238E27FC236}">
                <a16:creationId xmlns:a16="http://schemas.microsoft.com/office/drawing/2014/main" id="{9506C830-431C-4AF0-A93F-B190026E80D1}"/>
              </a:ext>
            </a:extLst>
          </p:cNvPr>
          <p:cNvSpPr>
            <a:spLocks xmlns:a="http://schemas.openxmlformats.org/drawingml/2006/main" noGrp="1"/>
          </p:cNvSpPr>
          <p:nvPr/>
        </p:nvSpPr>
        <p:spPr>
          <a:xfrm xmlns:a="http://schemas.openxmlformats.org/drawingml/2006/main">
            <a:off x="73533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Tested image</a:t>
            </a:r>
          </a:p>
        </p:txBody>
      </p:sp>
      <p:sp>
        <p:nvSpPr>
          <p:cNvPr id="6" name="step-4">
            <a:extLst xmlns:a="http://schemas.openxmlformats.org/drawingml/2006/main">
              <a:ext uri="{FF2B5EF4-FFF2-40B4-BE49-F238E27FC236}">
                <a16:creationId xmlns:a16="http://schemas.microsoft.com/office/drawing/2014/main" id="{A0BB9778-CFCF-4A12-A972-150DD4CFCC86}"/>
              </a:ext>
            </a:extLst>
          </p:cNvPr>
          <p:cNvSpPr>
            <a:spLocks xmlns:a="http://schemas.openxmlformats.org/drawingml/2006/main" noGrp="1"/>
          </p:cNvSpPr>
          <p:nvPr/>
        </p:nvSpPr>
        <p:spPr>
          <a:xfrm xmlns:a="http://schemas.openxmlformats.org/drawingml/2006/main">
            <a:off x="9601200" y="1828800"/>
            <a:ext cx="1981200" cy="1066800"/>
          </a:xfrm>
          <a:prstGeom xmlns:a="http://schemas.openxmlformats.org/drawingml/2006/main" prst="rect">
            <a:avLst/>
          </a:prstGeom>
          <a:solidFill xmlns:a="http://schemas.openxmlformats.org/drawingml/2006/main">
            <a:srgbClr val="EDF4F4"/>
          </a:solidFill>
          <a:ln xmlns:a="http://schemas.openxmlformats.org/drawingml/2006/main" w="14288">
            <a:solidFill>
              <a:srgbClr val="086F70"/>
            </a:solidFill>
          </a:ln>
        </p:spPr>
        <p:txBody>
          <a:bodyPr xmlns:a="http://schemas.openxmlformats.org/drawingml/2006/main" lIns="114300" tIns="114300" rIns="114300" bIns="114300" anchor="ctr"/>
          <a:lstStyle xmlns:a="http://schemas.openxmlformats.org/drawingml/2006/main">
            <a:defPPr algn="ctr">
              <a:defRPr sz="1875">
                <a:solidFill>
                  <a:srgbClr val="102A37"/>
                </a:solidFill>
                <a:latin typeface="Arial"/>
                <a:ea typeface="Arial"/>
                <a:cs typeface="Arial"/>
              </a:defRPr>
            </a:defPPr>
          </a:lstStyle>
          <a:p xmlns:a="http://schemas.openxmlformats.org/drawingml/2006/main">
            <a:pPr algn="ctr">
              <a:defRPr sz="1875">
                <a:solidFill>
                  <a:srgbClr val="102A37"/>
                </a:solidFill>
                <a:latin typeface="Arial"/>
                <a:ea typeface="Arial"/>
                <a:cs typeface="Arial"/>
              </a:defRPr>
            </a:pPr>
            <a:r>
              <a:rPr sz="1875">
                <a:solidFill>
                  <a:srgbClr val="102A37"/>
                </a:solidFill>
                <a:latin typeface="Arial"/>
                <a:ea typeface="Arial"/>
                <a:cs typeface="Arial"/>
              </a:rPr>
              <a:t>Manual CD check</a:t>
            </a:r>
          </a:p>
        </p:txBody>
      </p:sp>
      <p:sp>
        <p:nvSpPr>
          <p:cNvPr id="11" name="flow-note-0">
            <a:extLst xmlns:a="http://schemas.openxmlformats.org/drawingml/2006/main">
              <a:ext uri="{FF2B5EF4-FFF2-40B4-BE49-F238E27FC236}">
                <a16:creationId xmlns:a16="http://schemas.microsoft.com/office/drawing/2014/main" id="{6B54432B-5F22-4779-B7E7-A59BE6A6E687}"/>
              </a:ext>
            </a:extLst>
          </p:cNvPr>
          <p:cNvSpPr>
            <a:spLocks xmlns:a="http://schemas.openxmlformats.org/drawingml/2006/main" noGrp="1"/>
          </p:cNvSpPr>
          <p:nvPr/>
        </p:nvSpPr>
        <p:spPr>
          <a:xfrm xmlns:a="http://schemas.openxmlformats.org/drawingml/2006/main">
            <a:off x="647700" y="35147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66975"/>
                </a:solidFill>
                <a:latin typeface="Arial"/>
                <a:ea typeface="Arial"/>
                <a:cs typeface="Arial"/>
              </a:defRPr>
            </a:defPPr>
          </a:lstStyle>
          <a:p xmlns:a="http://schemas.openxmlformats.org/drawingml/2006/main">
            <a:pPr>
              <a:defRPr sz="2100" b="0">
                <a:solidFill>
                  <a:srgbClr val="566975"/>
                </a:solidFill>
                <a:latin typeface="Arial"/>
                <a:ea typeface="Arial"/>
                <a:cs typeface="Arial"/>
              </a:defRPr>
            </a:pPr>
            <a:r>
              <a:rPr sz="2100" b="0">
                <a:solidFill>
                  <a:srgbClr val="566975"/>
                </a:solidFill>
                <a:latin typeface="Arial"/>
                <a:ea typeface="Arial"/>
                <a:cs typeface="Arial"/>
              </a:rPr>
              <a:t>npm audit and Trivy are real workflow steps</a:t>
            </a:r>
          </a:p>
        </p:txBody>
      </p:sp>
      <p:sp>
        <p:nvSpPr>
          <p:cNvPr id="12" name="flow-note-1">
            <a:extLst xmlns:a="http://schemas.openxmlformats.org/drawingml/2006/main">
              <a:ext uri="{FF2B5EF4-FFF2-40B4-BE49-F238E27FC236}">
                <a16:creationId xmlns:a16="http://schemas.microsoft.com/office/drawing/2014/main" id="{B001650C-350B-4051-8CBD-690AA1EE1D16}"/>
              </a:ext>
            </a:extLst>
          </p:cNvPr>
          <p:cNvSpPr>
            <a:spLocks xmlns:a="http://schemas.openxmlformats.org/drawingml/2006/main" noGrp="1"/>
          </p:cNvSpPr>
          <p:nvPr/>
        </p:nvSpPr>
        <p:spPr>
          <a:xfrm xmlns:a="http://schemas.openxmlformats.org/drawingml/2006/main">
            <a:off x="647700" y="42005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66975"/>
                </a:solidFill>
                <a:latin typeface="Arial"/>
                <a:ea typeface="Arial"/>
                <a:cs typeface="Arial"/>
              </a:defRPr>
            </a:defPPr>
          </a:lstStyle>
          <a:p xmlns:a="http://schemas.openxmlformats.org/drawingml/2006/main">
            <a:pPr>
              <a:defRPr sz="2100" b="0">
                <a:solidFill>
                  <a:srgbClr val="566975"/>
                </a:solidFill>
                <a:latin typeface="Arial"/>
                <a:ea typeface="Arial"/>
                <a:cs typeface="Arial"/>
              </a:defRPr>
            </a:pPr>
            <a:r>
              <a:rPr sz="2100" b="0">
                <a:solidFill>
                  <a:srgbClr val="566975"/>
                </a:solidFill>
                <a:latin typeface="Arial"/>
                <a:ea typeface="Arial"/>
                <a:cs typeface="Arial"/>
              </a:rPr>
              <a:t>CD binds a successful CI run to the same source</a:t>
            </a:r>
          </a:p>
        </p:txBody>
      </p:sp>
      <p:sp>
        <p:nvSpPr>
          <p:cNvPr id="13" name="flow-note-2">
            <a:extLst xmlns:a="http://schemas.openxmlformats.org/drawingml/2006/main">
              <a:ext uri="{FF2B5EF4-FFF2-40B4-BE49-F238E27FC236}">
                <a16:creationId xmlns:a16="http://schemas.microsoft.com/office/drawing/2014/main" id="{E977752E-0510-49B5-9D32-33D1EF72E483}"/>
              </a:ext>
            </a:extLst>
          </p:cNvPr>
          <p:cNvSpPr>
            <a:spLocks xmlns:a="http://schemas.openxmlformats.org/drawingml/2006/main" noGrp="1"/>
          </p:cNvSpPr>
          <p:nvPr/>
        </p:nvSpPr>
        <p:spPr>
          <a:xfrm xmlns:a="http://schemas.openxmlformats.org/drawingml/2006/main">
            <a:off x="647700" y="48863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66975"/>
                </a:solidFill>
                <a:latin typeface="Arial"/>
                <a:ea typeface="Arial"/>
                <a:cs typeface="Arial"/>
              </a:defRPr>
            </a:defPPr>
          </a:lstStyle>
          <a:p xmlns:a="http://schemas.openxmlformats.org/drawingml/2006/main">
            <a:pPr>
              <a:defRPr sz="2100" b="0">
                <a:solidFill>
                  <a:srgbClr val="566975"/>
                </a:solidFill>
                <a:latin typeface="Arial"/>
                <a:ea typeface="Arial"/>
                <a:cs typeface="Arial"/>
              </a:defRPr>
            </a:pPr>
            <a:r>
              <a:rPr sz="2100" b="0">
                <a:solidFill>
                  <a:srgbClr val="566975"/>
                </a:solidFill>
                <a:latin typeface="Arial"/>
                <a:ea typeface="Arial"/>
                <a:cs typeface="Arial"/>
              </a:rPr>
              <a:t>Current feature push has no automatic CI trigger</a:t>
            </a:r>
          </a:p>
        </p:txBody>
      </p:sp>
      <p:sp>
        <p:nvSpPr>
          <p:cNvPr id="14" name="slide-number">
            <a:extLst xmlns:a="http://schemas.openxmlformats.org/drawingml/2006/main">
              <a:ext uri="{FF2B5EF4-FFF2-40B4-BE49-F238E27FC236}">
                <a16:creationId xmlns:a16="http://schemas.microsoft.com/office/drawing/2014/main" id="{52D084F3-6523-41DC-8FBC-BC6FEC6D5C2E}"/>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11</a:t>
            </a:r>
          </a:p>
        </p:txBody>
      </p:sp>
    </p:spTree>
    <p:extLst>
      <p:ext uri="{BB962C8B-B14F-4D97-AF65-F5344CB8AC3E}">
        <p14:creationId xmlns:p14="http://schemas.microsoft.com/office/powerpoint/2010/main" val="6748171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7EB7B83-16F3-47F5-8D10-A16F6A3DE806}"/>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CI evidence walkthrough</a:t>
            </a:r>
          </a:p>
        </p:txBody>
      </p:sp>
      <p:sp>
        <p:nvSpPr>
          <p:cNvPr id="2" name="demo-0">
            <a:extLst xmlns:a="http://schemas.openxmlformats.org/drawingml/2006/main">
              <a:ext uri="{FF2B5EF4-FFF2-40B4-BE49-F238E27FC236}">
                <a16:creationId xmlns:a16="http://schemas.microsoft.com/office/drawing/2014/main" id="{E60CA0F6-28B4-4388-94B8-107DFA850159}"/>
              </a:ext>
            </a:extLst>
          </p:cNvPr>
          <p:cNvSpPr>
            <a:spLocks xmlns:a="http://schemas.openxmlformats.org/drawingml/2006/main" noGrp="1"/>
          </p:cNvSpPr>
          <p:nvPr/>
        </p:nvSpPr>
        <p:spPr>
          <a:xfrm xmlns:a="http://schemas.openxmlformats.org/drawingml/2006/main">
            <a:off x="628650" y="161925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02A37"/>
                </a:solidFill>
                <a:latin typeface="Arial"/>
                <a:ea typeface="Arial"/>
                <a:cs typeface="Arial"/>
              </a:defRPr>
            </a:defPPr>
          </a:lstStyle>
          <a:p xmlns:a="http://schemas.openxmlformats.org/drawingml/2006/main">
            <a:pPr>
              <a:defRPr sz="2400" b="0">
                <a:solidFill>
                  <a:srgbClr val="102A37"/>
                </a:solidFill>
                <a:latin typeface="Arial"/>
                <a:ea typeface="Arial"/>
                <a:cs typeface="Arial"/>
              </a:defRPr>
            </a:pPr>
            <a:r>
              <a:rPr sz="2400" b="0">
                <a:solidFill>
                  <a:srgbClr val="102A37"/>
                </a:solidFill>
                <a:latin typeface="Arial"/>
                <a:ea typeface="Arial"/>
                <a:cs typeface="Arial"/>
              </a:rPr>
              <a:t>Current branch: inspect commit and changed files</a:t>
            </a:r>
          </a:p>
        </p:txBody>
      </p:sp>
      <p:sp>
        <p:nvSpPr>
          <p:cNvPr id="3" name="demo-1">
            <a:extLst xmlns:a="http://schemas.openxmlformats.org/drawingml/2006/main">
              <a:ext uri="{FF2B5EF4-FFF2-40B4-BE49-F238E27FC236}">
                <a16:creationId xmlns:a16="http://schemas.microsoft.com/office/drawing/2014/main" id="{A36A32CD-E23B-47A6-BD6C-EADADFC8C0C8}"/>
              </a:ext>
            </a:extLst>
          </p:cNvPr>
          <p:cNvSpPr>
            <a:spLocks xmlns:a="http://schemas.openxmlformats.org/drawingml/2006/main" noGrp="1"/>
          </p:cNvSpPr>
          <p:nvPr/>
        </p:nvSpPr>
        <p:spPr>
          <a:xfrm xmlns:a="http://schemas.openxmlformats.org/drawingml/2006/main">
            <a:off x="628650" y="2600325"/>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02A37"/>
                </a:solidFill>
                <a:latin typeface="Arial"/>
                <a:ea typeface="Arial"/>
                <a:cs typeface="Arial"/>
              </a:defRPr>
            </a:defPPr>
          </a:lstStyle>
          <a:p xmlns:a="http://schemas.openxmlformats.org/drawingml/2006/main">
            <a:pPr>
              <a:defRPr sz="2400" b="0">
                <a:solidFill>
                  <a:srgbClr val="102A37"/>
                </a:solidFill>
                <a:latin typeface="Arial"/>
                <a:ea typeface="Arial"/>
                <a:cs typeface="Arial"/>
              </a:defRPr>
            </a:pPr>
            <a:r>
              <a:rPr sz="2400" b="0">
                <a:solidFill>
                  <a:srgbClr val="102A37"/>
                </a:solidFill>
                <a:latin typeface="Arial"/>
                <a:ea typeface="Arial"/>
                <a:cs typeface="Arial"/>
              </a:rPr>
              <a:t>Current clean checkout: retained holdout failure</a:t>
            </a:r>
          </a:p>
        </p:txBody>
      </p:sp>
      <p:sp>
        <p:nvSpPr>
          <p:cNvPr id="4" name="demo-2">
            <a:extLst xmlns:a="http://schemas.openxmlformats.org/drawingml/2006/main">
              <a:ext uri="{FF2B5EF4-FFF2-40B4-BE49-F238E27FC236}">
                <a16:creationId xmlns:a16="http://schemas.microsoft.com/office/drawing/2014/main" id="{70B114B0-82C5-4D4D-9074-C170DEB9C7E4}"/>
              </a:ext>
            </a:extLst>
          </p:cNvPr>
          <p:cNvSpPr>
            <a:spLocks xmlns:a="http://schemas.openxmlformats.org/drawingml/2006/main" noGrp="1"/>
          </p:cNvSpPr>
          <p:nvPr/>
        </p:nvSpPr>
        <p:spPr>
          <a:xfrm xmlns:a="http://schemas.openxmlformats.org/drawingml/2006/main">
            <a:off x="628650" y="35814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02A37"/>
                </a:solidFill>
                <a:latin typeface="Arial"/>
                <a:ea typeface="Arial"/>
                <a:cs typeface="Arial"/>
              </a:defRPr>
            </a:defPPr>
          </a:lstStyle>
          <a:p xmlns:a="http://schemas.openxmlformats.org/drawingml/2006/main">
            <a:pPr>
              <a:defRPr sz="2400" b="0">
                <a:solidFill>
                  <a:srgbClr val="102A37"/>
                </a:solidFill>
                <a:latin typeface="Arial"/>
                <a:ea typeface="Arial"/>
                <a:cs typeface="Arial"/>
              </a:defRPr>
            </a:pPr>
            <a:r>
              <a:rPr sz="2400" b="0">
                <a:solidFill>
                  <a:srgbClr val="102A37"/>
                </a:solidFill>
                <a:latin typeface="Arial"/>
                <a:ea typeface="Arial"/>
                <a:cs typeface="Arial"/>
              </a:rPr>
              <a:t>Historical baseline CI: 38709382103 at 20d258d</a:t>
            </a:r>
          </a:p>
        </p:txBody>
      </p:sp>
      <p:sp>
        <p:nvSpPr>
          <p:cNvPr id="5" name="demo-3">
            <a:extLst xmlns:a="http://schemas.openxmlformats.org/drawingml/2006/main">
              <a:ext uri="{FF2B5EF4-FFF2-40B4-BE49-F238E27FC236}">
                <a16:creationId xmlns:a16="http://schemas.microsoft.com/office/drawing/2014/main" id="{86AE95D5-998E-42BC-B6C6-FFC48D70899F}"/>
              </a:ext>
            </a:extLst>
          </p:cNvPr>
          <p:cNvSpPr>
            <a:spLocks xmlns:a="http://schemas.openxmlformats.org/drawingml/2006/main" noGrp="1"/>
          </p:cNvSpPr>
          <p:nvPr/>
        </p:nvSpPr>
        <p:spPr>
          <a:xfrm xmlns:a="http://schemas.openxmlformats.org/drawingml/2006/main">
            <a:off x="628650" y="4562475"/>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02A37"/>
                </a:solidFill>
                <a:latin typeface="Arial"/>
                <a:ea typeface="Arial"/>
                <a:cs typeface="Arial"/>
              </a:defRPr>
            </a:defPPr>
          </a:lstStyle>
          <a:p xmlns:a="http://schemas.openxmlformats.org/drawingml/2006/main">
            <a:pPr>
              <a:defRPr sz="2400" b="0">
                <a:solidFill>
                  <a:srgbClr val="102A37"/>
                </a:solidFill>
                <a:latin typeface="Arial"/>
                <a:ea typeface="Arial"/>
                <a:cs typeface="Arial"/>
              </a:defRPr>
            </a:pPr>
            <a:r>
              <a:rPr sz="2400" b="0">
                <a:solidFill>
                  <a:srgbClr val="102A37"/>
                </a:solidFill>
                <a:latin typeface="Arial"/>
                <a:ea typeface="Arial"/>
                <a:cs typeface="Arial"/>
              </a:rPr>
              <a:t>Matched historical CI 38148253863 and CD 38148479735 at 362e8dd</a:t>
            </a:r>
          </a:p>
        </p:txBody>
      </p:sp>
      <p:sp>
        <p:nvSpPr>
          <p:cNvPr id="6" name="source-label">
            <a:extLst xmlns:a="http://schemas.openxmlformats.org/drawingml/2006/main">
              <a:ext uri="{FF2B5EF4-FFF2-40B4-BE49-F238E27FC236}">
                <a16:creationId xmlns:a16="http://schemas.microsoft.com/office/drawing/2014/main" id="{EE390FAD-ABA5-4AB2-B539-3A3DF0161BBB}"/>
              </a:ext>
            </a:extLst>
          </p:cNvPr>
          <p:cNvSpPr>
            <a:spLocks xmlns:a="http://schemas.openxmlformats.org/drawingml/2006/main" noGrp="1"/>
          </p:cNvSpPr>
          <p:nvPr/>
        </p:nvSpPr>
        <p:spPr>
          <a:xfrm xmlns:a="http://schemas.openxmlformats.org/drawingml/2006/main">
            <a:off x="628650" y="58293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86F70"/>
                </a:solidFill>
                <a:latin typeface="Arial"/>
                <a:ea typeface="Arial"/>
                <a:cs typeface="Arial"/>
              </a:defRPr>
            </a:defPPr>
          </a:lstStyle>
          <a:p xmlns:a="http://schemas.openxmlformats.org/drawingml/2006/main">
            <a:pPr>
              <a:defRPr sz="1650" b="1">
                <a:solidFill>
                  <a:srgbClr val="086F70"/>
                </a:solidFill>
                <a:latin typeface="Arial"/>
                <a:ea typeface="Arial"/>
                <a:cs typeface="Arial"/>
              </a:defRPr>
            </a:pPr>
            <a:r>
              <a:rPr sz="1650" b="1">
                <a:solidFill>
                  <a:srgbClr val="086F70"/>
                </a:solidFill>
                <a:latin typeface="Arial"/>
                <a:ea typeface="Arial"/>
                <a:cs typeface="Arial"/>
              </a:rPr>
              <a:t>Historical hosted CI/CD walkthrough. No new workflow execution.</a:t>
            </a:r>
          </a:p>
        </p:txBody>
      </p:sp>
      <p:sp>
        <p:nvSpPr>
          <p:cNvPr id="7" name="slide-number">
            <a:extLst xmlns:a="http://schemas.openxmlformats.org/drawingml/2006/main">
              <a:ext uri="{FF2B5EF4-FFF2-40B4-BE49-F238E27FC236}">
                <a16:creationId xmlns:a16="http://schemas.microsoft.com/office/drawing/2014/main" id="{0C8BD4AB-4FD0-42C1-83E2-20E03A72C396}"/>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12</a:t>
            </a:r>
          </a:p>
        </p:txBody>
      </p:sp>
    </p:spTree>
    <p:extLst>
      <p:ext uri="{BB962C8B-B14F-4D97-AF65-F5344CB8AC3E}">
        <p14:creationId xmlns:p14="http://schemas.microsoft.com/office/powerpoint/2010/main" val="12154658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870A0D6-3453-4ABF-AF1E-F85B7D822F73}"/>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Pipeline failures and recovery evidence</a:t>
            </a:r>
          </a:p>
        </p:txBody>
      </p:sp>
      <p:sp>
        <p:nvSpPr>
          <p:cNvPr id="2" name="body-0">
            <a:extLst xmlns:a="http://schemas.openxmlformats.org/drawingml/2006/main">
              <a:ext uri="{FF2B5EF4-FFF2-40B4-BE49-F238E27FC236}">
                <a16:creationId xmlns:a16="http://schemas.microsoft.com/office/drawing/2014/main" id="{2CB4877B-FC6A-4AF9-AE60-2907F0922420}"/>
              </a:ext>
            </a:extLst>
          </p:cNvPr>
          <p:cNvSpPr>
            <a:spLocks xmlns:a="http://schemas.openxmlformats.org/drawingml/2006/main" noGrp="1"/>
          </p:cNvSpPr>
          <p:nvPr/>
        </p:nvSpPr>
        <p:spPr>
          <a:xfrm xmlns:a="http://schemas.openxmlformats.org/drawingml/2006/main">
            <a:off x="628650" y="15811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86F70"/>
                </a:solidFill>
                <a:latin typeface="Arial"/>
                <a:ea typeface="Arial"/>
                <a:cs typeface="Arial"/>
              </a:defRPr>
            </a:defPPr>
          </a:lstStyle>
          <a:p xmlns:a="http://schemas.openxmlformats.org/drawingml/2006/main">
            <a:pPr>
              <a:defRPr sz="2325" b="1">
                <a:solidFill>
                  <a:srgbClr val="086F70"/>
                </a:solidFill>
                <a:latin typeface="Arial"/>
                <a:ea typeface="Arial"/>
                <a:cs typeface="Arial"/>
              </a:defRPr>
            </a:pPr>
            <a:r>
              <a:rPr sz="2325" b="1">
                <a:solidFill>
                  <a:srgbClr val="086F70"/>
                </a:solidFill>
                <a:latin typeface="Arial"/>
                <a:ea typeface="Arial"/>
                <a:cs typeface="Arial"/>
              </a:rPr>
              <a:t>Fixture omission once broke a container build</a:t>
            </a:r>
          </a:p>
        </p:txBody>
      </p:sp>
      <p:sp>
        <p:nvSpPr>
          <p:cNvPr id="3" name="body-1">
            <a:extLst xmlns:a="http://schemas.openxmlformats.org/drawingml/2006/main">
              <a:ext uri="{FF2B5EF4-FFF2-40B4-BE49-F238E27FC236}">
                <a16:creationId xmlns:a16="http://schemas.microsoft.com/office/drawing/2014/main" id="{08D31A55-829A-4612-B00B-4E410FDB6D44}"/>
              </a:ext>
            </a:extLst>
          </p:cNvPr>
          <p:cNvSpPr>
            <a:spLocks xmlns:a="http://schemas.openxmlformats.org/drawingml/2006/main" noGrp="1"/>
          </p:cNvSpPr>
          <p:nvPr/>
        </p:nvSpPr>
        <p:spPr>
          <a:xfrm xmlns:a="http://schemas.openxmlformats.org/drawingml/2006/main">
            <a:off x="628650" y="252412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A cold-start health check blocked promotion</a:t>
            </a:r>
          </a:p>
        </p:txBody>
      </p:sp>
      <p:sp>
        <p:nvSpPr>
          <p:cNvPr id="4" name="body-2">
            <a:extLst xmlns:a="http://schemas.openxmlformats.org/drawingml/2006/main">
              <a:ext uri="{FF2B5EF4-FFF2-40B4-BE49-F238E27FC236}">
                <a16:creationId xmlns:a16="http://schemas.microsoft.com/office/drawing/2014/main" id="{2DA2BB45-B31A-4B66-A4A1-8FC5C8A0235F}"/>
              </a:ext>
            </a:extLst>
          </p:cNvPr>
          <p:cNvSpPr>
            <a:spLocks xmlns:a="http://schemas.openxmlformats.org/drawingml/2006/main" noGrp="1"/>
          </p:cNvSpPr>
          <p:nvPr/>
        </p:nvSpPr>
        <p:spPr>
          <a:xfrm xmlns:a="http://schemas.openxmlformats.org/drawingml/2006/main">
            <a:off x="628650" y="3467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Tested-image rollback and logical database restore have dated evidence</a:t>
            </a:r>
          </a:p>
        </p:txBody>
      </p:sp>
      <p:sp>
        <p:nvSpPr>
          <p:cNvPr id="5" name="body-3">
            <a:extLst xmlns:a="http://schemas.openxmlformats.org/drawingml/2006/main">
              <a:ext uri="{FF2B5EF4-FFF2-40B4-BE49-F238E27FC236}">
                <a16:creationId xmlns:a16="http://schemas.microsoft.com/office/drawing/2014/main" id="{63D2F3F1-142A-4B8B-9686-CA8C188979DC}"/>
              </a:ext>
            </a:extLst>
          </p:cNvPr>
          <p:cNvSpPr>
            <a:spLocks xmlns:a="http://schemas.openxmlformats.org/drawingml/2006/main" noGrp="1"/>
          </p:cNvSpPr>
          <p:nvPr/>
        </p:nvSpPr>
        <p:spPr>
          <a:xfrm xmlns:a="http://schemas.openxmlformats.org/drawingml/2006/main">
            <a:off x="628650" y="441007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Current branch remains a review candidate</a:t>
            </a:r>
          </a:p>
        </p:txBody>
      </p:sp>
      <p:sp>
        <p:nvSpPr>
          <p:cNvPr id="6" name="slide-number">
            <a:extLst xmlns:a="http://schemas.openxmlformats.org/drawingml/2006/main">
              <a:ext uri="{FF2B5EF4-FFF2-40B4-BE49-F238E27FC236}">
                <a16:creationId xmlns:a16="http://schemas.microsoft.com/office/drawing/2014/main" id="{0A1043D9-22AC-4555-AD8E-EFA5E8DB7C09}"/>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13</a:t>
            </a:r>
          </a:p>
        </p:txBody>
      </p:sp>
    </p:spTree>
    <p:extLst>
      <p:ext uri="{BB962C8B-B14F-4D97-AF65-F5344CB8AC3E}">
        <p14:creationId xmlns:p14="http://schemas.microsoft.com/office/powerpoint/2010/main" val="20583409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949D230-2BCA-4F72-ADDA-2E2E49D7035C}"/>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Demo 1  Evaluation and a blocked candidate</a:t>
            </a:r>
          </a:p>
        </p:txBody>
      </p:sp>
      <p:pic>
        <p:nvPicPr>
          <p:cNvPr id="2" name="">
            <a:extLst xmlns:a="http://schemas.openxmlformats.org/drawingml/2006/main">
              <a:ext uri="{FF2B5EF4-FFF2-40B4-BE49-F238E27FC236}">
                <a16:creationId xmlns:a16="http://schemas.microsoft.com/office/drawing/2014/main" id="{2211D0A6-09C7-4701-8847-A5DB1AD1ACD5}"/>
              </a:ext>
            </a:extLst>
          </p:cNvPr>
          <p:cNvPicPr>
            <a:picLocks xmlns:a="http://schemas.openxmlformats.org/drawingml/2006/main" noChangeAspect="1"/>
          </p:cNvPicPr>
          <p:nvPr/>
        </p:nvPicPr>
        <p:blipFill>
          <a:blip xmlns:r="http://schemas.openxmlformats.org/officeDocument/2006/relationships" xmlns:a="http://schemas.openxmlformats.org/drawingml/2006/main" r:embed="Rc95f95c0bd6941ac"/>
          <a:stretch xmlns:a="http://schemas.openxmlformats.org/drawingml/2006/main"/>
        </p:blipFill>
        <p:spPr>
          <a:xfrm xmlns:a="http://schemas.openxmlformats.org/drawingml/2006/main">
            <a:off x="5857875" y="1657350"/>
            <a:ext cx="5715000" cy="3810000"/>
          </a:xfrm>
          <a:prstGeom xmlns:a="http://schemas.openxmlformats.org/drawingml/2006/main" prst="rect">
            <a:avLst/>
          </a:prstGeom>
        </p:spPr>
      </p:pic>
      <p:sp>
        <p:nvSpPr>
          <p:cNvPr id="3" name="demo-0">
            <a:extLst xmlns:a="http://schemas.openxmlformats.org/drawingml/2006/main">
              <a:ext uri="{FF2B5EF4-FFF2-40B4-BE49-F238E27FC236}">
                <a16:creationId xmlns:a16="http://schemas.microsoft.com/office/drawing/2014/main" id="{D4E38FB8-A00C-46E7-8CFA-593403BE45C3}"/>
              </a:ext>
            </a:extLst>
          </p:cNvPr>
          <p:cNvSpPr>
            <a:spLocks xmlns:a="http://schemas.openxmlformats.org/drawingml/2006/main" noGrp="1"/>
          </p:cNvSpPr>
          <p:nvPr/>
        </p:nvSpPr>
        <p:spPr>
          <a:xfrm xmlns:a="http://schemas.openxmlformats.org/drawingml/2006/main">
            <a:off x="628650" y="161925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2A37"/>
                </a:solidFill>
                <a:latin typeface="Arial"/>
                <a:ea typeface="Arial"/>
                <a:cs typeface="Arial"/>
              </a:defRPr>
            </a:defPPr>
          </a:lstStyle>
          <a:p xmlns:a="http://schemas.openxmlformats.org/drawingml/2006/main">
            <a:pPr>
              <a:defRPr sz="2025" b="0">
                <a:solidFill>
                  <a:srgbClr val="102A37"/>
                </a:solidFill>
                <a:latin typeface="Arial"/>
                <a:ea typeface="Arial"/>
                <a:cs typeface="Arial"/>
              </a:defRPr>
            </a:pPr>
            <a:r>
              <a:rPr sz="2025" b="0">
                <a:solidFill>
                  <a:srgbClr val="102A37"/>
                </a:solidFill>
                <a:latin typeface="Arial"/>
                <a:ea typeface="Arial"/>
                <a:cs typeface="Arial"/>
              </a:rPr>
              <a:t>Live local operation with labelled replay fixtures</a:t>
            </a:r>
          </a:p>
        </p:txBody>
      </p:sp>
      <p:sp>
        <p:nvSpPr>
          <p:cNvPr id="4" name="demo-1">
            <a:extLst xmlns:a="http://schemas.openxmlformats.org/drawingml/2006/main">
              <a:ext uri="{FF2B5EF4-FFF2-40B4-BE49-F238E27FC236}">
                <a16:creationId xmlns:a16="http://schemas.microsoft.com/office/drawing/2014/main" id="{EF49A82B-746E-4A4A-BADE-E5232B21A793}"/>
              </a:ext>
            </a:extLst>
          </p:cNvPr>
          <p:cNvSpPr>
            <a:spLocks xmlns:a="http://schemas.openxmlformats.org/drawingml/2006/main" noGrp="1"/>
          </p:cNvSpPr>
          <p:nvPr/>
        </p:nvSpPr>
        <p:spPr>
          <a:xfrm xmlns:a="http://schemas.openxmlformats.org/drawingml/2006/main">
            <a:off x="628650" y="260032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2A37"/>
                </a:solidFill>
                <a:latin typeface="Arial"/>
                <a:ea typeface="Arial"/>
                <a:cs typeface="Arial"/>
              </a:defRPr>
            </a:defPPr>
          </a:lstStyle>
          <a:p xmlns:a="http://schemas.openxmlformats.org/drawingml/2006/main">
            <a:pPr>
              <a:defRPr sz="2025" b="0">
                <a:solidFill>
                  <a:srgbClr val="102A37"/>
                </a:solidFill>
                <a:latin typeface="Arial"/>
                <a:ea typeface="Arial"/>
                <a:cs typeface="Arial"/>
              </a:defRPr>
            </a:pPr>
            <a:r>
              <a:rPr sz="2025" b="0">
                <a:solidFill>
                  <a:srgbClr val="102A37"/>
                </a:solidFill>
                <a:latin typeface="Arial"/>
                <a:ea typeface="Arial"/>
                <a:cs typeface="Arial"/>
              </a:rPr>
              <a:t>Register an application and immutable suite</a:t>
            </a:r>
          </a:p>
        </p:txBody>
      </p:sp>
      <p:sp>
        <p:nvSpPr>
          <p:cNvPr id="5" name="demo-2">
            <a:extLst xmlns:a="http://schemas.openxmlformats.org/drawingml/2006/main">
              <a:ext uri="{FF2B5EF4-FFF2-40B4-BE49-F238E27FC236}">
                <a16:creationId xmlns:a16="http://schemas.microsoft.com/office/drawing/2014/main" id="{7EA9504F-2F7C-42EA-817D-1FB36CE630C8}"/>
              </a:ext>
            </a:extLst>
          </p:cNvPr>
          <p:cNvSpPr>
            <a:spLocks xmlns:a="http://schemas.openxmlformats.org/drawingml/2006/main" noGrp="1"/>
          </p:cNvSpPr>
          <p:nvPr/>
        </p:nvSpPr>
        <p:spPr>
          <a:xfrm xmlns:a="http://schemas.openxmlformats.org/drawingml/2006/main">
            <a:off x="628650" y="358140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2A37"/>
                </a:solidFill>
                <a:latin typeface="Arial"/>
                <a:ea typeface="Arial"/>
                <a:cs typeface="Arial"/>
              </a:defRPr>
            </a:defPPr>
          </a:lstStyle>
          <a:p xmlns:a="http://schemas.openxmlformats.org/drawingml/2006/main">
            <a:pPr>
              <a:defRPr sz="2025" b="0">
                <a:solidFill>
                  <a:srgbClr val="102A37"/>
                </a:solidFill>
                <a:latin typeface="Arial"/>
                <a:ea typeface="Arial"/>
                <a:cs typeface="Arial"/>
              </a:defRPr>
            </a:pPr>
            <a:r>
              <a:rPr sz="2025" b="0">
                <a:solidFill>
                  <a:srgbClr val="102A37"/>
                </a:solidFill>
                <a:latin typeface="Arial"/>
                <a:ea typeface="Arial"/>
                <a:cs typeface="Arial"/>
              </a:rPr>
              <a:t>Submit passing and failing candidates</a:t>
            </a:r>
          </a:p>
        </p:txBody>
      </p:sp>
      <p:sp>
        <p:nvSpPr>
          <p:cNvPr id="6" name="demo-3">
            <a:extLst xmlns:a="http://schemas.openxmlformats.org/drawingml/2006/main">
              <a:ext uri="{FF2B5EF4-FFF2-40B4-BE49-F238E27FC236}">
                <a16:creationId xmlns:a16="http://schemas.microsoft.com/office/drawing/2014/main" id="{DE390C91-E603-48EB-97CD-C0EE31296EA2}"/>
              </a:ext>
            </a:extLst>
          </p:cNvPr>
          <p:cNvSpPr>
            <a:spLocks xmlns:a="http://schemas.openxmlformats.org/drawingml/2006/main" noGrp="1"/>
          </p:cNvSpPr>
          <p:nvPr/>
        </p:nvSpPr>
        <p:spPr>
          <a:xfrm xmlns:a="http://schemas.openxmlformats.org/drawingml/2006/main">
            <a:off x="628650" y="456247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2A37"/>
                </a:solidFill>
                <a:latin typeface="Arial"/>
                <a:ea typeface="Arial"/>
                <a:cs typeface="Arial"/>
              </a:defRPr>
            </a:defPPr>
          </a:lstStyle>
          <a:p xmlns:a="http://schemas.openxmlformats.org/drawingml/2006/main">
            <a:pPr>
              <a:defRPr sz="2025" b="0">
                <a:solidFill>
                  <a:srgbClr val="102A37"/>
                </a:solidFill>
                <a:latin typeface="Arial"/>
                <a:ea typeface="Arial"/>
                <a:cs typeface="Arial"/>
              </a:defRPr>
            </a:pPr>
            <a:r>
              <a:rPr sz="2025" b="0">
                <a:solidFill>
                  <a:srgbClr val="102A37"/>
                </a:solidFill>
                <a:latin typeface="Arial"/>
                <a:ea typeface="Arial"/>
                <a:cs typeface="Arial"/>
              </a:rPr>
              <a:t>Inspect original output and the blocked review action</a:t>
            </a:r>
          </a:p>
        </p:txBody>
      </p:sp>
      <p:sp>
        <p:nvSpPr>
          <p:cNvPr id="7" name="source-label">
            <a:extLst xmlns:a="http://schemas.openxmlformats.org/drawingml/2006/main">
              <a:ext uri="{FF2B5EF4-FFF2-40B4-BE49-F238E27FC236}">
                <a16:creationId xmlns:a16="http://schemas.microsoft.com/office/drawing/2014/main" id="{8705F463-4F7C-432F-A9BF-8B36E581E53E}"/>
              </a:ext>
            </a:extLst>
          </p:cNvPr>
          <p:cNvSpPr>
            <a:spLocks xmlns:a="http://schemas.openxmlformats.org/drawingml/2006/main" noGrp="1"/>
          </p:cNvSpPr>
          <p:nvPr/>
        </p:nvSpPr>
        <p:spPr>
          <a:xfrm xmlns:a="http://schemas.openxmlformats.org/drawingml/2006/main">
            <a:off x="628650" y="58293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86F70"/>
                </a:solidFill>
                <a:latin typeface="Arial"/>
                <a:ea typeface="Arial"/>
                <a:cs typeface="Arial"/>
              </a:defRPr>
            </a:defPPr>
          </a:lstStyle>
          <a:p xmlns:a="http://schemas.openxmlformats.org/drawingml/2006/main">
            <a:pPr>
              <a:defRPr sz="1650" b="1">
                <a:solidFill>
                  <a:srgbClr val="086F70"/>
                </a:solidFill>
                <a:latin typeface="Arial"/>
                <a:ea typeface="Arial"/>
                <a:cs typeface="Arial"/>
              </a:defRPr>
            </a:pPr>
            <a:r>
              <a:rPr sz="1650" b="1">
                <a:solidFill>
                  <a:srgbClr val="086F70"/>
                </a:solidFill>
                <a:latin typeface="Arial"/>
                <a:ea typeface="Arial"/>
                <a:cs typeface="Arial"/>
              </a:rPr>
              <a:t>Live local replay plus separately labelled historical evidence</a:t>
            </a:r>
          </a:p>
        </p:txBody>
      </p:sp>
      <p:sp>
        <p:nvSpPr>
          <p:cNvPr id="8" name="slide-number">
            <a:extLst xmlns:a="http://schemas.openxmlformats.org/drawingml/2006/main">
              <a:ext uri="{FF2B5EF4-FFF2-40B4-BE49-F238E27FC236}">
                <a16:creationId xmlns:a16="http://schemas.microsoft.com/office/drawing/2014/main" id="{B10099DE-127C-478C-AF9F-B3D8EC4032C5}"/>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14</a:t>
            </a:r>
          </a:p>
        </p:txBody>
      </p:sp>
    </p:spTree>
    <p:extLst>
      <p:ext uri="{BB962C8B-B14F-4D97-AF65-F5344CB8AC3E}">
        <p14:creationId xmlns:p14="http://schemas.microsoft.com/office/powerpoint/2010/main" val="6342822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A0D7C2D-EB2F-49AC-831A-60EAA765225A}"/>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Demo 2  Review and evidence traceability</a:t>
            </a:r>
          </a:p>
        </p:txBody>
      </p:sp>
      <p:pic>
        <p:nvPicPr>
          <p:cNvPr id="2" name="">
            <a:extLst xmlns:a="http://schemas.openxmlformats.org/drawingml/2006/main">
              <a:ext uri="{FF2B5EF4-FFF2-40B4-BE49-F238E27FC236}">
                <a16:creationId xmlns:a16="http://schemas.microsoft.com/office/drawing/2014/main" id="{4DBFE2A3-C7B3-4C14-BF21-1A66D840F74E}"/>
              </a:ext>
            </a:extLst>
          </p:cNvPr>
          <p:cNvPicPr>
            <a:picLocks xmlns:a="http://schemas.openxmlformats.org/drawingml/2006/main" noChangeAspect="1"/>
          </p:cNvPicPr>
          <p:nvPr/>
        </p:nvPicPr>
        <p:blipFill>
          <a:blip xmlns:r="http://schemas.openxmlformats.org/officeDocument/2006/relationships" xmlns:a="http://schemas.openxmlformats.org/drawingml/2006/main" r:embed="R55af3f055eef4e55"/>
          <a:stretch xmlns:a="http://schemas.openxmlformats.org/drawingml/2006/main"/>
        </p:blipFill>
        <p:spPr>
          <a:xfrm xmlns:a="http://schemas.openxmlformats.org/drawingml/2006/main">
            <a:off x="5857875" y="1657350"/>
            <a:ext cx="5715000" cy="3810000"/>
          </a:xfrm>
          <a:prstGeom xmlns:a="http://schemas.openxmlformats.org/drawingml/2006/main" prst="rect">
            <a:avLst/>
          </a:prstGeom>
        </p:spPr>
      </p:pic>
      <p:sp>
        <p:nvSpPr>
          <p:cNvPr id="3" name="demo-0">
            <a:extLst xmlns:a="http://schemas.openxmlformats.org/drawingml/2006/main">
              <a:ext uri="{FF2B5EF4-FFF2-40B4-BE49-F238E27FC236}">
                <a16:creationId xmlns:a16="http://schemas.microsoft.com/office/drawing/2014/main" id="{222F92C4-FB43-4607-B297-C2B3215DBC3F}"/>
              </a:ext>
            </a:extLst>
          </p:cNvPr>
          <p:cNvSpPr>
            <a:spLocks xmlns:a="http://schemas.openxmlformats.org/drawingml/2006/main" noGrp="1"/>
          </p:cNvSpPr>
          <p:nvPr/>
        </p:nvSpPr>
        <p:spPr>
          <a:xfrm xmlns:a="http://schemas.openxmlformats.org/drawingml/2006/main">
            <a:off x="628650" y="161925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2A37"/>
                </a:solidFill>
                <a:latin typeface="Arial"/>
                <a:ea typeface="Arial"/>
                <a:cs typeface="Arial"/>
              </a:defRPr>
            </a:defPPr>
          </a:lstStyle>
          <a:p xmlns:a="http://schemas.openxmlformats.org/drawingml/2006/main">
            <a:pPr>
              <a:defRPr sz="2025" b="0">
                <a:solidFill>
                  <a:srgbClr val="102A37"/>
                </a:solidFill>
                <a:latin typeface="Arial"/>
                <a:ea typeface="Arial"/>
                <a:cs typeface="Arial"/>
              </a:defRPr>
            </a:pPr>
            <a:r>
              <a:rPr sz="2025" b="0">
                <a:solidFill>
                  <a:srgbClr val="102A37"/>
                </a:solidFill>
                <a:latin typeface="Arial"/>
                <a:ea typeface="Arial"/>
                <a:cs typeface="Arial"/>
              </a:rPr>
              <a:t>Review request captures a passing evidence snapshot</a:t>
            </a:r>
          </a:p>
        </p:txBody>
      </p:sp>
      <p:sp>
        <p:nvSpPr>
          <p:cNvPr id="4" name="demo-1">
            <a:extLst xmlns:a="http://schemas.openxmlformats.org/drawingml/2006/main">
              <a:ext uri="{FF2B5EF4-FFF2-40B4-BE49-F238E27FC236}">
                <a16:creationId xmlns:a16="http://schemas.microsoft.com/office/drawing/2014/main" id="{0DE3E6AF-36DC-44C5-8578-9FD88410DE49}"/>
              </a:ext>
            </a:extLst>
          </p:cNvPr>
          <p:cNvSpPr>
            <a:spLocks xmlns:a="http://schemas.openxmlformats.org/drawingml/2006/main" noGrp="1"/>
          </p:cNvSpPr>
          <p:nvPr/>
        </p:nvSpPr>
        <p:spPr>
          <a:xfrm xmlns:a="http://schemas.openxmlformats.org/drawingml/2006/main">
            <a:off x="628650" y="260032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2A37"/>
                </a:solidFill>
                <a:latin typeface="Arial"/>
                <a:ea typeface="Arial"/>
                <a:cs typeface="Arial"/>
              </a:defRPr>
            </a:defPPr>
          </a:lstStyle>
          <a:p xmlns:a="http://schemas.openxmlformats.org/drawingml/2006/main">
            <a:pPr>
              <a:defRPr sz="2025" b="0">
                <a:solidFill>
                  <a:srgbClr val="102A37"/>
                </a:solidFill>
                <a:latin typeface="Arial"/>
                <a:ea typeface="Arial"/>
                <a:cs typeface="Arial"/>
              </a:defRPr>
            </a:pPr>
            <a:r>
              <a:rPr sz="2025" b="0">
                <a:solidFill>
                  <a:srgbClr val="102A37"/>
                </a:solidFill>
                <a:latin typeface="Arial"/>
                <a:ea typeface="Arial"/>
                <a:cs typeface="Arial"/>
              </a:rPr>
              <a:t>Self-review and stale decisions fail</a:t>
            </a:r>
          </a:p>
        </p:txBody>
      </p:sp>
      <p:sp>
        <p:nvSpPr>
          <p:cNvPr id="5" name="demo-2">
            <a:extLst xmlns:a="http://schemas.openxmlformats.org/drawingml/2006/main">
              <a:ext uri="{FF2B5EF4-FFF2-40B4-BE49-F238E27FC236}">
                <a16:creationId xmlns:a16="http://schemas.microsoft.com/office/drawing/2014/main" id="{CBDE15CB-9192-42B4-9579-308FB360C7CE}"/>
              </a:ext>
            </a:extLst>
          </p:cNvPr>
          <p:cNvSpPr>
            <a:spLocks xmlns:a="http://schemas.openxmlformats.org/drawingml/2006/main" noGrp="1"/>
          </p:cNvSpPr>
          <p:nvPr/>
        </p:nvSpPr>
        <p:spPr>
          <a:xfrm xmlns:a="http://schemas.openxmlformats.org/drawingml/2006/main">
            <a:off x="628650" y="358140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2A37"/>
                </a:solidFill>
                <a:latin typeface="Arial"/>
                <a:ea typeface="Arial"/>
                <a:cs typeface="Arial"/>
              </a:defRPr>
            </a:defPPr>
          </a:lstStyle>
          <a:p xmlns:a="http://schemas.openxmlformats.org/drawingml/2006/main">
            <a:pPr>
              <a:defRPr sz="2025" b="0">
                <a:solidFill>
                  <a:srgbClr val="102A37"/>
                </a:solidFill>
                <a:latin typeface="Arial"/>
                <a:ea typeface="Arial"/>
                <a:cs typeface="Arial"/>
              </a:defRPr>
            </a:pPr>
            <a:r>
              <a:rPr sz="2025" b="0">
                <a:solidFill>
                  <a:srgbClr val="102A37"/>
                </a:solidFill>
                <a:latin typeface="Arial"/>
                <a:ea typeface="Arial"/>
                <a:cs typeface="Arial"/>
              </a:rPr>
              <a:t>A different local test identity records one terminal decision</a:t>
            </a:r>
          </a:p>
        </p:txBody>
      </p:sp>
      <p:sp>
        <p:nvSpPr>
          <p:cNvPr id="6" name="demo-3">
            <a:extLst xmlns:a="http://schemas.openxmlformats.org/drawingml/2006/main">
              <a:ext uri="{FF2B5EF4-FFF2-40B4-BE49-F238E27FC236}">
                <a16:creationId xmlns:a16="http://schemas.microsoft.com/office/drawing/2014/main" id="{79568C24-9B90-4436-AB37-ADBDBE964538}"/>
              </a:ext>
            </a:extLst>
          </p:cNvPr>
          <p:cNvSpPr>
            <a:spLocks xmlns:a="http://schemas.openxmlformats.org/drawingml/2006/main" noGrp="1"/>
          </p:cNvSpPr>
          <p:nvPr/>
        </p:nvSpPr>
        <p:spPr>
          <a:xfrm xmlns:a="http://schemas.openxmlformats.org/drawingml/2006/main">
            <a:off x="628650" y="456247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2A37"/>
                </a:solidFill>
                <a:latin typeface="Arial"/>
                <a:ea typeface="Arial"/>
                <a:cs typeface="Arial"/>
              </a:defRPr>
            </a:defPPr>
          </a:lstStyle>
          <a:p xmlns:a="http://schemas.openxmlformats.org/drawingml/2006/main">
            <a:pPr>
              <a:defRPr sz="2025" b="0">
                <a:solidFill>
                  <a:srgbClr val="102A37"/>
                </a:solidFill>
                <a:latin typeface="Arial"/>
                <a:ea typeface="Arial"/>
                <a:cs typeface="Arial"/>
              </a:defRPr>
            </a:pPr>
            <a:r>
              <a:rPr sz="2025" b="0">
                <a:solidFill>
                  <a:srgbClr val="102A37"/>
                </a:solidFill>
                <a:latin typeface="Arial"/>
                <a:ea typeface="Arial"/>
                <a:cs typeface="Arial"/>
              </a:rPr>
              <a:t>Export preserves job, suite, original outputs and audit</a:t>
            </a:r>
          </a:p>
        </p:txBody>
      </p:sp>
      <p:sp>
        <p:nvSpPr>
          <p:cNvPr id="7" name="source-label">
            <a:extLst xmlns:a="http://schemas.openxmlformats.org/drawingml/2006/main">
              <a:ext uri="{FF2B5EF4-FFF2-40B4-BE49-F238E27FC236}">
                <a16:creationId xmlns:a16="http://schemas.microsoft.com/office/drawing/2014/main" id="{297D78CC-09FF-4316-8B22-80B34451D721}"/>
              </a:ext>
            </a:extLst>
          </p:cNvPr>
          <p:cNvSpPr>
            <a:spLocks xmlns:a="http://schemas.openxmlformats.org/drawingml/2006/main" noGrp="1"/>
          </p:cNvSpPr>
          <p:nvPr/>
        </p:nvSpPr>
        <p:spPr>
          <a:xfrm xmlns:a="http://schemas.openxmlformats.org/drawingml/2006/main">
            <a:off x="628650" y="58293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86F70"/>
                </a:solidFill>
                <a:latin typeface="Arial"/>
                <a:ea typeface="Arial"/>
                <a:cs typeface="Arial"/>
              </a:defRPr>
            </a:defPPr>
          </a:lstStyle>
          <a:p xmlns:a="http://schemas.openxmlformats.org/drawingml/2006/main">
            <a:pPr>
              <a:defRPr sz="1650" b="1">
                <a:solidFill>
                  <a:srgbClr val="086F70"/>
                </a:solidFill>
                <a:latin typeface="Arial"/>
                <a:ea typeface="Arial"/>
                <a:cs typeface="Arial"/>
              </a:defRPr>
            </a:pPr>
            <a:r>
              <a:rPr sz="1650" b="1">
                <a:solidFill>
                  <a:srgbClr val="086F70"/>
                </a:solidFill>
                <a:latin typeface="Arial"/>
                <a:ea typeface="Arial"/>
                <a:cs typeface="Arial"/>
              </a:rPr>
              <a:t>Live local replay plus separately labelled historical evidence</a:t>
            </a:r>
          </a:p>
        </p:txBody>
      </p:sp>
      <p:sp>
        <p:nvSpPr>
          <p:cNvPr id="8" name="slide-number">
            <a:extLst xmlns:a="http://schemas.openxmlformats.org/drawingml/2006/main">
              <a:ext uri="{FF2B5EF4-FFF2-40B4-BE49-F238E27FC236}">
                <a16:creationId xmlns:a16="http://schemas.microsoft.com/office/drawing/2014/main" id="{5AA1DF53-1CE2-439B-AB2B-F8CD25D8AC4D}"/>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15</a:t>
            </a:r>
          </a:p>
        </p:txBody>
      </p:sp>
    </p:spTree>
    <p:extLst>
      <p:ext uri="{BB962C8B-B14F-4D97-AF65-F5344CB8AC3E}">
        <p14:creationId xmlns:p14="http://schemas.microsoft.com/office/powerpoint/2010/main" val="6754746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E002879-481E-43CB-8573-EA9663F24F93}"/>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Demo 3  Historical real model evidence</a:t>
            </a:r>
          </a:p>
        </p:txBody>
      </p:sp>
      <p:graphicFrame>
        <p:nvGraphicFramePr>
          <p:cNvPr id="2" name="">
            <a:extLst xmlns:a="http://schemas.openxmlformats.org/drawingml/2006/main">
              <a:ext uri="{FF2B5EF4-FFF2-40B4-BE49-F238E27FC236}">
                <a16:creationId xmlns:a16="http://schemas.microsoft.com/office/drawing/2014/main" id="{D58FD9E7-D07A-4A47-BDF0-831DC34F64ED}"/>
              </a:ext>
            </a:extLst>
          </p:cNvPr>
          <p:cNvGraphicFramePr/>
          <p:nvPr/>
        </p:nvGraphicFramePr>
        <p:xfrm>
          <a:off xmlns:a="http://schemas.openxmlformats.org/drawingml/2006/main" x="609600" y="1562100"/>
          <a:ext xmlns:a="http://schemas.openxmlformats.org/drawingml/2006/main" cx="10972800" cy="3524250"/>
        </p:xfrm>
        <a:graphic xmlns:a="http://schemas.openxmlformats.org/drawingml/2006/main">
          <a:graphicData uri="http://schemas.openxmlformats.org/drawingml/2006/table">
            <a:tbl>
              <a:tblPr/>
              <a:tblGrid>
                <a:gridCol w="2524125"/>
                <a:gridCol w="4019550"/>
                <a:gridCol w="4429125"/>
              </a:tblGrid>
              <a:tr h="704850">
                <a:tc>
                  <a:txBody>
                    <a:bodyPr/>
                    <a:lstStyle/>
                    <a:p>
                      <a:r>
                        <a:rPr sz="1800" b="1">
                          <a:solidFill>
                            <a:srgbClr val="FFFFFF"/>
                          </a:solidFill>
                          <a:latin typeface="Arial"/>
                          <a:ea typeface="Arial"/>
                          <a:cs typeface="Arial"/>
                        </a:rPr>
                        <a:t>Experiment</a:t>
                      </a:r>
                    </a:p>
                  </a:txBody>
                  <a:tcPr marL="142875" marR="142875" marT="133350" marB="133350" anchor="ctr">
                    <a:lnL w="9525">
                      <a:solidFill>
                        <a:srgbClr val="CAD6D9"/>
                      </a:solidFill>
                      <a:prstDash val="solid"/>
                    </a:lnL>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Fixed denominator</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Result and scope</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r>
              <a:tr h="704850">
                <a:tc>
                  <a:txBody>
                    <a:bodyPr/>
                    <a:lstStyle/>
                    <a:p>
                      <a:r>
                        <a:rPr sz="1875" b="0">
                          <a:solidFill>
                            <a:srgbClr val="102A37"/>
                          </a:solidFill>
                          <a:latin typeface="Arial"/>
                          <a:ea typeface="Arial"/>
                          <a:cs typeface="Arial"/>
                        </a:rPr>
                        <a:t>Customer generation A/B</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20 per model</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Original scores 70 / 75</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v3 real protocol</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3 samples</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3 protocol-valid, 3 matches</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704850">
                <a:tc>
                  <a:txBody>
                    <a:bodyPr/>
                    <a:lstStyle/>
                    <a:p>
                      <a:r>
                        <a:rPr sz="1875" b="0">
                          <a:solidFill>
                            <a:srgbClr val="102A37"/>
                          </a:solidFill>
                          <a:latin typeface="Arial"/>
                          <a:ea typeface="Arial"/>
                          <a:cs typeface="Arial"/>
                        </a:rPr>
                        <a:t>v3 development</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17 samples</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9/9 compliant, 8/8 violations</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Formal reviewer status</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Qualification</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calibration_pending; shadowOnly</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bl>
          </a:graphicData>
        </a:graphic>
      </p:graphicFrame>
      <p:sp>
        <p:nvSpPr>
          <p:cNvPr id="3" name="slide-number">
            <a:extLst xmlns:a="http://schemas.openxmlformats.org/drawingml/2006/main">
              <a:ext uri="{FF2B5EF4-FFF2-40B4-BE49-F238E27FC236}">
                <a16:creationId xmlns:a16="http://schemas.microsoft.com/office/drawing/2014/main" id="{D0350D3D-F84F-427D-BFFD-C9552172E11B}"/>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16</a:t>
            </a:r>
          </a:p>
        </p:txBody>
      </p:sp>
    </p:spTree>
    <p:extLst>
      <p:ext uri="{BB962C8B-B14F-4D97-AF65-F5344CB8AC3E}">
        <p14:creationId xmlns:p14="http://schemas.microsoft.com/office/powerpoint/2010/main" val="67738753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597B611-E029-4761-8237-5713488D44C6}"/>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Demo 4  Quality evidence and limits</a:t>
            </a:r>
          </a:p>
        </p:txBody>
      </p:sp>
      <p:sp>
        <p:nvSpPr>
          <p:cNvPr id="2" name="body-0">
            <a:extLst xmlns:a="http://schemas.openxmlformats.org/drawingml/2006/main">
              <a:ext uri="{FF2B5EF4-FFF2-40B4-BE49-F238E27FC236}">
                <a16:creationId xmlns:a16="http://schemas.microsoft.com/office/drawing/2014/main" id="{668E3804-E27E-4648-8279-672F75423564}"/>
              </a:ext>
            </a:extLst>
          </p:cNvPr>
          <p:cNvSpPr>
            <a:spLocks xmlns:a="http://schemas.openxmlformats.org/drawingml/2006/main" noGrp="1"/>
          </p:cNvSpPr>
          <p:nvPr/>
        </p:nvSpPr>
        <p:spPr>
          <a:xfrm xmlns:a="http://schemas.openxmlformats.org/drawingml/2006/main">
            <a:off x="628650" y="15811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86F70"/>
                </a:solidFill>
                <a:latin typeface="Arial"/>
                <a:ea typeface="Arial"/>
                <a:cs typeface="Arial"/>
              </a:defRPr>
            </a:defPPr>
          </a:lstStyle>
          <a:p xmlns:a="http://schemas.openxmlformats.org/drawingml/2006/main">
            <a:pPr>
              <a:defRPr sz="2325" b="1">
                <a:solidFill>
                  <a:srgbClr val="086F70"/>
                </a:solidFill>
                <a:latin typeface="Arial"/>
                <a:ea typeface="Arial"/>
                <a:cs typeface="Arial"/>
              </a:defRPr>
            </a:pPr>
            <a:r>
              <a:rPr sz="2325" b="1">
                <a:solidFill>
                  <a:srgbClr val="086F70"/>
                </a:solidFill>
                <a:latin typeface="Arial"/>
                <a:ea typeface="Arial"/>
                <a:cs typeface="Arial"/>
              </a:rPr>
              <a:t>Dated replay scaling and fault evidence</a:t>
            </a:r>
          </a:p>
        </p:txBody>
      </p:sp>
      <p:sp>
        <p:nvSpPr>
          <p:cNvPr id="3" name="body-1">
            <a:extLst xmlns:a="http://schemas.openxmlformats.org/drawingml/2006/main">
              <a:ext uri="{FF2B5EF4-FFF2-40B4-BE49-F238E27FC236}">
                <a16:creationId xmlns:a16="http://schemas.microsoft.com/office/drawing/2014/main" id="{8200CC94-32C4-45D3-A9AB-5A7BC39E82C8}"/>
              </a:ext>
            </a:extLst>
          </p:cNvPr>
          <p:cNvSpPr>
            <a:spLocks xmlns:a="http://schemas.openxmlformats.org/drawingml/2006/main" noGrp="1"/>
          </p:cNvSpPr>
          <p:nvPr/>
        </p:nvSpPr>
        <p:spPr>
          <a:xfrm xmlns:a="http://schemas.openxmlformats.org/drawingml/2006/main">
            <a:off x="628650" y="252412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Historical API permission and restore checks</a:t>
            </a:r>
          </a:p>
        </p:txBody>
      </p:sp>
      <p:sp>
        <p:nvSpPr>
          <p:cNvPr id="4" name="body-2">
            <a:extLst xmlns:a="http://schemas.openxmlformats.org/drawingml/2006/main">
              <a:ext uri="{FF2B5EF4-FFF2-40B4-BE49-F238E27FC236}">
                <a16:creationId xmlns:a16="http://schemas.microsoft.com/office/drawing/2014/main" id="{5CD07385-C2BF-46F2-8C26-6B6E51A1935F}"/>
              </a:ext>
            </a:extLst>
          </p:cNvPr>
          <p:cNvSpPr>
            <a:spLocks xmlns:a="http://schemas.openxmlformats.org/drawingml/2006/main" noGrp="1"/>
          </p:cNvSpPr>
          <p:nvPr/>
        </p:nvSpPr>
        <p:spPr>
          <a:xfrm xmlns:a="http://schemas.openxmlformats.org/drawingml/2006/main">
            <a:off x="628650" y="3467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17-sample validation has a fixed development denominator</a:t>
            </a:r>
          </a:p>
        </p:txBody>
      </p:sp>
      <p:sp>
        <p:nvSpPr>
          <p:cNvPr id="5" name="body-3">
            <a:extLst xmlns:a="http://schemas.openxmlformats.org/drawingml/2006/main">
              <a:ext uri="{FF2B5EF4-FFF2-40B4-BE49-F238E27FC236}">
                <a16:creationId xmlns:a16="http://schemas.microsoft.com/office/drawing/2014/main" id="{F41CDC80-E23E-4BE3-83B6-DD4EA2A48EFE}"/>
              </a:ext>
            </a:extLst>
          </p:cNvPr>
          <p:cNvSpPr>
            <a:spLocks xmlns:a="http://schemas.openxmlformats.org/drawingml/2006/main" noGrp="1"/>
          </p:cNvSpPr>
          <p:nvPr/>
        </p:nvSpPr>
        <p:spPr>
          <a:xfrm xmlns:a="http://schemas.openxmlformats.org/drawingml/2006/main">
            <a:off x="628650" y="441007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No current cloud throughput or production accuracy claim</a:t>
            </a:r>
          </a:p>
        </p:txBody>
      </p:sp>
      <p:sp>
        <p:nvSpPr>
          <p:cNvPr id="6" name="slide-number">
            <a:extLst xmlns:a="http://schemas.openxmlformats.org/drawingml/2006/main">
              <a:ext uri="{FF2B5EF4-FFF2-40B4-BE49-F238E27FC236}">
                <a16:creationId xmlns:a16="http://schemas.microsoft.com/office/drawing/2014/main" id="{7F535E23-2747-4428-909A-723A672EE03D}"/>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17</a:t>
            </a:r>
          </a:p>
        </p:txBody>
      </p:sp>
    </p:spTree>
    <p:extLst>
      <p:ext uri="{BB962C8B-B14F-4D97-AF65-F5344CB8AC3E}">
        <p14:creationId xmlns:p14="http://schemas.microsoft.com/office/powerpoint/2010/main" val="5219495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B6287F0-C52C-4412-B74A-FBD86791F143}"/>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Current outcome and remaining work</a:t>
            </a:r>
          </a:p>
        </p:txBody>
      </p:sp>
      <p:sp>
        <p:nvSpPr>
          <p:cNvPr id="2" name="body-0">
            <a:extLst xmlns:a="http://schemas.openxmlformats.org/drawingml/2006/main">
              <a:ext uri="{FF2B5EF4-FFF2-40B4-BE49-F238E27FC236}">
                <a16:creationId xmlns:a16="http://schemas.microsoft.com/office/drawing/2014/main" id="{2575089B-1DBF-46A5-A6A6-0094D301CD9E}"/>
              </a:ext>
            </a:extLst>
          </p:cNvPr>
          <p:cNvSpPr>
            <a:spLocks xmlns:a="http://schemas.openxmlformats.org/drawingml/2006/main" noGrp="1"/>
          </p:cNvSpPr>
          <p:nvPr/>
        </p:nvSpPr>
        <p:spPr>
          <a:xfrm xmlns:a="http://schemas.openxmlformats.org/drawingml/2006/main">
            <a:off x="628650" y="15811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86F70"/>
                </a:solidFill>
                <a:latin typeface="Arial"/>
                <a:ea typeface="Arial"/>
                <a:cs typeface="Arial"/>
              </a:defRPr>
            </a:defPPr>
          </a:lstStyle>
          <a:p xmlns:a="http://schemas.openxmlformats.org/drawingml/2006/main">
            <a:pPr>
              <a:defRPr sz="2325" b="1">
                <a:solidFill>
                  <a:srgbClr val="086F70"/>
                </a:solidFill>
                <a:latin typeface="Arial"/>
                <a:ea typeface="Arial"/>
                <a:cs typeface="Arial"/>
              </a:defRPr>
            </a:pPr>
            <a:r>
              <a:rPr sz="2325" b="1">
                <a:solidFill>
                  <a:srgbClr val="086F70"/>
                </a:solidFill>
                <a:latin typeface="Arial"/>
                <a:ea typeface="Arial"/>
                <a:cs typeface="Arial"/>
              </a:rPr>
              <a:t>Core evaluation and review workflow is implemented</a:t>
            </a:r>
          </a:p>
        </p:txBody>
      </p:sp>
      <p:sp>
        <p:nvSpPr>
          <p:cNvPr id="3" name="body-1">
            <a:extLst xmlns:a="http://schemas.openxmlformats.org/drawingml/2006/main">
              <a:ext uri="{FF2B5EF4-FFF2-40B4-BE49-F238E27FC236}">
                <a16:creationId xmlns:a16="http://schemas.microsoft.com/office/drawing/2014/main" id="{A434D073-4DA6-464F-B2D6-78EADF3F6076}"/>
              </a:ext>
            </a:extLst>
          </p:cNvPr>
          <p:cNvSpPr>
            <a:spLocks xmlns:a="http://schemas.openxmlformats.org/drawingml/2006/main" noGrp="1"/>
          </p:cNvSpPr>
          <p:nvPr/>
        </p:nvSpPr>
        <p:spPr>
          <a:xfrm xmlns:a="http://schemas.openxmlformats.org/drawingml/2006/main">
            <a:off x="628650" y="252412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v3 passed two separate bounded real validations</a:t>
            </a:r>
          </a:p>
        </p:txBody>
      </p:sp>
      <p:sp>
        <p:nvSpPr>
          <p:cNvPr id="4" name="body-2">
            <a:extLst xmlns:a="http://schemas.openxmlformats.org/drawingml/2006/main">
              <a:ext uri="{FF2B5EF4-FFF2-40B4-BE49-F238E27FC236}">
                <a16:creationId xmlns:a16="http://schemas.microsoft.com/office/drawing/2014/main" id="{C294D1F3-A868-4BA4-A4EE-0F9ABAC1070A}"/>
              </a:ext>
            </a:extLst>
          </p:cNvPr>
          <p:cNvSpPr>
            <a:spLocks xmlns:a="http://schemas.openxmlformats.org/drawingml/2006/main" noGrp="1"/>
          </p:cNvSpPr>
          <p:nvPr/>
        </p:nvSpPr>
        <p:spPr>
          <a:xfrm xmlns:a="http://schemas.openxmlformats.org/drawingml/2006/main">
            <a:off x="628650" y="3467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Known old holdout failure remains visible</a:t>
            </a:r>
          </a:p>
        </p:txBody>
      </p:sp>
      <p:sp>
        <p:nvSpPr>
          <p:cNvPr id="5" name="body-3">
            <a:extLst xmlns:a="http://schemas.openxmlformats.org/drawingml/2006/main">
              <a:ext uri="{FF2B5EF4-FFF2-40B4-BE49-F238E27FC236}">
                <a16:creationId xmlns:a16="http://schemas.microsoft.com/office/drawing/2014/main" id="{8AACB306-9083-4B66-9ED4-B66AC2448425}"/>
              </a:ext>
            </a:extLst>
          </p:cNvPr>
          <p:cNvSpPr>
            <a:spLocks xmlns:a="http://schemas.openxmlformats.org/drawingml/2006/main" noGrp="1"/>
          </p:cNvSpPr>
          <p:nvPr/>
        </p:nvSpPr>
        <p:spPr>
          <a:xfrm xmlns:a="http://schemas.openxmlformats.org/drawingml/2006/main">
            <a:off x="628650" y="441007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Team review, measured effort and production calibration remain open</a:t>
            </a:r>
          </a:p>
        </p:txBody>
      </p:sp>
      <p:sp>
        <p:nvSpPr>
          <p:cNvPr id="6" name="slide-number">
            <a:extLst xmlns:a="http://schemas.openxmlformats.org/drawingml/2006/main">
              <a:ext uri="{FF2B5EF4-FFF2-40B4-BE49-F238E27FC236}">
                <a16:creationId xmlns:a16="http://schemas.microsoft.com/office/drawing/2014/main" id="{59981285-AB6D-4100-A317-9E371580D432}"/>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18</a:t>
            </a:r>
          </a:p>
        </p:txBody>
      </p:sp>
    </p:spTree>
    <p:extLst>
      <p:ext uri="{BB962C8B-B14F-4D97-AF65-F5344CB8AC3E}">
        <p14:creationId xmlns:p14="http://schemas.microsoft.com/office/powerpoint/2010/main" val="1935889287"/>
      </p:ext>
    </p:extLst>
  </p:cSld>
</p:sld>
</file>

<file path=ppt/slides/slide1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523C34-49D7-4D2A-9E42-E34B815FC5C3}"/>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Backup  Database detail</a:t>
            </a:r>
          </a:p>
        </p:txBody>
      </p:sp>
      <p:graphicFrame>
        <p:nvGraphicFramePr>
          <p:cNvPr id="2" name="">
            <a:extLst xmlns:a="http://schemas.openxmlformats.org/drawingml/2006/main">
              <a:ext uri="{FF2B5EF4-FFF2-40B4-BE49-F238E27FC236}">
                <a16:creationId xmlns:a16="http://schemas.microsoft.com/office/drawing/2014/main" id="{595EE069-BBC0-4C30-A0A5-E0CDAB66769D}"/>
              </a:ext>
            </a:extLst>
          </p:cNvPr>
          <p:cNvGraphicFramePr/>
          <p:nvPr/>
        </p:nvGraphicFramePr>
        <p:xfrm>
          <a:off xmlns:a="http://schemas.openxmlformats.org/drawingml/2006/main" x="609600" y="1562100"/>
          <a:ext xmlns:a="http://schemas.openxmlformats.org/drawingml/2006/main" cx="10972800" cy="3524250"/>
        </p:xfrm>
        <a:graphic xmlns:a="http://schemas.openxmlformats.org/drawingml/2006/main">
          <a:graphicData uri="http://schemas.openxmlformats.org/drawingml/2006/table">
            <a:tbl>
              <a:tblPr/>
              <a:tblGrid>
                <a:gridCol w="2524125"/>
                <a:gridCol w="4019550"/>
                <a:gridCol w="4429125"/>
              </a:tblGrid>
              <a:tr h="704850">
                <a:tc>
                  <a:txBody>
                    <a:bodyPr/>
                    <a:lstStyle/>
                    <a:p>
                      <a:r>
                        <a:rPr sz="1800" b="1">
                          <a:solidFill>
                            <a:srgbClr val="FFFFFF"/>
                          </a:solidFill>
                          <a:latin typeface="Arial"/>
                          <a:ea typeface="Arial"/>
                          <a:cs typeface="Arial"/>
                        </a:rPr>
                        <a:t>Table</a:t>
                      </a:r>
                    </a:p>
                  </a:txBody>
                  <a:tcPr marL="142875" marR="142875" marT="133350" marB="133350" anchor="ctr">
                    <a:lnL w="9525">
                      <a:solidFill>
                        <a:srgbClr val="CAD6D9"/>
                      </a:solidFill>
                      <a:prstDash val="solid"/>
                    </a:lnL>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Selected fields</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Invariant</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r>
              <a:tr h="704850">
                <a:tc>
                  <a:txBody>
                    <a:bodyPr/>
                    <a:lstStyle/>
                    <a:p>
                      <a:r>
                        <a:rPr sz="1875" b="0">
                          <a:solidFill>
                            <a:srgbClr val="102A37"/>
                          </a:solidFill>
                          <a:latin typeface="Arial"/>
                          <a:ea typeface="Arial"/>
                          <a:cs typeface="Arial"/>
                        </a:rPr>
                        <a:t>applications / suites</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workspace, data, parent_id</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Scoped assets; immutable suite IDs</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jobs</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input, snapshot, result, lease_id</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Idempotent admission; guarded commit</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704850">
                <a:tc>
                  <a:txBody>
                    <a:bodyPr/>
                    <a:lstStyle/>
                    <a:p>
                      <a:r>
                        <a:rPr sz="1875" b="0">
                          <a:solidFill>
                            <a:srgbClr val="102A37"/>
                          </a:solidFill>
                          <a:latin typeface="Arial"/>
                          <a:ea typeface="Arial"/>
                          <a:cs typeface="Arial"/>
                        </a:rPr>
                        <a:t>outbox</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job_id, sent_at</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Atomic job + notification intent</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releases / audit</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version, evidence, entity_id</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One terminal decision; retained trail</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bl>
          </a:graphicData>
        </a:graphic>
      </p:graphicFrame>
      <p:sp>
        <p:nvSpPr>
          <p:cNvPr id="3" name="slide-number">
            <a:extLst xmlns:a="http://schemas.openxmlformats.org/drawingml/2006/main">
              <a:ext uri="{FF2B5EF4-FFF2-40B4-BE49-F238E27FC236}">
                <a16:creationId xmlns:a16="http://schemas.microsoft.com/office/drawing/2014/main" id="{75C52420-CCDB-455A-AFC9-6D373D35DFF3}"/>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19</a:t>
            </a:r>
          </a:p>
        </p:txBody>
      </p:sp>
    </p:spTree>
    <p:extLst>
      <p:ext uri="{BB962C8B-B14F-4D97-AF65-F5344CB8AC3E}">
        <p14:creationId xmlns:p14="http://schemas.microsoft.com/office/powerpoint/2010/main" val="978070699"/>
      </p:ext>
    </p:extLst>
  </p:cSld>
</p:sld>
</file>

<file path=ppt/slides/slide2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0EF233-DB15-4F66-A2F8-E4571601E6FC}"/>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Backup  Evidence types</a:t>
            </a:r>
          </a:p>
        </p:txBody>
      </p:sp>
      <p:graphicFrame>
        <p:nvGraphicFramePr>
          <p:cNvPr id="2" name="">
            <a:extLst xmlns:a="http://schemas.openxmlformats.org/drawingml/2006/main">
              <a:ext uri="{FF2B5EF4-FFF2-40B4-BE49-F238E27FC236}">
                <a16:creationId xmlns:a16="http://schemas.microsoft.com/office/drawing/2014/main" id="{9C2067B9-828F-4D41-961B-F9C066D49E01}"/>
              </a:ext>
            </a:extLst>
          </p:cNvPr>
          <p:cNvGraphicFramePr/>
          <p:nvPr/>
        </p:nvGraphicFramePr>
        <p:xfrm>
          <a:off xmlns:a="http://schemas.openxmlformats.org/drawingml/2006/main" x="609600" y="1562100"/>
          <a:ext xmlns:a="http://schemas.openxmlformats.org/drawingml/2006/main" cx="10972800" cy="3524250"/>
        </p:xfrm>
        <a:graphic xmlns:a="http://schemas.openxmlformats.org/drawingml/2006/main">
          <a:graphicData uri="http://schemas.openxmlformats.org/drawingml/2006/table">
            <a:tbl>
              <a:tblPr/>
              <a:tblGrid>
                <a:gridCol w="2524125"/>
                <a:gridCol w="4019550"/>
                <a:gridCol w="4429125"/>
              </a:tblGrid>
              <a:tr h="704850">
                <a:tc>
                  <a:txBody>
                    <a:bodyPr/>
                    <a:lstStyle/>
                    <a:p>
                      <a:r>
                        <a:rPr sz="1800" b="1">
                          <a:solidFill>
                            <a:srgbClr val="FFFFFF"/>
                          </a:solidFill>
                          <a:latin typeface="Arial"/>
                          <a:ea typeface="Arial"/>
                          <a:cs typeface="Arial"/>
                        </a:rPr>
                        <a:t>Type</a:t>
                      </a:r>
                    </a:p>
                  </a:txBody>
                  <a:tcPr marL="142875" marR="142875" marT="133350" marB="133350" anchor="ctr">
                    <a:lnL w="9525">
                      <a:solidFill>
                        <a:srgbClr val="CAD6D9"/>
                      </a:solidFill>
                      <a:prstDash val="solid"/>
                    </a:lnL>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New provider call</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What it establishes</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r>
              <a:tr h="704850">
                <a:tc>
                  <a:txBody>
                    <a:bodyPr/>
                    <a:lstStyle/>
                    <a:p>
                      <a:r>
                        <a:rPr sz="1875" b="0">
                          <a:solidFill>
                            <a:srgbClr val="102A37"/>
                          </a:solidFill>
                          <a:latin typeface="Arial"/>
                          <a:ea typeface="Arial"/>
                          <a:cs typeface="Arial"/>
                        </a:rPr>
                        <a:t>Unit fixture</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No</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Program behaviour</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Replay / imported</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No</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Platform flow or supplied evidence</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704850">
                <a:tc>
                  <a:txBody>
                    <a:bodyPr/>
                    <a:lstStyle/>
                    <a:p>
                      <a:r>
                        <a:rPr sz="1875" b="0">
                          <a:solidFill>
                            <a:srgbClr val="102A37"/>
                          </a:solidFill>
                          <a:latin typeface="Arial"/>
                          <a:ea typeface="Arial"/>
                          <a:cs typeface="Arial"/>
                        </a:rPr>
                        <a:t>Historical real playback</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No today</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Dated provider output</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Real generation / review</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Yes in sealed experiment</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Bounded model observation</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bl>
          </a:graphicData>
        </a:graphic>
      </p:graphicFrame>
      <p:sp>
        <p:nvSpPr>
          <p:cNvPr id="3" name="slide-number">
            <a:extLst xmlns:a="http://schemas.openxmlformats.org/drawingml/2006/main">
              <a:ext uri="{FF2B5EF4-FFF2-40B4-BE49-F238E27FC236}">
                <a16:creationId xmlns:a16="http://schemas.microsoft.com/office/drawing/2014/main" id="{1D0EC4F3-3658-4EA8-854C-8D9ED06D019F}"/>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20</a:t>
            </a:r>
          </a:p>
        </p:txBody>
      </p:sp>
    </p:spTree>
    <p:extLst>
      <p:ext uri="{BB962C8B-B14F-4D97-AF65-F5344CB8AC3E}">
        <p14:creationId xmlns:p14="http://schemas.microsoft.com/office/powerpoint/2010/main" val="1673506132"/>
      </p:ext>
    </p:extLst>
  </p:cSld>
</p:sld>
</file>

<file path=ppt/slides/slide2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E4433D-300A-4611-BD9B-9F9B09A28004}"/>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Backup  Separate v3 denominators</a:t>
            </a:r>
          </a:p>
        </p:txBody>
      </p:sp>
      <p:graphicFrame>
        <p:nvGraphicFramePr>
          <p:cNvPr id="2" name="">
            <a:extLst xmlns:a="http://schemas.openxmlformats.org/drawingml/2006/main">
              <a:ext uri="{FF2B5EF4-FFF2-40B4-BE49-F238E27FC236}">
                <a16:creationId xmlns:a16="http://schemas.microsoft.com/office/drawing/2014/main" id="{09100C7C-58AF-42D2-9FF2-FC9FB30AB9E8}"/>
              </a:ext>
            </a:extLst>
          </p:cNvPr>
          <p:cNvGraphicFramePr/>
          <p:nvPr/>
        </p:nvGraphicFramePr>
        <p:xfrm>
          <a:off xmlns:a="http://schemas.openxmlformats.org/drawingml/2006/main" x="609600" y="1562100"/>
          <a:ext xmlns:a="http://schemas.openxmlformats.org/drawingml/2006/main" cx="10972800" cy="2819400"/>
        </p:xfrm>
        <a:graphic xmlns:a="http://schemas.openxmlformats.org/drawingml/2006/main">
          <a:graphicData uri="http://schemas.openxmlformats.org/drawingml/2006/table">
            <a:tbl>
              <a:tblPr/>
              <a:tblGrid>
                <a:gridCol w="2743200"/>
                <a:gridCol w="2743200"/>
                <a:gridCol w="2743200"/>
                <a:gridCol w="2743200"/>
              </a:tblGrid>
              <a:tr h="704850">
                <a:tc>
                  <a:txBody>
                    <a:bodyPr/>
                    <a:lstStyle/>
                    <a:p>
                      <a:r>
                        <a:rPr sz="1800" b="1">
                          <a:solidFill>
                            <a:srgbClr val="FFFFFF"/>
                          </a:solidFill>
                          <a:latin typeface="Arial"/>
                          <a:ea typeface="Arial"/>
                          <a:cs typeface="Arial"/>
                        </a:rPr>
                        <a:t>Run</a:t>
                      </a:r>
                    </a:p>
                  </a:txBody>
                  <a:tcPr marL="142875" marR="142875" marT="133350" marB="133350" anchor="ctr">
                    <a:lnL w="9525">
                      <a:solidFill>
                        <a:srgbClr val="CAD6D9"/>
                      </a:solidFill>
                      <a:prstDash val="solid"/>
                    </a:lnL>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Executed</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Protocol</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Semantic reference</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r>
              <a:tr h="704850">
                <a:tc>
                  <a:txBody>
                    <a:bodyPr/>
                    <a:lstStyle/>
                    <a:p>
                      <a:r>
                        <a:rPr sz="1875" b="0">
                          <a:solidFill>
                            <a:srgbClr val="102A37"/>
                          </a:solidFill>
                          <a:latin typeface="Arial"/>
                          <a:ea typeface="Arial"/>
                          <a:cs typeface="Arial"/>
                        </a:rPr>
                        <a:t>Old v2 pilot</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3 / 20</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2 valid; stopped</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Old state unchanged</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704850">
                <a:tc>
                  <a:txBody>
                    <a:bodyPr/>
                    <a:lstStyle/>
                    <a:p>
                      <a:r>
                        <a:rPr sz="1875" b="0">
                          <a:solidFill>
                            <a:srgbClr val="102A37"/>
                          </a:solidFill>
                          <a:latin typeface="Arial"/>
                          <a:ea typeface="Arial"/>
                          <a:cs typeface="Arial"/>
                        </a:rPr>
                        <a:t>v3 protocol</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3 / 3</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3 / 3</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3 / 3 matches</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704850">
                <a:tc>
                  <a:txBody>
                    <a:bodyPr/>
                    <a:lstStyle/>
                    <a:p>
                      <a:r>
                        <a:rPr sz="1875" b="0">
                          <a:solidFill>
                            <a:srgbClr val="102A37"/>
                          </a:solidFill>
                          <a:latin typeface="Arial"/>
                          <a:ea typeface="Arial"/>
                          <a:cs typeface="Arial"/>
                        </a:rPr>
                        <a:t>v3 development</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17 / 17</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17 / 17</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9 / 9 allow; 8 / 8 detect</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bl>
          </a:graphicData>
        </a:graphic>
      </p:graphicFrame>
      <p:sp>
        <p:nvSpPr>
          <p:cNvPr id="3" name="slide-number">
            <a:extLst xmlns:a="http://schemas.openxmlformats.org/drawingml/2006/main">
              <a:ext uri="{FF2B5EF4-FFF2-40B4-BE49-F238E27FC236}">
                <a16:creationId xmlns:a16="http://schemas.microsoft.com/office/drawing/2014/main" id="{F9F79CE8-9752-4BE2-812E-305E52BDD4F0}"/>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21</a:t>
            </a:r>
          </a:p>
        </p:txBody>
      </p:sp>
    </p:spTree>
    <p:extLst>
      <p:ext uri="{BB962C8B-B14F-4D97-AF65-F5344CB8AC3E}">
        <p14:creationId xmlns:p14="http://schemas.microsoft.com/office/powerpoint/2010/main" val="816353490"/>
      </p:ext>
    </p:extLst>
  </p:cSld>
</p:sld>
</file>

<file path=ppt/slides/slide2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312A7F9-933D-440D-A473-92AA47F028C1}"/>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Backup  Release conditions</a:t>
            </a:r>
          </a:p>
        </p:txBody>
      </p:sp>
      <p:sp>
        <p:nvSpPr>
          <p:cNvPr id="2" name="body-0">
            <a:extLst xmlns:a="http://schemas.openxmlformats.org/drawingml/2006/main">
              <a:ext uri="{FF2B5EF4-FFF2-40B4-BE49-F238E27FC236}">
                <a16:creationId xmlns:a16="http://schemas.microsoft.com/office/drawing/2014/main" id="{9F46381F-1D03-4253-A7AC-CF698371F232}"/>
              </a:ext>
            </a:extLst>
          </p:cNvPr>
          <p:cNvSpPr>
            <a:spLocks xmlns:a="http://schemas.openxmlformats.org/drawingml/2006/main" noGrp="1"/>
          </p:cNvSpPr>
          <p:nvPr/>
        </p:nvSpPr>
        <p:spPr>
          <a:xfrm xmlns:a="http://schemas.openxmlformats.org/drawingml/2006/main">
            <a:off x="628650" y="15811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86F70"/>
                </a:solidFill>
                <a:latin typeface="Arial"/>
                <a:ea typeface="Arial"/>
                <a:cs typeface="Arial"/>
              </a:defRPr>
            </a:defPPr>
          </a:lstStyle>
          <a:p xmlns:a="http://schemas.openxmlformats.org/drawingml/2006/main">
            <a:pPr>
              <a:defRPr sz="2325" b="1">
                <a:solidFill>
                  <a:srgbClr val="086F70"/>
                </a:solidFill>
                <a:latin typeface="Arial"/>
                <a:ea typeface="Arial"/>
                <a:cs typeface="Arial"/>
              </a:defRPr>
            </a:pPr>
            <a:r>
              <a:rPr sz="2325" b="1">
                <a:solidFill>
                  <a:srgbClr val="086F70"/>
                </a:solidFill>
                <a:latin typeface="Arial"/>
                <a:ea typeface="Arial"/>
                <a:cs typeface="Arial"/>
              </a:rPr>
              <a:t>Score at least 95</a:t>
            </a:r>
          </a:p>
        </p:txBody>
      </p:sp>
      <p:sp>
        <p:nvSpPr>
          <p:cNvPr id="3" name="body-1">
            <a:extLst xmlns:a="http://schemas.openxmlformats.org/drawingml/2006/main">
              <a:ext uri="{FF2B5EF4-FFF2-40B4-BE49-F238E27FC236}">
                <a16:creationId xmlns:a16="http://schemas.microsoft.com/office/drawing/2014/main" id="{15C5BB8F-4778-4AD8-8427-CD2120D3B01C}"/>
              </a:ext>
            </a:extLst>
          </p:cNvPr>
          <p:cNvSpPr>
            <a:spLocks xmlns:a="http://schemas.openxmlformats.org/drawingml/2006/main" noGrp="1"/>
          </p:cNvSpPr>
          <p:nvPr/>
        </p:nvSpPr>
        <p:spPr>
          <a:xfrm xmlns:a="http://schemas.openxmlformats.org/drawingml/2006/main">
            <a:off x="628650" y="252412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Zero critical failures and execution errors</a:t>
            </a:r>
          </a:p>
        </p:txBody>
      </p:sp>
      <p:sp>
        <p:nvSpPr>
          <p:cNvPr id="4" name="body-2">
            <a:extLst xmlns:a="http://schemas.openxmlformats.org/drawingml/2006/main">
              <a:ext uri="{FF2B5EF4-FFF2-40B4-BE49-F238E27FC236}">
                <a16:creationId xmlns:a16="http://schemas.microsoft.com/office/drawing/2014/main" id="{69E3C6DC-58BE-4261-99C5-BAE20BD732CA}"/>
              </a:ext>
            </a:extLst>
          </p:cNvPr>
          <p:cNvSpPr>
            <a:spLocks xmlns:a="http://schemas.openxmlformats.org/drawingml/2006/main" noGrp="1"/>
          </p:cNvSpPr>
          <p:nvPr/>
        </p:nvSpPr>
        <p:spPr>
          <a:xfrm xmlns:a="http://schemas.openxmlformats.org/drawingml/2006/main">
            <a:off x="628650" y="3467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Complete evidence and applicable output checks</a:t>
            </a:r>
          </a:p>
        </p:txBody>
      </p:sp>
      <p:sp>
        <p:nvSpPr>
          <p:cNvPr id="5" name="body-3">
            <a:extLst xmlns:a="http://schemas.openxmlformats.org/drawingml/2006/main">
              <a:ext uri="{FF2B5EF4-FFF2-40B4-BE49-F238E27FC236}">
                <a16:creationId xmlns:a16="http://schemas.microsoft.com/office/drawing/2014/main" id="{6E2AE535-E67C-4D89-A3EC-252A840E183B}"/>
              </a:ext>
            </a:extLst>
          </p:cNvPr>
          <p:cNvSpPr>
            <a:spLocks xmlns:a="http://schemas.openxmlformats.org/drawingml/2006/main" noGrp="1"/>
          </p:cNvSpPr>
          <p:nvPr/>
        </p:nvSpPr>
        <p:spPr>
          <a:xfrm xmlns:a="http://schemas.openxmlformats.org/drawingml/2006/main">
            <a:off x="628650" y="441007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Independent review for a release record</a:t>
            </a:r>
          </a:p>
        </p:txBody>
      </p:sp>
      <p:sp>
        <p:nvSpPr>
          <p:cNvPr id="6" name="body-4">
            <a:extLst xmlns:a="http://schemas.openxmlformats.org/drawingml/2006/main">
              <a:ext uri="{FF2B5EF4-FFF2-40B4-BE49-F238E27FC236}">
                <a16:creationId xmlns:a16="http://schemas.microsoft.com/office/drawing/2014/main" id="{28E05E04-F191-4F0B-BFCF-67F7DBBC1DE7}"/>
              </a:ext>
            </a:extLst>
          </p:cNvPr>
          <p:cNvSpPr>
            <a:spLocks xmlns:a="http://schemas.openxmlformats.org/drawingml/2006/main" noGrp="1"/>
          </p:cNvSpPr>
          <p:nvPr/>
        </p:nvSpPr>
        <p:spPr>
          <a:xfrm xmlns:a="http://schemas.openxmlformats.org/drawingml/2006/main">
            <a:off x="628650" y="53530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Semantic reviewer remains calibration_pending</a:t>
            </a:r>
          </a:p>
        </p:txBody>
      </p:sp>
      <p:sp>
        <p:nvSpPr>
          <p:cNvPr id="7" name="slide-number">
            <a:extLst xmlns:a="http://schemas.openxmlformats.org/drawingml/2006/main">
              <a:ext uri="{FF2B5EF4-FFF2-40B4-BE49-F238E27FC236}">
                <a16:creationId xmlns:a16="http://schemas.microsoft.com/office/drawing/2014/main" id="{96398262-DA02-4C9F-9ADD-3E57248C72ED}"/>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22</a:t>
            </a:r>
          </a:p>
        </p:txBody>
      </p:sp>
    </p:spTree>
    <p:extLst>
      <p:ext uri="{BB962C8B-B14F-4D97-AF65-F5344CB8AC3E}">
        <p14:creationId xmlns:p14="http://schemas.microsoft.com/office/powerpoint/2010/main" val="1234570548"/>
      </p:ext>
    </p:extLst>
  </p:cSld>
</p:sld>
</file>

<file path=ppt/slides/slide2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F67900-8477-4265-B590-28C2F9DC35C7}"/>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Backup  Schedule alternatives</a:t>
            </a:r>
          </a:p>
        </p:txBody>
      </p:sp>
      <p:graphicFrame>
        <p:nvGraphicFramePr>
          <p:cNvPr id="2" name="">
            <a:extLst xmlns:a="http://schemas.openxmlformats.org/drawingml/2006/main">
              <a:ext uri="{FF2B5EF4-FFF2-40B4-BE49-F238E27FC236}">
                <a16:creationId xmlns:a16="http://schemas.microsoft.com/office/drawing/2014/main" id="{D277F01E-512F-47E4-A2A9-1360223BA6C5}"/>
              </a:ext>
            </a:extLst>
          </p:cNvPr>
          <p:cNvGraphicFramePr/>
          <p:nvPr/>
        </p:nvGraphicFramePr>
        <p:xfrm>
          <a:off xmlns:a="http://schemas.openxmlformats.org/drawingml/2006/main" x="609600" y="1562100"/>
          <a:ext xmlns:a="http://schemas.openxmlformats.org/drawingml/2006/main" cx="10972800" cy="4000500"/>
        </p:xfrm>
        <a:graphic xmlns:a="http://schemas.openxmlformats.org/drawingml/2006/main">
          <a:graphicData uri="http://schemas.openxmlformats.org/drawingml/2006/table">
            <a:tbl>
              <a:tblPr/>
              <a:tblGrid>
                <a:gridCol w="2524125"/>
                <a:gridCol w="4019550"/>
                <a:gridCol w="4429125"/>
              </a:tblGrid>
              <a:tr h="666750">
                <a:tc>
                  <a:txBody>
                    <a:bodyPr/>
                    <a:lstStyle/>
                    <a:p>
                      <a:r>
                        <a:rPr sz="1800" b="1">
                          <a:solidFill>
                            <a:srgbClr val="FFFFFF"/>
                          </a:solidFill>
                          <a:latin typeface="Arial"/>
                          <a:ea typeface="Arial"/>
                          <a:cs typeface="Arial"/>
                        </a:rPr>
                        <a:t>Segment</a:t>
                      </a:r>
                    </a:p>
                  </a:txBody>
                  <a:tcPr marL="142875" marR="142875" marT="133350" marB="133350" anchor="ctr">
                    <a:lnL w="9525">
                      <a:solidFill>
                        <a:srgbClr val="CAD6D9"/>
                      </a:solidFill>
                      <a:prstDash val="solid"/>
                    </a:lnL>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Main plan</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c>
                  <a:txBody>
                    <a:bodyPr/>
                    <a:lstStyle/>
                    <a:p>
                      <a:r>
                        <a:rPr sz="1800" b="1">
                          <a:solidFill>
                            <a:srgbClr val="FFFFFF"/>
                          </a:solidFill>
                          <a:latin typeface="Arial"/>
                          <a:ea typeface="Arial"/>
                          <a:cs typeface="Arial"/>
                        </a:rPr>
                        <a:t>Compressed plan</a:t>
                      </a:r>
                    </a:p>
                  </a:txBody>
                  <a:tcPr marL="142875" marR="142875" marT="133350" marB="133350" anchor="ctr">
                    <a:lnR w="9525">
                      <a:solidFill>
                        <a:srgbClr val="CAD6D9"/>
                      </a:solidFill>
                      <a:prstDash val="solid"/>
                    </a:lnR>
                    <a:lnT w="9525">
                      <a:solidFill>
                        <a:srgbClr val="CAD6D9"/>
                      </a:solidFill>
                      <a:prstDash val="solid"/>
                    </a:lnT>
                    <a:lnB w="9525">
                      <a:solidFill>
                        <a:srgbClr val="CAD6D9"/>
                      </a:solidFill>
                      <a:prstDash val="solid"/>
                    </a:lnB>
                    <a:solidFill>
                      <a:srgbClr val="102A37"/>
                    </a:solidFill>
                  </a:tcPr>
                </a:tc>
              </a:tr>
              <a:tr h="666750">
                <a:tc>
                  <a:txBody>
                    <a:bodyPr/>
                    <a:lstStyle/>
                    <a:p>
                      <a:r>
                        <a:rPr sz="1875" b="0">
                          <a:solidFill>
                            <a:srgbClr val="102A37"/>
                          </a:solidFill>
                          <a:latin typeface="Arial"/>
                          <a:ea typeface="Arial"/>
                          <a:cs typeface="Arial"/>
                        </a:rPr>
                        <a:t>Intro and conduct</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4 min</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4 min</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666750">
                <a:tc>
                  <a:txBody>
                    <a:bodyPr/>
                    <a:lstStyle/>
                    <a:p>
                      <a:r>
                        <a:rPr sz="1875" b="0">
                          <a:solidFill>
                            <a:srgbClr val="102A37"/>
                          </a:solidFill>
                          <a:latin typeface="Arial"/>
                          <a:ea typeface="Arial"/>
                          <a:cs typeface="Arial"/>
                        </a:rPr>
                        <a:t>Architecture / testing</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8 min</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8 min</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666750">
                <a:tc>
                  <a:txBody>
                    <a:bodyPr/>
                    <a:lstStyle/>
                    <a:p>
                      <a:r>
                        <a:rPr sz="1875" b="0">
                          <a:solidFill>
                            <a:srgbClr val="102A37"/>
                          </a:solidFill>
                          <a:latin typeface="Arial"/>
                          <a:ea typeface="Arial"/>
                          <a:cs typeface="Arial"/>
                        </a:rPr>
                        <a:t>CI/CD / system demo</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26 min</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21 min</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r h="666750">
                <a:tc>
                  <a:txBody>
                    <a:bodyPr/>
                    <a:lstStyle/>
                    <a:p>
                      <a:r>
                        <a:rPr sz="1875" b="0">
                          <a:solidFill>
                            <a:srgbClr val="102A37"/>
                          </a:solidFill>
                          <a:latin typeface="Arial"/>
                          <a:ea typeface="Arial"/>
                          <a:cs typeface="Arial"/>
                        </a:rPr>
                        <a:t>Close and buffer</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2 min</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c>
                  <a:txBody>
                    <a:bodyPr/>
                    <a:lstStyle/>
                    <a:p>
                      <a:r>
                        <a:rPr sz="1875" b="0">
                          <a:solidFill>
                            <a:srgbClr val="102A37"/>
                          </a:solidFill>
                          <a:latin typeface="Arial"/>
                          <a:ea typeface="Arial"/>
                          <a:cs typeface="Arial"/>
                        </a:rPr>
                        <a:t>2 min</a:t>
                      </a:r>
                    </a:p>
                  </a:txBody>
                  <a:tcPr marL="142875" marR="142875" marT="133350" marB="133350" anchor="ctr">
                    <a:lnR w="9525">
                      <a:solidFill>
                        <a:srgbClr val="CAD6D9"/>
                      </a:solidFill>
                      <a:prstDash val="solid"/>
                    </a:lnR>
                    <a:lnB w="9525">
                      <a:solidFill>
                        <a:srgbClr val="CAD6D9"/>
                      </a:solidFill>
                      <a:prstDash val="solid"/>
                    </a:lnB>
                    <a:solidFill>
                      <a:srgbClr val="EDF4F4"/>
                    </a:solidFill>
                  </a:tcPr>
                </a:tc>
              </a:tr>
              <a:tr h="666750">
                <a:tc>
                  <a:txBody>
                    <a:bodyPr/>
                    <a:lstStyle/>
                    <a:p>
                      <a:r>
                        <a:rPr sz="1875" b="0">
                          <a:solidFill>
                            <a:srgbClr val="102A37"/>
                          </a:solidFill>
                          <a:latin typeface="Arial"/>
                          <a:ea typeface="Arial"/>
                          <a:cs typeface="Arial"/>
                        </a:rPr>
                        <a:t>Q&amp;A</a:t>
                      </a:r>
                    </a:p>
                  </a:txBody>
                  <a:tcPr marL="142875" marR="142875" marT="133350" marB="133350" anchor="ctr">
                    <a:lnL w="9525">
                      <a:solidFill>
                        <a:srgbClr val="CAD6D9"/>
                      </a:solidFill>
                      <a:prstDash val="solid"/>
                    </a:lnL>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5 additional</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c>
                  <a:txBody>
                    <a:bodyPr/>
                    <a:lstStyle/>
                    <a:p>
                      <a:r>
                        <a:rPr sz="1875" b="0">
                          <a:solidFill>
                            <a:srgbClr val="102A37"/>
                          </a:solidFill>
                          <a:latin typeface="Arial"/>
                          <a:ea typeface="Arial"/>
                          <a:cs typeface="Arial"/>
                        </a:rPr>
                        <a:t>5 included</a:t>
                      </a:r>
                    </a:p>
                  </a:txBody>
                  <a:tcPr marL="142875" marR="142875" marT="133350" marB="133350" anchor="ctr">
                    <a:lnR w="9525">
                      <a:solidFill>
                        <a:srgbClr val="CAD6D9"/>
                      </a:solidFill>
                      <a:prstDash val="solid"/>
                    </a:lnR>
                    <a:lnB w="9525">
                      <a:solidFill>
                        <a:srgbClr val="CAD6D9"/>
                      </a:solidFill>
                      <a:prstDash val="solid"/>
                    </a:lnB>
                    <a:solidFill>
                      <a:srgbClr val="FFFFFF"/>
                    </a:solidFill>
                  </a:tcPr>
                </a:tc>
              </a:tr>
            </a:tbl>
          </a:graphicData>
        </a:graphic>
      </p:graphicFrame>
      <p:sp>
        <p:nvSpPr>
          <p:cNvPr id="3" name="slide-number">
            <a:extLst xmlns:a="http://schemas.openxmlformats.org/drawingml/2006/main">
              <a:ext uri="{FF2B5EF4-FFF2-40B4-BE49-F238E27FC236}">
                <a16:creationId xmlns:a16="http://schemas.microsoft.com/office/drawing/2014/main" id="{15EDE1DB-5627-4F4C-B9BF-075843871819}"/>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23</a:t>
            </a:r>
          </a:p>
        </p:txBody>
      </p:sp>
    </p:spTree>
    <p:extLst>
      <p:ext uri="{BB962C8B-B14F-4D97-AF65-F5344CB8AC3E}">
        <p14:creationId xmlns:p14="http://schemas.microsoft.com/office/powerpoint/2010/main" val="822050451"/>
      </p:ext>
    </p:extLst>
  </p:cSld>
</p:sld>
</file>

<file path=ppt/slides/slide2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548478E-23D2-4F61-996A-4877918BCA63}"/>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02A37"/>
                </a:solidFill>
                <a:latin typeface="Arial"/>
                <a:ea typeface="Arial"/>
                <a:cs typeface="Arial"/>
              </a:defRPr>
            </a:defPPr>
          </a:lstStyle>
          <a:p xmlns:a="http://schemas.openxmlformats.org/drawingml/2006/main">
            <a:pPr>
              <a:defRPr sz="3150" b="1">
                <a:solidFill>
                  <a:srgbClr val="102A37"/>
                </a:solidFill>
                <a:latin typeface="Arial"/>
                <a:ea typeface="Arial"/>
                <a:cs typeface="Arial"/>
              </a:defRPr>
            </a:pPr>
            <a:r>
              <a:rPr sz="3150" b="1">
                <a:solidFill>
                  <a:srgbClr val="102A37"/>
                </a:solidFill>
                <a:latin typeface="Arial"/>
                <a:ea typeface="Arial"/>
                <a:cs typeface="Arial"/>
              </a:rPr>
              <a:t>Backup  Sources and acknowledgement</a:t>
            </a:r>
          </a:p>
        </p:txBody>
      </p:sp>
      <p:sp>
        <p:nvSpPr>
          <p:cNvPr id="2" name="body-0">
            <a:extLst xmlns:a="http://schemas.openxmlformats.org/drawingml/2006/main">
              <a:ext uri="{FF2B5EF4-FFF2-40B4-BE49-F238E27FC236}">
                <a16:creationId xmlns:a16="http://schemas.microsoft.com/office/drawing/2014/main" id="{C0FB398E-61A5-45AA-BFB9-D01588B03150}"/>
              </a:ext>
            </a:extLst>
          </p:cNvPr>
          <p:cNvSpPr>
            <a:spLocks xmlns:a="http://schemas.openxmlformats.org/drawingml/2006/main" noGrp="1"/>
          </p:cNvSpPr>
          <p:nvPr/>
        </p:nvSpPr>
        <p:spPr>
          <a:xfrm xmlns:a="http://schemas.openxmlformats.org/drawingml/2006/main">
            <a:off x="628650" y="158115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86F70"/>
                </a:solidFill>
                <a:latin typeface="Arial"/>
                <a:ea typeface="Arial"/>
                <a:cs typeface="Arial"/>
              </a:defRPr>
            </a:defPPr>
          </a:lstStyle>
          <a:p xmlns:a="http://schemas.openxmlformats.org/drawingml/2006/main">
            <a:pPr>
              <a:defRPr sz="2325" b="1">
                <a:solidFill>
                  <a:srgbClr val="086F70"/>
                </a:solidFill>
                <a:latin typeface="Arial"/>
                <a:ea typeface="Arial"/>
                <a:cs typeface="Arial"/>
              </a:defRPr>
            </a:pPr>
            <a:r>
              <a:rPr sz="2325" b="1">
                <a:solidFill>
                  <a:srgbClr val="086F70"/>
                </a:solidFill>
                <a:latin typeface="Arial"/>
                <a:ea typeface="Arial"/>
                <a:cs typeface="Arial"/>
              </a:rPr>
              <a:t>Repository code, workflows and dated evidence are the source of claims</a:t>
            </a:r>
          </a:p>
        </p:txBody>
      </p:sp>
      <p:sp>
        <p:nvSpPr>
          <p:cNvPr id="3" name="body-1">
            <a:extLst xmlns:a="http://schemas.openxmlformats.org/drawingml/2006/main">
              <a:ext uri="{FF2B5EF4-FFF2-40B4-BE49-F238E27FC236}">
                <a16:creationId xmlns:a16="http://schemas.microsoft.com/office/drawing/2014/main" id="{CB5291E6-B3A0-4B3F-9D54-13E6D9CD1750}"/>
              </a:ext>
            </a:extLst>
          </p:cNvPr>
          <p:cNvSpPr>
            <a:spLocks xmlns:a="http://schemas.openxmlformats.org/drawingml/2006/main" noGrp="1"/>
          </p:cNvSpPr>
          <p:nvPr/>
        </p:nvSpPr>
        <p:spPr>
          <a:xfrm xmlns:a="http://schemas.openxmlformats.org/drawingml/2006/main">
            <a:off x="628650" y="252412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Project reference labels are not verified human blind review</a:t>
            </a:r>
          </a:p>
        </p:txBody>
      </p:sp>
      <p:sp>
        <p:nvSpPr>
          <p:cNvPr id="4" name="body-2">
            <a:extLst xmlns:a="http://schemas.openxmlformats.org/drawingml/2006/main">
              <a:ext uri="{FF2B5EF4-FFF2-40B4-BE49-F238E27FC236}">
                <a16:creationId xmlns:a16="http://schemas.microsoft.com/office/drawing/2014/main" id="{82EB4EE5-29BF-4D68-9900-B2086771CCC0}"/>
              </a:ext>
            </a:extLst>
          </p:cNvPr>
          <p:cNvSpPr>
            <a:spLocks xmlns:a="http://schemas.openxmlformats.org/drawingml/2006/main" noGrp="1"/>
          </p:cNvSpPr>
          <p:nvPr/>
        </p:nvSpPr>
        <p:spPr>
          <a:xfrm xmlns:a="http://schemas.openxmlformats.org/drawingml/2006/main">
            <a:off x="628650" y="3467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Shared implementation and presentation preparation used AI assistance</a:t>
            </a:r>
          </a:p>
        </p:txBody>
      </p:sp>
      <p:sp>
        <p:nvSpPr>
          <p:cNvPr id="5" name="body-3">
            <a:extLst xmlns:a="http://schemas.openxmlformats.org/drawingml/2006/main">
              <a:ext uri="{FF2B5EF4-FFF2-40B4-BE49-F238E27FC236}">
                <a16:creationId xmlns:a16="http://schemas.microsoft.com/office/drawing/2014/main" id="{0D91DC24-7DA9-4018-AB54-77F1FA21354A}"/>
              </a:ext>
            </a:extLst>
          </p:cNvPr>
          <p:cNvSpPr>
            <a:spLocks xmlns:a="http://schemas.openxmlformats.org/drawingml/2006/main" noGrp="1"/>
          </p:cNvSpPr>
          <p:nvPr/>
        </p:nvSpPr>
        <p:spPr>
          <a:xfrm xmlns:a="http://schemas.openxmlformats.org/drawingml/2006/main">
            <a:off x="628650" y="4410075"/>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02A37"/>
                </a:solidFill>
                <a:latin typeface="Arial"/>
                <a:ea typeface="Arial"/>
                <a:cs typeface="Arial"/>
              </a:defRPr>
            </a:defPPr>
          </a:lstStyle>
          <a:p xmlns:a="http://schemas.openxmlformats.org/drawingml/2006/main">
            <a:pPr>
              <a:defRPr sz="2325" b="0">
                <a:solidFill>
                  <a:srgbClr val="102A37"/>
                </a:solidFill>
                <a:latin typeface="Arial"/>
                <a:ea typeface="Arial"/>
                <a:cs typeface="Arial"/>
              </a:defRPr>
            </a:pPr>
            <a:r>
              <a:rPr sz="2325" b="0">
                <a:solidFill>
                  <a:srgbClr val="102A37"/>
                </a:solidFill>
                <a:latin typeface="Arial"/>
                <a:ea typeface="Arial"/>
                <a:cs typeface="Arial"/>
              </a:rPr>
              <a:t>Actual member effort and approvals require member records</a:t>
            </a:r>
          </a:p>
        </p:txBody>
      </p:sp>
      <p:sp>
        <p:nvSpPr>
          <p:cNvPr id="6" name="slide-number">
            <a:extLst xmlns:a="http://schemas.openxmlformats.org/drawingml/2006/main">
              <a:ext uri="{FF2B5EF4-FFF2-40B4-BE49-F238E27FC236}">
                <a16:creationId xmlns:a16="http://schemas.microsoft.com/office/drawing/2014/main" id="{C3CCEB0B-D8BD-4239-AA71-122C2D4E2F13}"/>
              </a:ext>
            </a:extLst>
          </p:cNvPr>
          <p:cNvSpPr>
            <a:spLocks xmlns:a="http://schemas.openxmlformats.org/drawingml/2006/main" noGrp="1"/>
          </p:cNvSpPr>
          <p:nvPr/>
        </p:nvSpPr>
        <p:spPr>
          <a:xfrm xmlns:a="http://schemas.openxmlformats.org/drawingml/2006/main">
            <a:off x="11049000" y="632460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66975"/>
                </a:solidFill>
                <a:latin typeface="Arial"/>
                <a:ea typeface="Arial"/>
                <a:cs typeface="Arial"/>
              </a:defRPr>
            </a:defPPr>
          </a:lstStyle>
          <a:p xmlns:a="http://schemas.openxmlformats.org/drawingml/2006/main">
            <a:pPr>
              <a:defRPr sz="1350" b="0">
                <a:solidFill>
                  <a:srgbClr val="566975"/>
                </a:solidFill>
                <a:latin typeface="Arial"/>
                <a:ea typeface="Arial"/>
                <a:cs typeface="Arial"/>
              </a:defRPr>
            </a:pPr>
            <a:r>
              <a:rPr sz="1350" b="0">
                <a:solidFill>
                  <a:srgbClr val="566975"/>
                </a:solidFill>
                <a:latin typeface="Arial"/>
                <a:ea typeface="Arial"/>
                <a:cs typeface="Arial"/>
              </a:rPr>
              <a:t>24</a:t>
            </a:r>
          </a:p>
        </p:txBody>
      </p:sp>
    </p:spTree>
    <p:extLst>
      <p:ext uri="{BB962C8B-B14F-4D97-AF65-F5344CB8AC3E}">
        <p14:creationId xmlns:p14="http://schemas.microsoft.com/office/powerpoint/2010/main" val="9813036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2026-10-19T07:02:41.6930000Z</dcterms:created>
  <dcterms:modified xsi:type="dcterms:W3CDTF">2026-10-19T07:02:41.6930000Z</dcterms:modified>
</coreProperties>
</file>