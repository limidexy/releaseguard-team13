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1f60254da44cbf" /><Relationship Type="http://schemas.openxmlformats.org/officeDocument/2006/relationships/extended-properties" Target="/docProps/app.xml" Id="Rf124a900f9684594" /><Relationship Type="http://schemas.openxmlformats.org/officeDocument/2006/relationships/officeDocument" Target="/ppt/presentation.xml" Id="Rc961f75db1474ba8" /></Relationships>
</file>

<file path=ppt/presentation.xml><?xml version="1.0" encoding="utf-8"?>
<p:presentation xmlns:p="http://schemas.openxmlformats.org/presentationml/2006/main">
  <p:sldMasterIdLst>
    <p:sldMasterId xmlns:r="http://schemas.openxmlformats.org/officeDocument/2006/relationships" id="2147483648" r:id="R7866fa0c8bae4a8d"/>
  </p:sldMasterIdLst>
  <p:notesMasterIdLst>
    <p:notesMasterId xmlns:r="http://schemas.openxmlformats.org/officeDocument/2006/relationships" r:id="R4820d89e96dd4b74"/>
  </p:notesMasterIdLst>
  <p:sldIdLst>
    <p:sldId xmlns:r="http://schemas.openxmlformats.org/officeDocument/2006/relationships" id="256" r:id="R96d058e9e79c441c"/>
    <p:sldId xmlns:r="http://schemas.openxmlformats.org/officeDocument/2006/relationships" id="257" r:id="R9dc8eaf7a3084449"/>
    <p:sldId xmlns:r="http://schemas.openxmlformats.org/officeDocument/2006/relationships" id="258" r:id="R51df08ab8fef4d3a"/>
    <p:sldId xmlns:r="http://schemas.openxmlformats.org/officeDocument/2006/relationships" id="259" r:id="R143e13b0b2c24891"/>
    <p:sldId xmlns:r="http://schemas.openxmlformats.org/officeDocument/2006/relationships" id="260" r:id="Rf4f2832a086f4b20"/>
    <p:sldId xmlns:r="http://schemas.openxmlformats.org/officeDocument/2006/relationships" id="261" r:id="R1428891997dc4d32"/>
    <p:sldId xmlns:r="http://schemas.openxmlformats.org/officeDocument/2006/relationships" id="262" r:id="Rb83a2794a48f45b5"/>
    <p:sldId xmlns:r="http://schemas.openxmlformats.org/officeDocument/2006/relationships" id="263" r:id="Re9cd6f069a52429f"/>
    <p:sldId xmlns:r="http://schemas.openxmlformats.org/officeDocument/2006/relationships" id="264" r:id="R77a27feba20d4b08"/>
    <p:sldId xmlns:r="http://schemas.openxmlformats.org/officeDocument/2006/relationships" id="265" r:id="Rf7d5200d0f8048a3"/>
    <p:sldId xmlns:r="http://schemas.openxmlformats.org/officeDocument/2006/relationships" id="266" r:id="R8b69cf24500f4791"/>
    <p:sldId xmlns:r="http://schemas.openxmlformats.org/officeDocument/2006/relationships" id="267" r:id="Re5a0145e94a34ce5"/>
    <p:sldId xmlns:r="http://schemas.openxmlformats.org/officeDocument/2006/relationships" id="268" r:id="R274efa02ec30477e"/>
    <p:sldId xmlns:r="http://schemas.openxmlformats.org/officeDocument/2006/relationships" id="269" r:id="Re06fdc9def51461a"/>
    <p:sldId xmlns:r="http://schemas.openxmlformats.org/officeDocument/2006/relationships" id="270" r:id="Rd753b57e6e594315"/>
    <p:sldId xmlns:r="http://schemas.openxmlformats.org/officeDocument/2006/relationships" id="271" r:id="Rfde9582326fc402b"/>
    <p:sldId xmlns:r="http://schemas.openxmlformats.org/officeDocument/2006/relationships" id="272" r:id="R2a3d382fb8d84551"/>
    <p:sldId xmlns:r="http://schemas.openxmlformats.org/officeDocument/2006/relationships" id="273" r:id="R47dbf23ab55a443a"/>
    <p:sldId xmlns:r="http://schemas.openxmlformats.org/officeDocument/2006/relationships" id="274" r:id="R6e68b06aae8d4e2b"/>
    <p:sldId xmlns:r="http://schemas.openxmlformats.org/officeDocument/2006/relationships" id="275" r:id="R22d536132dd24982"/>
    <p:sldId xmlns:r="http://schemas.openxmlformats.org/officeDocument/2006/relationships" id="276" r:id="Rc43e0aa1f395430d"/>
    <p:sldId xmlns:r="http://schemas.openxmlformats.org/officeDocument/2006/relationships" id="277" r:id="Rc8c475aeab794e88"/>
    <p:sldId xmlns:r="http://schemas.openxmlformats.org/officeDocument/2006/relationships" id="278" r:id="R6ea0b9ccf600493d"/>
    <p:sldId xmlns:r="http://schemas.openxmlformats.org/officeDocument/2006/relationships" id="279" r:id="R57a07013487e4f98"/>
    <p:sldId xmlns:r="http://schemas.openxmlformats.org/officeDocument/2006/relationships" id="280" r:id="R0a9f467993f54038"/>
    <p:sldId xmlns:r="http://schemas.openxmlformats.org/officeDocument/2006/relationships" id="281" r:id="R8f3537b642324c6e"/>
    <p:sldId xmlns:r="http://schemas.openxmlformats.org/officeDocument/2006/relationships" id="282" r:id="R63ee5da003ac4231"/>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bbb388629b244f4" /><Relationship Type="http://schemas.openxmlformats.org/officeDocument/2006/relationships/slideMaster" Target="/ppt/slideMasters/slideMaster1.xml" Id="R7866fa0c8bae4a8d" /><Relationship Type="http://schemas.openxmlformats.org/officeDocument/2006/relationships/notesMaster" Target="/ppt/notesMasters/notesMaster1.xml" Id="R4820d89e96dd4b74" /><Relationship Type="http://schemas.openxmlformats.org/officeDocument/2006/relationships/presProps" Target="/ppt/presProps.xml" Id="Rd2016f0365c54578" /><Relationship Type="http://schemas.openxmlformats.org/officeDocument/2006/relationships/viewProps" Target="/ppt/viewProps.xml" Id="Rd2c2a827a0ed4765" /><Relationship Type="http://schemas.openxmlformats.org/officeDocument/2006/relationships/tableStyles" Target="/ppt/tableStyles.xml" Id="R71bd03af379f4750" /><Relationship Type="http://schemas.openxmlformats.org/officeDocument/2006/relationships/slide" Target="/ppt/slides/slide1.xml" Id="R96d058e9e79c441c" /><Relationship Type="http://schemas.openxmlformats.org/officeDocument/2006/relationships/slide" Target="/ppt/slides/slide2.xml" Id="R9dc8eaf7a3084449" /><Relationship Type="http://schemas.openxmlformats.org/officeDocument/2006/relationships/slide" Target="/ppt/slides/slide3.xml" Id="R51df08ab8fef4d3a" /><Relationship Type="http://schemas.openxmlformats.org/officeDocument/2006/relationships/slide" Target="/ppt/slides/slide4.xml" Id="R143e13b0b2c24891" /><Relationship Type="http://schemas.openxmlformats.org/officeDocument/2006/relationships/slide" Target="/ppt/slides/slide5.xml" Id="Rf4f2832a086f4b20" /><Relationship Type="http://schemas.openxmlformats.org/officeDocument/2006/relationships/slide" Target="/ppt/slides/slide6.xml" Id="R1428891997dc4d32" /><Relationship Type="http://schemas.openxmlformats.org/officeDocument/2006/relationships/slide" Target="/ppt/slides/slide7.xml" Id="Rb83a2794a48f45b5" /><Relationship Type="http://schemas.openxmlformats.org/officeDocument/2006/relationships/slide" Target="/ppt/slides/slide8.xml" Id="Re9cd6f069a52429f" /><Relationship Type="http://schemas.openxmlformats.org/officeDocument/2006/relationships/slide" Target="/ppt/slides/slide9.xml" Id="R77a27feba20d4b08" /><Relationship Type="http://schemas.openxmlformats.org/officeDocument/2006/relationships/slide" Target="/ppt/slides/slide10.xml" Id="Rf7d5200d0f8048a3" /><Relationship Type="http://schemas.openxmlformats.org/officeDocument/2006/relationships/slide" Target="/ppt/slides/slide11.xml" Id="R8b69cf24500f4791" /><Relationship Type="http://schemas.openxmlformats.org/officeDocument/2006/relationships/slide" Target="/ppt/slides/slide12.xml" Id="Re5a0145e94a34ce5" /><Relationship Type="http://schemas.openxmlformats.org/officeDocument/2006/relationships/slide" Target="/ppt/slides/slide13.xml" Id="R274efa02ec30477e" /><Relationship Type="http://schemas.openxmlformats.org/officeDocument/2006/relationships/slide" Target="/ppt/slides/slide14.xml" Id="Re06fdc9def51461a" /><Relationship Type="http://schemas.openxmlformats.org/officeDocument/2006/relationships/slide" Target="/ppt/slides/slide15.xml" Id="Rd753b57e6e594315" /><Relationship Type="http://schemas.openxmlformats.org/officeDocument/2006/relationships/slide" Target="/ppt/slides/slide16.xml" Id="Rfde9582326fc402b" /><Relationship Type="http://schemas.openxmlformats.org/officeDocument/2006/relationships/slide" Target="/ppt/slides/slide17.xml" Id="R2a3d382fb8d84551" /><Relationship Type="http://schemas.openxmlformats.org/officeDocument/2006/relationships/slide" Target="/ppt/slides/slide18.xml" Id="R47dbf23ab55a443a" /><Relationship Type="http://schemas.openxmlformats.org/officeDocument/2006/relationships/slide" Target="/ppt/slides/slide19.xml" Id="R6e68b06aae8d4e2b" /><Relationship Type="http://schemas.openxmlformats.org/officeDocument/2006/relationships/slide" Target="/ppt/slides/slide20.xml" Id="R22d536132dd24982" /><Relationship Type="http://schemas.openxmlformats.org/officeDocument/2006/relationships/slide" Target="/ppt/slides/slide21.xml" Id="Rc43e0aa1f395430d" /><Relationship Type="http://schemas.openxmlformats.org/officeDocument/2006/relationships/slide" Target="/ppt/slides/slide22.xml" Id="Rc8c475aeab794e88" /><Relationship Type="http://schemas.openxmlformats.org/officeDocument/2006/relationships/slide" Target="/ppt/slides/slide23.xml" Id="R6ea0b9ccf600493d" /><Relationship Type="http://schemas.openxmlformats.org/officeDocument/2006/relationships/slide" Target="/ppt/slides/slide24.xml" Id="R57a07013487e4f98" /><Relationship Type="http://schemas.openxmlformats.org/officeDocument/2006/relationships/slide" Target="/ppt/slides/slide25.xml" Id="R0a9f467993f54038" /><Relationship Type="http://schemas.openxmlformats.org/officeDocument/2006/relationships/slide" Target="/ppt/slides/slide26.xml" Id="R8f3537b642324c6e" /><Relationship Type="http://schemas.openxmlformats.org/officeDocument/2006/relationships/slide" Target="/ppt/slides/slide27.xml" Id="R63ee5da003ac42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89531302d24b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ReleaseGuard Blue-Yellow">
  <a:themeElements>
    <a:clrScheme name="ReleaseGuard Blue-Yellow">
      <a:dk1>
        <a:srgbClr val="1F2937"/>
      </a:dk1>
      <a:lt1>
        <a:srgbClr val="FFFFFF"/>
      </a:lt1>
      <a:dk2>
        <a:srgbClr val="14325C"/>
      </a:dk2>
      <a:lt2>
        <a:srgbClr val="F3F7FC"/>
      </a:lt2>
      <a:accent1>
        <a:srgbClr val="2563B0"/>
      </a:accent1>
      <a:accent2>
        <a:srgbClr val="F5B700"/>
      </a:accent2>
      <a:accent3>
        <a:srgbClr val="14325C"/>
      </a:accent3>
      <a:accent4>
        <a:srgbClr val="3B7DD8"/>
      </a:accent4>
      <a:accent5>
        <a:srgbClr val="E3A600"/>
      </a:accent5>
      <a:accent6>
        <a:srgbClr val="7A8BA6"/>
      </a:accent6>
      <a:hlink>
        <a:srgbClr val="2563B0"/>
      </a:hlink>
      <a:folHlink>
        <a:srgbClr val="6B4FA0"/>
      </a:folHlink>
    </a:clrScheme>
    <a:fontScheme name="ReleaseGuard Blue-Yello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ReleaseGuard Blue-Yellow">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28abed4f3c4340" /><Relationship Type="http://schemas.openxmlformats.org/officeDocument/2006/relationships/notesMaster" Target="/ppt/notesMasters/notesMaster1.xml" Id="Raa91b99f7d064b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90aab2529f4ae4" /><Relationship Type="http://schemas.openxmlformats.org/officeDocument/2006/relationships/notesMaster" Target="/ppt/notesMasters/notesMaster1.xml" Id="R7dbb98eff22145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a7f681e21e4b73" /><Relationship Type="http://schemas.openxmlformats.org/officeDocument/2006/relationships/notesMaster" Target="/ppt/notesMasters/notesMaster1.xml" Id="R4abed6bbb47a48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7ea3569c7949b6" /><Relationship Type="http://schemas.openxmlformats.org/officeDocument/2006/relationships/notesMaster" Target="/ppt/notesMasters/notesMaster1.xml" Id="R62685ae93ce341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86dde6782d4716" /><Relationship Type="http://schemas.openxmlformats.org/officeDocument/2006/relationships/notesMaster" Target="/ppt/notesMasters/notesMaster1.xml" Id="Rfeb59c4e6f6c41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c4442136734f38" /><Relationship Type="http://schemas.openxmlformats.org/officeDocument/2006/relationships/notesMaster" Target="/ppt/notesMasters/notesMaster1.xml" Id="R10fa2dcbdc2741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441d82219b4a4f" /><Relationship Type="http://schemas.openxmlformats.org/officeDocument/2006/relationships/notesMaster" Target="/ppt/notesMasters/notesMaster1.xml" Id="Rcd9e81099fe245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e2adefbcd34302" /><Relationship Type="http://schemas.openxmlformats.org/officeDocument/2006/relationships/notesMaster" Target="/ppt/notesMasters/notesMaster1.xml" Id="R86a1620b2d24443e"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578089c87a4e19" /><Relationship Type="http://schemas.openxmlformats.org/officeDocument/2006/relationships/notesMaster" Target="/ppt/notesMasters/notesMaster1.xml" Id="R29ea88e5426e432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a78cf7c6a843d9" /><Relationship Type="http://schemas.openxmlformats.org/officeDocument/2006/relationships/notesMaster" Target="/ppt/notesMasters/notesMaster1.xml" Id="R88943f18c8d045a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4de62088bf42bb" /><Relationship Type="http://schemas.openxmlformats.org/officeDocument/2006/relationships/notesMaster" Target="/ppt/notesMasters/notesMaster1.xml" Id="Rbf51c93186034e1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fc6bae2f574fa4" /><Relationship Type="http://schemas.openxmlformats.org/officeDocument/2006/relationships/notesMaster" Target="/ppt/notesMasters/notesMaster1.xml" Id="Rd98ed4c61497456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d2ff6d2e65d43e7" /><Relationship Type="http://schemas.openxmlformats.org/officeDocument/2006/relationships/notesMaster" Target="/ppt/notesMasters/notesMaster1.xml" Id="Rda2f6495602e435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9af0bda65384f84" /><Relationship Type="http://schemas.openxmlformats.org/officeDocument/2006/relationships/notesMaster" Target="/ppt/notesMasters/notesMaster1.xml" Id="Rfb20ea9e431341c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a456d2344c94c0d" /><Relationship Type="http://schemas.openxmlformats.org/officeDocument/2006/relationships/notesMaster" Target="/ppt/notesMasters/notesMaster1.xml" Id="Rb258cd017619420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408dc882d144502" /><Relationship Type="http://schemas.openxmlformats.org/officeDocument/2006/relationships/notesMaster" Target="/ppt/notesMasters/notesMaster1.xml" Id="R2bce08938cc543b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2730f6147974c23" /><Relationship Type="http://schemas.openxmlformats.org/officeDocument/2006/relationships/notesMaster" Target="/ppt/notesMasters/notesMaster1.xml" Id="Rf134e6b23a5544b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3dd4e608f6945f4" /><Relationship Type="http://schemas.openxmlformats.org/officeDocument/2006/relationships/notesMaster" Target="/ppt/notesMasters/notesMaster1.xml" Id="Rc703b07fbdf940b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ffbf84b3af14ea7" /><Relationship Type="http://schemas.openxmlformats.org/officeDocument/2006/relationships/notesMaster" Target="/ppt/notesMasters/notesMaster1.xml" Id="Rf67f6fb2df8f4e6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f03cf0e01364a44" /><Relationship Type="http://schemas.openxmlformats.org/officeDocument/2006/relationships/notesMaster" Target="/ppt/notesMasters/notesMaster1.xml" Id="Rc14001958447439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f718793fa47483b" /><Relationship Type="http://schemas.openxmlformats.org/officeDocument/2006/relationships/notesMaster" Target="/ppt/notesMasters/notesMaster1.xml" Id="R56cf7183310c4be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9cd46c917434315" /><Relationship Type="http://schemas.openxmlformats.org/officeDocument/2006/relationships/notesMaster" Target="/ppt/notesMasters/notesMaster1.xml" Id="Rbd13a0de9a42473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8c8a8dfa80e4575" /><Relationship Type="http://schemas.openxmlformats.org/officeDocument/2006/relationships/notesMaster" Target="/ppt/notesMasters/notesMaster1.xml" Id="R31f50b311a164e4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793d24b3fcd4d8d" /><Relationship Type="http://schemas.openxmlformats.org/officeDocument/2006/relationships/notesMaster" Target="/ppt/notesMasters/notesMaster1.xml" Id="R347cfa313af547d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b9bdf7feff647ff" /><Relationship Type="http://schemas.openxmlformats.org/officeDocument/2006/relationships/notesMaster" Target="/ppt/notesMasters/notesMaster1.xml" Id="Reb64539b4f2d4aa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ac5e01eac934203" /><Relationship Type="http://schemas.openxmlformats.org/officeDocument/2006/relationships/notesMaster" Target="/ppt/notesMasters/notesMaster1.xml" Id="R1b50c4a26f214b6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59c8bf6398c4d09" /><Relationship Type="http://schemas.openxmlformats.org/officeDocument/2006/relationships/notesMaster" Target="/ppt/notesMasters/notesMaster1.xml" Id="Rbb375fbdbc1042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TANG YUCHEN · Target: 0.2 min</a:t>
            </a:r>
            <a:br/>
            <a:br/>
            <a:r>
              <a:t>Script:</a:t>
            </a:r>
            <a:br/>
            <a:r>
              <a:t>Good morning. We are Team 13. ReleaseGuard lets an application team check the evidence for an AI prompt change before a different person makes the release decision.</a:t>
            </a:r>
            <a:br/>
            <a:br/>
            <a:r>
              <a:t>中文提示：一句话开场后直接切下一页。</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TANG YUCHEN · Target: 1 min</a:t>
            </a:r>
            <a:br/>
            <a:br/>
            <a:r>
              <a:t>Script:</a:t>
            </a:r>
            <a:br/>
            <a:r>
              <a:t>A prompt change can produce a convincing answer that still breaks policy. This candidate scores 90, but one critical case says returns are accepted forever, so the gate blocks it. Teams need fixed acceptance cases, original outputs and a review trail; because model calls are slow and bursty, evaluation must be asynchronous and scalable.</a:t>
            </a:r>
            <a:br/>
            <a:br/>
            <a:r>
              <a:t>中文提示：强调“流畅≠合规”，指右图 Blocked。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TANG YUCHEN · Target: 0.8 min</a:t>
            </a:r>
            <a:br/>
            <a:br/>
            <a:r>
              <a:t>Script:</a:t>
            </a:r>
            <a:br/>
            <a:r>
              <a:t>The seed is the versioned test suites and checking policies. Producers register applications and create suite versions; consumers — the support application, a CLI or CI pipeline, and reviewers — reuse the same APIs. The toolbox is the API, CLI and console; matchmaking is the gate plus routing passing candidates to an independent reviewer.</a:t>
            </a:r>
            <a:br/>
            <a:br/>
            <a:r>
              <a:t>中文提示：用 PE01 术语讲：Seed / Producer / Consumer / Toolbox / Matchmaking。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TANG YUCHEN · Target: 0.9 min</a:t>
            </a:r>
            <a:endParaRPr/>
          </a:p>
          <a:p xmlns:a="http://schemas.openxmlformats.org/drawingml/2006/main">
            <a:r>
              <a:t/>
            </a:r>
            <a:endParaRPr/>
          </a:p>
          <a:p xmlns:a="http://schemas.openxmlformats.org/drawingml/2006/main">
            <a:r>
              <a:t>Script:</a:t>
            </a:r>
            <a:endParaRPr/>
          </a:p>
          <a:p xmlns:a="http://schemas.openxmlformats.org/drawingml/2006/main">
            <a:r>
              <a:t>We planned two sprints. On 11 October we deployed to GKE, ran CI/CD with rollback, made twenty real model calls and tested scaling. UAT and UI fixes, acceptance rules, model experiments and the handoff freeze followed. On 21 October we added a circuit breaker, distributed tracing and log aggregation, verified locally. Done, partial and open items are at the bottom.</a:t>
            </a:r>
            <a:endParaRPr/>
          </a:p>
          <a:p xmlns:a="http://schemas.openxmlformats.org/drawingml/2006/main">
            <a:r>
              <a:t/>
            </a:r>
            <a:endParaRPr/>
          </a:p>
          <a:p xmlns:a="http://schemas.openxmlformats.org/drawingml/2006/main">
            <a:r>
              <a:t>中文提示：黄色节点是 21 Oct 新增（本地）；782/783 要说是 21 号韧性包的结果。</a:t>
            </a:r>
            <a:endParaRPr/>
          </a:p>
          <a:p xmlns:a="http://schemas.openxmlformats.org/drawingml/2006/main">
            <a:r>
              <a:t/>
            </a:r>
            <a:endParaRPr/>
          </a:p>
          <a:p xmlns:a="http://schemas.openxmlformats.org/drawingml/2006/main">
            <a:r>
              <a:t>23 Oct update: On 22 Oct, a new cloud rehearsal used replay only, not a new model experiment. On 23 Oct, xinda completed password change and contributor login; two personal reviewer accounts were provisioned. Their first password change, login and genuine independent decisions remain pending. The r14 full-16 experiment sent zero requests because the recorded free budget was insufficient. Earlier experiments retain their own dates, versions and failures. The 782/783 count is historical, not a new test claim.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 TANG YUCHEN · Target: 0.6 min</a:t>
            </a:r>
            <a:br/>
            <a:br/>
            <a:r>
              <a:t>Script:</a:t>
            </a:r>
            <a:br/>
            <a:r>
              <a:t>These are our five responsibility areas and main deliverables. The last column is each member’s rough total effort against the planned fifty person-days.</a:t>
            </a:r>
            <a:br/>
            <a:br/>
            <a:r>
              <a:t>中文提示：展示前每人填好工时，替换 TBC。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2 min</a:t>
            </a:r>
            <a:br/>
            <a:br/>
            <a:r>
              <a:t>Script:</a:t>
            </a:r>
            <a:br/>
            <a:r>
              <a:t>Two decisions shaped the logical architecture: three bounded-context services instead of a monolith or six fine-grained services, and asynchronous evaluation through a durable queue with a transactional outbox — Queue-Based Load Leveling with Competing Consumers. The new decision on 21 October adds a circuit breaker on provider calls, verified locally.</a:t>
            </a:r>
            <a:br/>
            <a:br/>
            <a:r>
              <a:t>中文提示：只展开上面两张；最后一行黄色是 21 Oct 新增（本地）。被问 Saga → 备用页。</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2 min</a:t>
            </a:r>
            <a:br/>
            <a:br/>
            <a:r>
              <a:t>Script:</a:t>
            </a:r>
            <a:br/>
            <a:r>
              <a:t>This is the logical detail deployment view for Submit Evaluation, in the course notation. Each subsystem is deployed to its node and manifests boundary, control and entity classes. The model adapter is the only path to the provider, and now includes a circuit breaker control class.</a:t>
            </a:r>
            <a:br/>
            <a:br/>
            <a:r>
              <a:t>中文提示：从左到右讲；最右下 Circuit Breaker 是新增。</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1.8 min</a:t>
            </a:r>
            <a:br/>
            <a:br/>
            <a:r>
              <a:t>Script:</a:t>
            </a:r>
            <a:br/>
            <a:r>
              <a:t>Evaluation and Review are the core domain; Test Assets is supporting. Assets is upstream through an open host service with a published language; Evaluation and Review are customer–supplier; the external model provider sits behind an anticorruption layer.</a:t>
            </a:r>
            <a:br/>
            <a:br/>
            <a:r>
              <a:t>中文提示：按 PE04 的 U/D、OHS/PL、ACL 讲。</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1.2 min</a:t>
            </a:r>
            <a:br/>
            <a:br/>
            <a:r>
              <a:t>Script:</a:t>
            </a:r>
            <a:br/>
            <a:r>
              <a:t>Following the course Integration Endpoints format: producers and consumers enter through the gateway; the CLI returns exit code 3 when the gate blocks. Only the provider hop needs transformation, through the anticorruption layer, now guarded by a circuit breaker. Trace context travels in RabbitMQ headers, and the yellow rows are the local tracing and logging paths.</a:t>
            </a:r>
            <a:br/>
            <a:br/>
            <a:r>
              <a:t>中文提示：黄色两行是 21 Oct 本地新增。</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 · LIAO CAN · Target: 1.5 min</a:t>
            </a:r>
            <a:br/>
            <a:br/>
            <a:r>
              <a:t>Script:</a:t>
            </a:r>
            <a:br/>
            <a:r>
              <a:t>Each physical decision has a trade-off: single-zone GKE on the free trial, in-cluster stateful services without managed HA, queue-driven scaling with cold-start delay, and keyless, digest-pinned deployment. The 21 October resilience features have not been deployed to GKE.</a:t>
            </a:r>
            <a:br/>
            <a:br/>
            <a:r>
              <a:t>中文提示：每行一句；主动说新功能未上云。</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 · LIAO CAN</a:t>
            </a:r>
            <a:endParaRPr/>
          </a:p>
          <a:p xmlns:a="http://schemas.openxmlformats.org/drawingml/2006/main">
            <a:r>
              <a:t/>
            </a:r>
            <a:endParaRPr/>
          </a:p>
          <a:p xmlns:a="http://schemas.openxmlformats.org/drawingml/2006/main">
            <a:r>
              <a:t>The static IP belongs to the edge Kubernetes LoadBalancer Service. The verified GCP forwarding rule is external TCP targeting a target pool: an L4 load balancer, not an HTTPS application load balancer. Caddy terminates TLS, sends /auth to Keycloak and other traffic to the gateway. Three PVCs are postgres-data 5Gi, rabbit-data 2Gi and edge-data 1Gi for Caddy TLS state. Keycloak stores its database in PostgreSQL and has no separate PVC.</a:t>
            </a:r>
            <a:endParaRPr/>
          </a:p>
          <a:p xmlns:a="http://schemas.openxmlformats.org/drawingml/2006/main">
            <a:r>
              <a:t/>
            </a:r>
            <a:endParaRPr/>
          </a:p>
          <a:p xmlns:a="http://schemas.openxmlformats.org/drawingml/2006/main">
            <a:r>
              <a:t>23 Oct: we temporarily restored the original two-node pool for account provisioning, with provider egress blocked, no model calls and no new image. At handoff we stop it to zero; retained storage and IP can still consume trial credits. See the dated shutdown receipt, not control-plane RUNNING, to establish zero compute nodes.</a:t>
            </a:r>
            <a:endParaRPr/>
          </a:p>
          <a:p xmlns:a="http://schemas.openxmlformats.org/drawingml/2006/main">
            <a:r>
              <a:t/>
            </a:r>
            <a:endParaRPr/>
          </a:p>
          <a:p xmlns:a="http://schemas.openxmlformats.org/drawingml/2006/main">
            <a:r>
              <a:t>中文：IP → GCP四层TCP负载均衡 → Caddy终止TLS → gateway／identity。第三个PVC是Caddy。账号配置不等于发布了新镜像。</a:t>
            </a:r>
            <a:endParaRPr/>
          </a:p>
          <a:p xmlns:a="http://schemas.openxmlformats.org/drawingml/2006/main">
            <a:r>
              <a:t>Sources: scripts/gcp-render-infra.mjs; 22 Oct read-only cloud snapshot and 23 Oct provisioning/shutdown receipts.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1.5 min</a:t>
            </a:r>
            <a:br/>
            <a:br/>
            <a:r>
              <a:t>Script:</a:t>
            </a:r>
            <a:br/>
            <a:r>
              <a:t>Each service owns one database and login, with no cross-database foreign keys. Jobs and outbox now also store the W3C trace context, so a redelivered job keeps its trace. An optional Support database holds only circuit-breaker state, never business evidence.</a:t>
            </a:r>
            <a:br/>
            <a:br/>
            <a:r>
              <a:t>中文提示：新增：trace_context 两列 + Support DB（可选、本地）。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2 min</a:t>
            </a:r>
            <a:br/>
            <a:br/>
            <a:r>
              <a:t>Script:</a:t>
            </a:r>
            <a:br/>
            <a:r>
              <a:t>Points one to five are unchanged: idempotency key, atomic job and outbox, lease-guarded final write, frozen evidence snapshot, and version lock with no self-approval. The teal points six and seven are the 21 October additions: trace context travels with the job, outbox and message header, and the adapter checks the circuit breaker before calling the provider.</a:t>
            </a:r>
            <a:br/>
            <a:br/>
            <a:r>
              <a:t>中文提示：①–⑤ 照旧；⑥⑦ 一句话带过，后面 Demo 再展开。</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 · LIAO CAN · Target: 1.5 min</a:t>
            </a:r>
            <a:endParaRPr/>
          </a:p>
          <a:p xmlns:a="http://schemas.openxmlformats.org/drawingml/2006/main">
            <a:r>
              <a:t/>
            </a:r>
            <a:endParaRPr/>
          </a:p>
          <a:p xmlns:a="http://schemas.openxmlformats.org/drawingml/2006/main">
            <a:r>
              <a:t>Script:</a:t>
            </a:r>
            <a:endParaRPr/>
          </a:p>
          <a:p xmlns:a="http://schemas.openxmlformats.org/drawingml/2006/main">
            <a:r>
              <a:t>Every task starts on a feature branch with a local pre-push hook, goes through a reviewed pull request, and CI builds and scans one image that is deployed only by digest. Mapped to the five-plane model, the monitoring plane now includes OpenTelemetry tracing and Alloy, Loki and Grafana — verified locally, not yet on GKE.</a:t>
            </a:r>
            <a:endParaRPr/>
          </a:p>
          <a:p xmlns:a="http://schemas.openxmlformats.org/drawingml/2006/main">
            <a:r>
              <a:t/>
            </a:r>
            <a:endParaRPr/>
          </a:p>
          <a:p xmlns:a="http://schemas.openxmlformats.org/drawingml/2006/main">
            <a:r>
              <a:t>中文提示：上排流程一遍；下排点名，强调 04 层 local lab；主动说 PR #2–#4 未合并、PR #5 草稿。</a:t>
            </a:r>
            <a:endParaRPr/>
          </a:p>
          <a:p xmlns:a="http://schemas.openxmlformats.org/drawingml/2006/main">
            <a:r>
              <a:t/>
            </a:r>
            <a:endParaRPr/>
          </a:p>
          <a:p xmlns:a="http://schemas.openxmlformats.org/drawingml/2006/main">
            <a:r>
              <a:t>23 Oct: this handoff adds per-user login tools and aligns future bootstrap roles with the live per-user mapping. Individual reviewer passwords/tokens are not in Git. The cloud still uses source 362e8dd. A push is not a merge, successful hosted CI or a deployment. Current CI status must be checked on the exact new commit.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 · LIAO CAN · Target: 2 min</a:t>
            </a:r>
            <a:br/>
            <a:br/>
            <a:r>
              <a:t>Script:</a:t>
            </a:r>
            <a:br/>
            <a:r>
              <a:t>The pipeline is a set of fitness functions: the main line builds and tests, the gates check resiliency, contracts, dependencies and the image, and promotion is a manual CD that accepts only a successful CI run of the same commit and proves rollback.</a:t>
            </a:r>
            <a:br/>
            <a:br/>
            <a:r>
              <a:t>中文提示：按 蓝→黄→深蓝 讲；右侧证明同一 commit 才能部署。</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E · LIAO BINFENG → C · LIN XINDA · Target: 2.5 min</a:t>
            </a:r>
            <a:endParaRPr/>
          </a:p>
          <a:p xmlns:a="http://schemas.openxmlformats.org/drawingml/2006/main">
            <a:r>
              <a:t/>
            </a:r>
            <a:endParaRPr/>
          </a:p>
          <a:p xmlns:a="http://schemas.openxmlformats.org/drawingml/2006/main">
            <a:r>
              <a:t>Script:</a:t>
            </a:r>
            <a:endParaRPr/>
          </a:p>
          <a:p xmlns:a="http://schemas.openxmlformats.org/drawingml/2006/main">
            <a:r>
              <a:t>E covers the pipeline and cloud findings, including the autoscaling cold-start failures and the first local Loki failure. C covers the evaluator findings. We keep the one known failing test visible, and the 782/783 figure belongs to the 21 October resilience package, not to every later commit.</a:t>
            </a:r>
            <a:endParaRPr/>
          </a:p>
          <a:p xmlns:a="http://schemas.openxmlformats.org/drawingml/2006/main">
            <a:r>
              <a:t/>
            </a:r>
            <a:endParaRPr/>
          </a:p>
          <a:p xmlns:a="http://schemas.openxmlformats.org/drawingml/2006/main">
            <a:r>
              <a:t>中文提示：E 讲前三行 + 最后黄行，C 讲第 4–5 行。</a:t>
            </a:r>
            <a:endParaRPr/>
          </a:p>
          <a:p xmlns:a="http://schemas.openxmlformats.org/drawingml/2006/main">
            <a:r>
              <a:t/>
            </a:r>
            <a:endParaRPr/>
          </a:p>
          <a:p xmlns:a="http://schemas.openxmlformats.org/drawingml/2006/main">
            <a:r>
              <a:t>Latest candidate boundary: r14 separates typed model extraction from deterministic policy aggregation. Offline fixtures test representation, quotation and aggregation, not model judgment quality. Its independent full-16 experiment did not run due to insufficient recorded free budget. No new semantic success is claimed. Older r2–r13 real failures and outputs remain available, with original versions and scores.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Presenters: A and B.</a:t>
            </a:r>
            <a:endParaRPr/>
          </a:p>
          <a:p xmlns:a="http://schemas.openxmlformats.org/drawingml/2006/main">
            <a:r>
              <a:t/>
            </a:r>
            <a:endParaRPr/>
          </a:p>
          <a:p xmlns:a="http://schemas.openxmlformats.org/drawingml/2006/main">
            <a:r>
              <a:t>Live rehearsal, when the maintainer confirms trial credit and restores the original nodes: choose replay, never real. Submit a passing and a blocked candidate, inspect original answers and request review only for a gate-eligible one. xinda is contributor. liaobinfeng and liaocan are separate reviewer accounts; passwords and decisions are their own. First login and genuine team review are pending at this handoff. Do not claim them complete from account provisioning. A reviewer must inspect the same job, suite version and original outputs and enter a specific rationale.</a:t>
            </a:r>
            <a:endParaRPr/>
          </a:p>
          <a:p xmlns:a="http://schemas.openxmlformats.org/drawingml/2006/main">
            <a:r>
              <a:t/>
            </a:r>
            <a:endParaRPr/>
          </a:p>
          <a:p xmlns:a="http://schemas.openxmlformats.org/drawingml/2006/main">
            <a:r>
              <a:t>Current contributor approval attempts may be denied by role (403). The 409 self-review screenshot is historical local test evidence with its original identity and version, not a newly verified cloud response. Saved screenshots show historic fixtures/test identities, not a teammate decision in this task. If no real teammate is available, show Pending plus the dated historical review replay, never silently switch identity and approve on their behalf.</a:t>
            </a:r>
            <a:endParaRPr/>
          </a:p>
          <a:p xmlns:a="http://schemas.openxmlformats.org/drawingml/2006/main">
            <a:r>
              <a:t/>
            </a:r>
            <a:endParaRPr/>
          </a:p>
          <a:p xmlns:a="http://schemas.openxmlformats.org/drawingml/2006/main">
            <a:r>
              <a:t>中文：现场只选replay。账号建好不等于组员完成独立审核。组员不在场就保留待审核，明确切换历史回放。</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 · LIN XINDA (+ D/E) · Target: 1.2 min</a:t>
            </a:r>
            <a:br/>
            <a:br/>
            <a:r>
              <a:t>Script:</a:t>
            </a:r>
            <a:br/>
            <a:r>
              <a:t>This is a circuit breaker, not a retry. After three availability errors the circuit opens and calls are rejected without reaching the provider. After the cooldown exactly one probe is admitted; success closes the circuit, failure reopens it. In our local fault test with two adapters sharing state, twenty concurrent calls sent no HTTP requests and only one probe ran. These were local synthetic requests, not model calls.</a:t>
            </a:r>
            <a:br/>
            <a:br/>
            <a:r>
              <a:t>中文提示：先说“不是重试”；3 次失败 → 20 次不发请求 → 1 个探针恢复。</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 · LIAO CAN (+ B) · Target: 1 min</a:t>
            </a:r>
            <a:br/>
            <a:br/>
            <a:r>
              <a:t>Script:</a:t>
            </a:r>
            <a:br/>
            <a:r>
              <a:t>This is the actual local Jaeger timeline for a replay job. The same trace crosses five services. We persist the context with the outbox and propagate it through RabbitMQ, so the asynchronous worker stays connected to the original submission. The cloud deployment has not received this update.</a:t>
            </a:r>
            <a:br/>
            <a:br/>
            <a:r>
              <a:t>中文提示：指出 rabbitmq publish → worker 的父子关系；不要说云端已更新。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 · LIAO CAN + E · LIAO BINFENG · Target: 1 min</a:t>
            </a:r>
            <a:br/>
            <a:br/>
            <a:r>
              <a:t>Script:</a:t>
            </a:r>
            <a:br/>
            <a:r>
              <a:t>The application now emits structured logs with the same trace and span identifiers. Alloy collects the lab files into Loki, and querying one trace returned logs from all five services. We have not configured alert notifications or production retention.</a:t>
            </a:r>
            <a:br/>
            <a:br/>
            <a:r>
              <a:t>中文提示：不要只说“有 Grafana”，要说同一个 trace ID 查到五个服务的日志。</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Presenters: D and E.</a:t>
            </a:r>
            <a:endParaRPr/>
          </a:p>
          <a:p xmlns:a="http://schemas.openxmlformats.org/drawingml/2006/main">
            <a:r>
              <a:t/>
            </a:r>
            <a:endParaRPr/>
          </a:p>
          <a:p xmlns:a="http://schemas.openxmlformats.org/drawingml/2006/main">
            <a:r>
              <a:t>These charts show saved real GKE replay runs on 11 Oct, not a new live model experiment. The left run paused a worker and queued 500 replay jobs, and KEDA changed Ready replicas 1 to 3 to 1; 500 completed. All were processed by the original worker because new replicas became ready too late. This establishes the scaling-control response, not a throughput improvement. The right chart is a separate short manual one-versus-three worker benchmark, about 1.2x median, not sustained or linear scaling.</a:t>
            </a:r>
            <a:endParaRPr/>
          </a:p>
          <a:p xmlns:a="http://schemas.openxmlformats.org/drawingml/2006/main">
            <a:r>
              <a:t/>
            </a:r>
            <a:endParaRPr/>
          </a:p>
          <a:p xmlns:a="http://schemas.openxmlformats.org/drawingml/2006/main">
            <a:r>
              <a:t>A separate cloud replay rehearsal on 22 Oct preserved its own results and scope. Do not blend it with the 11 Oct charts or claim live-provider throughput. The environment is stopped at handoff. A live demonstration needs a fresh free-trial check and scheduled restoration, with model egress blocked. If unavailable, explicitly say HISTORICAL REAL RUN REPLAY and use saved dated records.</a:t>
            </a:r>
            <a:endParaRPr/>
          </a:p>
          <a:p xmlns:a="http://schemas.openxmlformats.org/drawingml/2006/main">
            <a:r>
              <a:t/>
            </a:r>
            <a:endParaRPr/>
          </a:p>
          <a:p xmlns:a="http://schemas.openxmlformats.org/drawingml/2006/main">
            <a:r>
              <a:t>中文：左图证明扩缩容控制循环，不证明新增Worker提高吞吐；右图是另一组对照。截图是历史真实运行，现场不调用模型。</a:t>
            </a:r>
            <a:endParaRPr/>
          </a:p>
          <a:p xmlns:a="http://schemas.openxmlformats.org/drawingml/2006/main">
            <a:r>
              <a:t>Sources: docs/evidence/cloud-2026-10-11/cloud-autoscale-worker-pause.json and cloud-benchmark-derived.json; dated 22 Oct rehearsal.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 · LIAO CAN → A · TANG YUCHEN · Target: 1 min</a:t>
            </a:r>
            <a:endParaRPr/>
          </a:p>
          <a:p xmlns:a="http://schemas.openxmlformats.org/drawingml/2006/main">
            <a:r>
              <a:t/>
            </a:r>
            <a:endParaRPr/>
          </a:p>
          <a:p xmlns:a="http://schemas.openxmlformats.org/drawingml/2006/main">
            <a:r>
              <a:t>Script:</a:t>
            </a:r>
            <a:endParaRPr/>
          </a:p>
          <a:p xmlns:a="http://schemas.openxmlformats.org/drawingml/2006/main">
            <a:r>
              <a:t>D: the matched CI and CD runs for one commit. A: we delivered a traceable platform, built it to scale and added local resilience and observability, and learned to keep score and gate apart, save evidence first and report failures honestly. Thank you — questions are welcome.</a:t>
            </a:r>
            <a:endParaRPr/>
          </a:p>
          <a:p xmlns:a="http://schemas.openxmlformats.org/drawingml/2006/main">
            <a:r>
              <a:t/>
            </a:r>
            <a:endParaRPr/>
          </a:p>
          <a:p xmlns:a="http://schemas.openxmlformats.org/drawingml/2006/main">
            <a:r>
              <a:t>中文提示：收尾后留时间给 Q&amp;A（指南约 8.5 分钟问答）。</a:t>
            </a:r>
            <a:endParaRPr/>
          </a:p>
          <a:p xmlns:a="http://schemas.openxmlformats.org/drawingml/2006/main">
            <a:r>
              <a:t/>
            </a:r>
            <a:endParaRPr/>
          </a:p>
          <a:p xmlns:a="http://schemas.openxmlformats.org/drawingml/2006/main">
            <a:r>
              <a:t>The displayed CI/CD runs remain historical, on commit 362e8dd. This task updates Git and documentation only, with no CD dispatch or image deployment. A new hosted CI result belongs to its exact new SHA and must not inherit the old success.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C · LIN XINDA · Target: Q&amp;A only</a:t>
            </a:r>
            <a:endParaRPr/>
          </a:p>
          <a:p xmlns:a="http://schemas.openxmlformats.org/drawingml/2006/main">
            <a:r>
              <a:t/>
            </a:r>
            <a:endParaRPr/>
          </a:p>
          <a:p xmlns:a="http://schemas.openxmlformats.org/drawingml/2006/main">
            <a:r>
              <a:t>Script:</a:t>
            </a:r>
            <a:endParaRPr/>
          </a:p>
          <a:p xmlns:a="http://schemas.openxmlformats.org/drawingml/2006/main">
            <a:r>
              <a:t>Use only if asked. Keep each experiment separate and state failures as recorded.</a:t>
            </a:r>
            <a:endParaRPr/>
          </a:p>
          <a:p xmlns:a="http://schemas.openxmlformats.org/drawingml/2006/main">
            <a:r>
              <a:t/>
            </a:r>
            <a:endParaRPr/>
          </a:p>
          <a:p xmlns:a="http://schemas.openxmlformats.org/drawingml/2006/main">
            <a:r>
              <a:t>中文提示：只在被问时打开。</a:t>
            </a:r>
            <a:endParaRPr/>
          </a:p>
          <a:p xmlns:a="http://schemas.openxmlformats.org/drawingml/2006/main">
            <a:r>
              <a:t/>
            </a:r>
            <a:endParaRPr/>
          </a:p>
          <a:p xmlns:a="http://schemas.openxmlformats.org/drawingml/2006/main">
            <a:r>
              <a:t>The r2 table row refers specifically to the initial offline freeze, not all subsequent r2 experiments. Later r2–r13 real runs are separate dated records. Latest preserved r14 full-16 status is NOT_EXECUTED_FREE_BUDGET_INSUFFICIENT, planned16, attempted0. No score or semantic accuracy exists for that unexecuted experiment. Typed model extraction and program-derived aggregation are separate artifacts. This handoff makes zero new model requests. Neither protocol success nor offline tests qualify the reviewer for production. Formal reviewer remains shadowOnly=true, calibration_pending.</a:t>
            </a:r>
            <a:endParaRPr/>
          </a:p>
          <a:p xmlns:a="http://schemas.openxmlformats.org/drawingml/2006/main">
            <a:r>
              <a:t/>
            </a:r>
            <a:endParaRPr/>
          </a:p>
          <a:p xmlns:a="http://schemas.openxmlformats.org/drawingml/2006/main">
            <a:r>
              <a:t>中文：70/75仍是原始客服成绩；3条和17条分开。旧10条定向实验仍失败。最新r14没发请求，不能说模型已通过。</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E · LIAO BINFENG · Target: Q&amp;A only</a:t>
            </a:r>
            <a:br/>
            <a:br/>
            <a:r>
              <a:t>Script:</a:t>
            </a:r>
            <a:br/>
            <a:r>
              <a:t>Each layer establishes something different; none claims semantic accuracy.</a:t>
            </a:r>
            <a:br/>
            <a:br/>
            <a:r>
              <a:t>中文提示：被问测试策略时打开。</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ZHU PENGXU · Target: Q&amp;A only</a:t>
            </a:r>
            <a:endParaRPr/>
          </a:p>
          <a:p xmlns:a="http://schemas.openxmlformats.org/drawingml/2006/main">
            <a:r>
              <a:t/>
            </a:r>
            <a:endParaRPr/>
          </a:p>
          <a:p xmlns:a="http://schemas.openxmlformats.org/drawingml/2006/main">
            <a:r>
              <a:t>Script:</a:t>
            </a:r>
            <a:endParaRPr/>
          </a:p>
          <a:p xmlns:a="http://schemas.openxmlformats.org/drawingml/2006/main">
            <a:r>
              <a:t>Our writes never span services, so we need atomic write-and-publish, which the outbox provides.</a:t>
            </a:r>
            <a:endParaRPr/>
          </a:p>
          <a:p xmlns:a="http://schemas.openxmlformats.org/drawingml/2006/main">
            <a:r>
              <a:t/>
            </a:r>
            <a:endParaRPr/>
          </a:p>
          <a:p xmlns:a="http://schemas.openxmlformats.org/drawingml/2006/main">
            <a:r>
              <a:t>中文提示：被问 Saga 时打开。</a:t>
            </a:r>
            <a:endParaRPr/>
          </a:p>
          <a:p xmlns:a="http://schemas.openxmlformats.org/drawingml/2006/main">
            <a:r>
              <a:t/>
            </a:r>
            <a:endParaRPr/>
          </a:p>
          <a:p xmlns:a="http://schemas.openxmlformats.org/drawingml/2006/main">
            <a:r>
              <a:t>Correction: the database transaction atomically writes the job and the outbox entry, not a distributed database-plus-broker transaction. The publisher later obtains broker confirmation, and delivery remains at-least-once.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 + C · Target: Q&amp;A only</a:t>
            </a:r>
            <a:br/>
            <a:br/>
            <a:r>
              <a:t>Script:</a:t>
            </a:r>
            <a:br/>
            <a:r>
              <a:t>The gate is the intersection of all conditions; review is a later step.</a:t>
            </a:r>
            <a:br/>
            <a:br/>
            <a:r>
              <a:t>中文提示：分数和硬条件取交集。</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All · Target: Q&amp;A only</a:t>
            </a:r>
            <a:br/>
            <a:br/>
            <a:r>
              <a:t>Script:</a:t>
            </a:r>
            <a:br/>
            <a:r>
              <a:t>Acknowledge AI assistance and the source of claims if asked.</a:t>
            </a:r>
            <a:br/>
            <a:br/>
            <a:r>
              <a:t>中文提示：被问 AI 使用时打开。</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be1257d47043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30a7dc7524641d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3494660a5714bd0"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TITLE_DARK">
    <p:bg>
      <p:bgPr>
        <a:solidFill xmlns:a="http://schemas.openxmlformats.org/drawingml/2006/main">
          <a:srgbClr val="14325C"/>
        </a:solid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reserve="1">
  <p:cSld name="CONTENT">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0B3CA05-8570-4848-A759-7608FD66D01D}"/>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2800" b="1">
                <a:solidFill>
                  <a:srgbClr val="14325C"/>
                </a:solidFill>
                <a:latin typeface="Arial"/>
                <a:ea typeface="Arial"/>
                <a:cs typeface="Arial"/>
              </a:defRPr>
            </a:lvl1pPr>
          </a:lstStyle>
          <a:p xmlns:a="http://schemas.openxmlformats.org/drawingml/2006/main">
            <a:pPr marL="0" indent="0" algn="l">
              <a:buNone/>
            </a:pPr>
            <a:endParaRPr sz="2800"/>
          </a:p>
        </p:txBody>
      </p:sp>
      <p:sp>
        <p:nvSpPr>
          <p:cNvPr id="3" name="Text 0">
            <a:extLst xmlns:a="http://schemas.openxmlformats.org/drawingml/2006/main">
              <a:ext uri="{FF2B5EF4-FFF2-40B4-BE49-F238E27FC236}">
                <a16:creationId xmlns:a16="http://schemas.microsoft.com/office/drawing/2014/main" id="{9E7556B7-8168-472A-8774-6B5B06032EF0}"/>
              </a:ext>
            </a:extLst>
          </p:cNvPr>
          <p:cNvSpPr>
            <a:spLocks xmlns:a="http://schemas.openxmlformats.org/drawingml/2006/main" noGrp="1"/>
          </p:cNvSpPr>
          <p:nvPr/>
        </p:nvSpPr>
        <p:spPr>
          <a:xfrm xmlns:a="http://schemas.openxmlformats.org/drawingml/2006/main">
            <a:off x="457200" y="644652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8A94A6"/>
                </a:solidFill>
                <a:latin typeface="Arial"/>
                <a:ea typeface="Arial"/>
                <a:cs typeface="Arial"/>
              </a:rPr>
              <a:t>SE34FT · Team 13 · ReleaseGuard</a:t>
            </a:r>
            <a:endParaRPr sz="1000"/>
          </a:p>
        </p:txBody>
      </p:sp>
      <p:sp>
        <p:nvSpPr>
          <p:cNvPr id="25" name="Slide Number Placeholder 0">
            <a:extLst xmlns:a="http://schemas.openxmlformats.org/drawingml/2006/main">
              <a:ext uri="{FF2B5EF4-FFF2-40B4-BE49-F238E27FC236}">
                <a16:creationId xmlns:a16="http://schemas.microsoft.com/office/drawing/2014/main" id="{0EEE2706-C048-461D-AE01-2C49EDCD9B7D}"/>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1003</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bf4b57c18a4ab9" /><Relationship Type="http://schemas.openxmlformats.org/officeDocument/2006/relationships/slideLayout" Target="/ppt/slideLayouts/slideLayout1.xml" Id="R7131e19622624907" /><Relationship Type="http://schemas.openxmlformats.org/officeDocument/2006/relationships/slideLayout" Target="/ppt/slideLayouts/slideLayout2.xml" Id="R0f0a0b78a7b746e6" /><Relationship Type="http://schemas.openxmlformats.org/officeDocument/2006/relationships/slideLayout" Target="/ppt/slideLayouts/slideLayout3.xml" Id="R457a7aaeec3d4e71"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B41448AA-BCA4-4A3F-847F-ACFBF1E546BF}"/>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31e19622624907"/>
    <p:sldLayoutId xmlns:r="http://schemas.openxmlformats.org/officeDocument/2006/relationships" id="2147483650" r:id="R0f0a0b78a7b746e6"/>
    <p:sldLayoutId xmlns:r="http://schemas.openxmlformats.org/officeDocument/2006/relationships" id="2147483651" r:id="R457a7aaeec3d4e71"/>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ReleaseGuard Blue-Yellow">
  <a:themeElements>
    <a:clrScheme name="ReleaseGuard Blue-Yellow">
      <a:dk1>
        <a:srgbClr val="1F2937"/>
      </a:dk1>
      <a:lt1>
        <a:srgbClr val="FFFFFF"/>
      </a:lt1>
      <a:dk2>
        <a:srgbClr val="14325C"/>
      </a:dk2>
      <a:lt2>
        <a:srgbClr val="F3F7FC"/>
      </a:lt2>
      <a:accent1>
        <a:srgbClr val="2563B0"/>
      </a:accent1>
      <a:accent2>
        <a:srgbClr val="F5B700"/>
      </a:accent2>
      <a:accent3>
        <a:srgbClr val="14325C"/>
      </a:accent3>
      <a:accent4>
        <a:srgbClr val="3B7DD8"/>
      </a:accent4>
      <a:accent5>
        <a:srgbClr val="E3A600"/>
      </a:accent5>
      <a:accent6>
        <a:srgbClr val="7A8BA6"/>
      </a:accent6>
      <a:hlink>
        <a:srgbClr val="2563B0"/>
      </a:hlink>
      <a:folHlink>
        <a:srgbClr val="6B4FA0"/>
      </a:folHlink>
    </a:clrScheme>
    <a:fontScheme name="ReleaseGuard Blue-Yello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ReleaseGuard Blue-Yellow">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98a88b8acac54bd2" /><Relationship Type="http://schemas.openxmlformats.org/officeDocument/2006/relationships/notesSlide" Target="/ppt/notesSlides/notesSlide1.xml" Id="R8e712327194041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a2c3dc22837a4e96" /><Relationship Type="http://schemas.openxmlformats.org/officeDocument/2006/relationships/image" Target="/ppt/media/image.png" Id="Raf88c7adc3a44a91" /><Relationship Type="http://schemas.openxmlformats.org/officeDocument/2006/relationships/notesSlide" Target="/ppt/notesSlides/notesSlide2.xml" Id="Rba1f6c5aa01d47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2a4f99c7ac744625" /><Relationship Type="http://schemas.openxmlformats.org/officeDocument/2006/relationships/image" Target="/ppt/media/image2.png" Id="R26e0b72096734d4e" /><Relationship Type="http://schemas.openxmlformats.org/officeDocument/2006/relationships/notesSlide" Target="/ppt/notesSlides/notesSlide3.xml" Id="Rbeda9e96983445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4e668700b52f4620" /><Relationship Type="http://schemas.openxmlformats.org/officeDocument/2006/relationships/notesSlide" Target="/ppt/notesSlides/notesSlide4.xml" Id="R275e1bf937ab48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12fc1b3f95a34db8" /><Relationship Type="http://schemas.openxmlformats.org/officeDocument/2006/relationships/notesSlide" Target="/ppt/notesSlides/notesSlide5.xml" Id="R1747add74b0746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47642920d52a4b4a" /><Relationship Type="http://schemas.openxmlformats.org/officeDocument/2006/relationships/notesSlide" Target="/ppt/notesSlides/notesSlide6.xml" Id="R8171092346874f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40e58747d4544c9c" /><Relationship Type="http://schemas.openxmlformats.org/officeDocument/2006/relationships/image" Target="/ppt/media/image3.png" Id="R537637ecccb24e39" /><Relationship Type="http://schemas.openxmlformats.org/officeDocument/2006/relationships/notesSlide" Target="/ppt/notesSlides/notesSlide7.xml" Id="R8ff7d76ba41c46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1784e05a223c422a" /><Relationship Type="http://schemas.openxmlformats.org/officeDocument/2006/relationships/image" Target="/ppt/media/image4.png" Id="Reaac430b64eb4a10" /><Relationship Type="http://schemas.openxmlformats.org/officeDocument/2006/relationships/notesSlide" Target="/ppt/notesSlides/notesSlide8.xml" Id="R332890034e964f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4ab997792a1348d1" /><Relationship Type="http://schemas.openxmlformats.org/officeDocument/2006/relationships/notesSlide" Target="/ppt/notesSlides/notesSlide9.xml" Id="Rcbb12535f2dc41d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5b0109006bd5422b" /><Relationship Type="http://schemas.openxmlformats.org/officeDocument/2006/relationships/notesSlide" Target="/ppt/notesSlides/notesSlide10.xml" Id="Ra6cca5262c5846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938275149be04326" /><Relationship Type="http://schemas.openxmlformats.org/officeDocument/2006/relationships/image" Target="/ppt/media/image5.png" Id="R5a2f13acfc404e43" /><Relationship Type="http://schemas.openxmlformats.org/officeDocument/2006/relationships/notesSlide" Target="/ppt/notesSlides/notesSlide11.xml" Id="R9c15d1ec8088454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a599365ba3654a14" /><Relationship Type="http://schemas.openxmlformats.org/officeDocument/2006/relationships/image" Target="/ppt/media/image6.png" Id="R550259bb031541b1" /><Relationship Type="http://schemas.openxmlformats.org/officeDocument/2006/relationships/notesSlide" Target="/ppt/notesSlides/notesSlide12.xml" Id="R0cf275fdd93c47a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4cc24c99e8914e7d" /><Relationship Type="http://schemas.openxmlformats.org/officeDocument/2006/relationships/image" Target="/ppt/media/image7.png" Id="R08a04f9bd6cc4e54" /><Relationship Type="http://schemas.openxmlformats.org/officeDocument/2006/relationships/notesSlide" Target="/ppt/notesSlides/notesSlide13.xml" Id="R99cab6e867704c2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9803a4007dc14d86" /><Relationship Type="http://schemas.openxmlformats.org/officeDocument/2006/relationships/notesSlide" Target="/ppt/notesSlides/notesSlide14.xml" Id="R8d17a19555884af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ff6613acf9d7454a" /><Relationship Type="http://schemas.openxmlformats.org/officeDocument/2006/relationships/image" Target="/ppt/media/image8.png" Id="Ra7585841aa4341e7" /><Relationship Type="http://schemas.openxmlformats.org/officeDocument/2006/relationships/image" Target="/ppt/media/image9.png" Id="Ra4620fc763284c5c" /><Relationship Type="http://schemas.openxmlformats.org/officeDocument/2006/relationships/notesSlide" Target="/ppt/notesSlides/notesSlide15.xml" Id="R95177851f2214e8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d638f13e5fbe4374" /><Relationship Type="http://schemas.openxmlformats.org/officeDocument/2006/relationships/notesSlide" Target="/ppt/notesSlides/notesSlide16.xml" Id="R306db4c192744a3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0e3eb777b0b94319" /><Relationship Type="http://schemas.openxmlformats.org/officeDocument/2006/relationships/image" Target="/ppt/media/image10.png" Id="Rd08d5244994e48ee" /><Relationship Type="http://schemas.openxmlformats.org/officeDocument/2006/relationships/image" Target="/ppt/media/image11.png" Id="Re6fd474517804abc" /><Relationship Type="http://schemas.openxmlformats.org/officeDocument/2006/relationships/notesSlide" Target="/ppt/notesSlides/notesSlide17.xml" Id="Rdc6ac258a2754a6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0778bcfd3be84566" /><Relationship Type="http://schemas.openxmlformats.org/officeDocument/2006/relationships/notesSlide" Target="/ppt/notesSlides/notesSlide18.xml" Id="Rd8219fe9ef334b9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69ddc7f3083144c1" /><Relationship Type="http://schemas.openxmlformats.org/officeDocument/2006/relationships/image" Target="/ppt/media/image12.png" Id="Rd51327e3efc34ce2" /><Relationship Type="http://schemas.openxmlformats.org/officeDocument/2006/relationships/notesSlide" Target="/ppt/notesSlides/notesSlide19.xml" Id="R71cdbefcacd1451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6760bbf8c3544dde" /><Relationship Type="http://schemas.openxmlformats.org/officeDocument/2006/relationships/image" Target="/ppt/media/image13.png" Id="Ra6085b120d354d95" /><Relationship Type="http://schemas.openxmlformats.org/officeDocument/2006/relationships/notesSlide" Target="/ppt/notesSlides/notesSlide20.xml" Id="Rbec7f7b8eb0e44b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ef4ace5139954483" /><Relationship Type="http://schemas.openxmlformats.org/officeDocument/2006/relationships/image" Target="/ppt/media/image14.png" Id="Rca55b74204cd4c03" /><Relationship Type="http://schemas.openxmlformats.org/officeDocument/2006/relationships/notesSlide" Target="/ppt/notesSlides/notesSlide21.xml" Id="Rab07c4e9c43345d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77ec0af6640540df" /><Relationship Type="http://schemas.openxmlformats.org/officeDocument/2006/relationships/image" Target="/ppt/media/image15.png" Id="R2551766546d944f5" /><Relationship Type="http://schemas.openxmlformats.org/officeDocument/2006/relationships/notesSlide" Target="/ppt/notesSlides/notesSlide22.xml" Id="Raf40886c2fea481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ee28e8b320c24d35" /><Relationship Type="http://schemas.openxmlformats.org/officeDocument/2006/relationships/notesSlide" Target="/ppt/notesSlides/notesSlide23.xml" Id="R8e80ddd712d7424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3.xml" Id="R04b4c86bf6df4c49" /><Relationship Type="http://schemas.openxmlformats.org/officeDocument/2006/relationships/notesSlide" Target="/ppt/notesSlides/notesSlide24.xml" Id="R8b84efdf1ebf4a0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3.xml" Id="R30737459912c4aba" /><Relationship Type="http://schemas.openxmlformats.org/officeDocument/2006/relationships/notesSlide" Target="/ppt/notesSlides/notesSlide25.xml" Id="R39ce3519f141442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3.xml" Id="Rde42e4d00ffe486f" /><Relationship Type="http://schemas.openxmlformats.org/officeDocument/2006/relationships/notesSlide" Target="/ppt/notesSlides/notesSlide26.xml" Id="R20a7c90193424ac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b47aefe805354276" /><Relationship Type="http://schemas.openxmlformats.org/officeDocument/2006/relationships/notesSlide" Target="/ppt/notesSlides/notesSlide27.xml" Id="R57e58186ad234fd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deco circle 1">
            <a:extLst xmlns:a="http://schemas.openxmlformats.org/drawingml/2006/main">
              <a:ext uri="{FF2B5EF4-FFF2-40B4-BE49-F238E27FC236}">
                <a16:creationId xmlns:a16="http://schemas.microsoft.com/office/drawing/2014/main" id="{C1DF6797-AF09-43BE-84A7-032FD473A6AC}"/>
              </a:ext>
            </a:extLst>
          </p:cNvPr>
          <p:cNvSpPr>
            <a:spLocks xmlns:a="http://schemas.openxmlformats.org/drawingml/2006/main" noGrp="1"/>
          </p:cNvSpPr>
          <p:nvPr/>
        </p:nvSpPr>
        <p:spPr>
          <a:xfrm xmlns:a="http://schemas.openxmlformats.org/drawingml/2006/main">
            <a:off x="8412480" y="-1463040"/>
            <a:ext cx="5120640" cy="5120640"/>
          </a:xfrm>
          <a:prstGeom xmlns:a="http://schemas.openxmlformats.org/drawingml/2006/main" prst="ellipse">
            <a:avLst/>
          </a:prstGeom>
          <a:solidFill xmlns:a="http://schemas.openxmlformats.org/drawingml/2006/main">
            <a:srgbClr val="1C437A"/>
          </a:solidFill>
          <a:ln xmlns:a="http://schemas.openxmlformats.org/drawingml/2006/main" w="12700">
            <a:solidFill>
              <a:srgbClr val="1C437A"/>
            </a:solidFill>
            <a:prstDash val="solid"/>
          </a:ln>
        </p:spPr>
      </p:sp>
      <p:sp>
        <p:nvSpPr>
          <p:cNvPr id="3" name="deco circle 2">
            <a:extLst xmlns:a="http://schemas.openxmlformats.org/drawingml/2006/main">
              <a:ext uri="{FF2B5EF4-FFF2-40B4-BE49-F238E27FC236}">
                <a16:creationId xmlns:a16="http://schemas.microsoft.com/office/drawing/2014/main" id="{474EDDE0-BF33-481E-941E-F62DB7D7DCD8}"/>
              </a:ext>
            </a:extLst>
          </p:cNvPr>
          <p:cNvSpPr>
            <a:spLocks xmlns:a="http://schemas.openxmlformats.org/drawingml/2006/main" noGrp="1"/>
          </p:cNvSpPr>
          <p:nvPr/>
        </p:nvSpPr>
        <p:spPr>
          <a:xfrm xmlns:a="http://schemas.openxmlformats.org/drawingml/2006/main">
            <a:off x="10058400" y="4206240"/>
            <a:ext cx="3108960" cy="3108960"/>
          </a:xfrm>
          <a:prstGeom xmlns:a="http://schemas.openxmlformats.org/drawingml/2006/main" prst="ellipse">
            <a:avLst/>
          </a:prstGeom>
          <a:solidFill xmlns:a="http://schemas.openxmlformats.org/drawingml/2006/main">
            <a:srgbClr val="F5B700"/>
          </a:solidFill>
          <a:ln xmlns:a="http://schemas.openxmlformats.org/drawingml/2006/main" w="12700">
            <a:solidFill>
              <a:srgbClr val="F5B700"/>
            </a:solidFill>
            <a:prstDash val="solid"/>
          </a:ln>
        </p:spPr>
      </p:sp>
      <p:sp>
        <p:nvSpPr>
          <p:cNvPr id="4" name="logo tile">
            <a:extLst xmlns:a="http://schemas.openxmlformats.org/drawingml/2006/main">
              <a:ext uri="{FF2B5EF4-FFF2-40B4-BE49-F238E27FC236}">
                <a16:creationId xmlns:a16="http://schemas.microsoft.com/office/drawing/2014/main" id="{C0DA6921-C5E0-474A-9F7F-62FBEF3513D3}"/>
              </a:ext>
            </a:extLst>
          </p:cNvPr>
          <p:cNvSpPr>
            <a:spLocks xmlns:a="http://schemas.openxmlformats.org/drawingml/2006/main" noGrp="1"/>
          </p:cNvSpPr>
          <p:nvPr/>
        </p:nvSpPr>
        <p:spPr>
          <a:xfrm xmlns:a="http://schemas.openxmlformats.org/drawingml/2006/main">
            <a:off x="731520" y="1325880"/>
            <a:ext cx="960120" cy="960120"/>
          </a:xfrm>
          <a:prstGeom xmlns:a="http://schemas.openxmlformats.org/drawingml/2006/main" prst="roundRect">
            <a:avLst>
              <a:gd name="adj" fmla="val 19048"/>
            </a:avLst>
          </a:prstGeom>
          <a:solidFill xmlns:a="http://schemas.openxmlformats.org/drawingml/2006/main">
            <a:srgbClr val="F5B700"/>
          </a:solidFill>
          <a:ln xmlns:a="http://schemas.openxmlformats.org/drawingml/2006/main" w="12700">
            <a:solidFill>
              <a:srgbClr val="F5B700"/>
            </a:solidFill>
            <a:prstDash val="solid"/>
          </a:ln>
        </p:spPr>
      </p:sp>
      <p:sp>
        <p:nvSpPr>
          <p:cNvPr id="5" name="logo text">
            <a:extLst xmlns:a="http://schemas.openxmlformats.org/drawingml/2006/main">
              <a:ext uri="{FF2B5EF4-FFF2-40B4-BE49-F238E27FC236}">
                <a16:creationId xmlns:a16="http://schemas.microsoft.com/office/drawing/2014/main" id="{5704118A-E90D-4E92-8EA6-BF67865FBCF9}"/>
              </a:ext>
            </a:extLst>
          </p:cNvPr>
          <p:cNvSpPr>
            <a:spLocks xmlns:a="http://schemas.openxmlformats.org/drawingml/2006/main" noGrp="1"/>
          </p:cNvSpPr>
          <p:nvPr/>
        </p:nvSpPr>
        <p:spPr>
          <a:xfrm xmlns:a="http://schemas.openxmlformats.org/drawingml/2006/main">
            <a:off x="731520" y="1325880"/>
            <a:ext cx="96012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600" b="1">
                <a:solidFill>
                  <a:srgbClr val="14325C"/>
                </a:solidFill>
              </a:rPr>
              <a:t>rg</a:t>
            </a:r>
            <a:endParaRPr sz="3600"/>
          </a:p>
        </p:txBody>
      </p:sp>
      <p:sp>
        <p:nvSpPr>
          <p:cNvPr id="6" name="deck title">
            <a:extLst xmlns:a="http://schemas.openxmlformats.org/drawingml/2006/main">
              <a:ext uri="{FF2B5EF4-FFF2-40B4-BE49-F238E27FC236}">
                <a16:creationId xmlns:a16="http://schemas.microsoft.com/office/drawing/2014/main" id="{3045AC7C-5A14-4BB7-A757-7CA78CE1998D}"/>
              </a:ext>
            </a:extLst>
          </p:cNvPr>
          <p:cNvSpPr>
            <a:spLocks xmlns:a="http://schemas.openxmlformats.org/drawingml/2006/main" noGrp="1"/>
          </p:cNvSpPr>
          <p:nvPr/>
        </p:nvSpPr>
        <p:spPr>
          <a:xfrm xmlns:a="http://schemas.openxmlformats.org/drawingml/2006/main">
            <a:off x="1920240" y="1234440"/>
            <a:ext cx="777240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600" b="1">
                <a:solidFill>
                  <a:srgbClr val="FFFFFF"/>
                </a:solidFill>
              </a:rPr>
              <a:t>ReleaseGuard</a:t>
            </a:r>
            <a:endParaRPr sz="5600"/>
          </a:p>
        </p:txBody>
      </p:sp>
      <p:sp>
        <p:nvSpPr>
          <p:cNvPr id="7" name="subtitle">
            <a:extLst xmlns:a="http://schemas.openxmlformats.org/drawingml/2006/main">
              <a:ext uri="{FF2B5EF4-FFF2-40B4-BE49-F238E27FC236}">
                <a16:creationId xmlns:a16="http://schemas.microsoft.com/office/drawing/2014/main" id="{084FE2C0-2D2D-4874-B6BA-CA13CDD7E128}"/>
              </a:ext>
            </a:extLst>
          </p:cNvPr>
          <p:cNvSpPr>
            <a:spLocks xmlns:a="http://schemas.openxmlformats.org/drawingml/2006/main" noGrp="1"/>
          </p:cNvSpPr>
          <p:nvPr/>
        </p:nvSpPr>
        <p:spPr>
          <a:xfrm xmlns:a="http://schemas.openxmlformats.org/drawingml/2006/main">
            <a:off x="731520" y="2606040"/>
            <a:ext cx="91440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a:solidFill>
                  <a:srgbClr val="CFE0F7"/>
                </a:solidFill>
              </a:rPr>
              <a:t>Evidence-backed release review for AI-assisted applications</a:t>
            </a:r>
            <a:endParaRPr sz="2400"/>
          </a:p>
        </p:txBody>
      </p:sp>
      <p:sp>
        <p:nvSpPr>
          <p:cNvPr id="8" name="course line">
            <a:extLst xmlns:a="http://schemas.openxmlformats.org/drawingml/2006/main">
              <a:ext uri="{FF2B5EF4-FFF2-40B4-BE49-F238E27FC236}">
                <a16:creationId xmlns:a16="http://schemas.microsoft.com/office/drawing/2014/main" id="{FEEB7CA4-84A7-4949-BDA2-199CBAAB27CD}"/>
              </a:ext>
            </a:extLst>
          </p:cNvPr>
          <p:cNvSpPr>
            <a:spLocks xmlns:a="http://schemas.openxmlformats.org/drawingml/2006/main" noGrp="1"/>
          </p:cNvSpPr>
          <p:nvPr/>
        </p:nvSpPr>
        <p:spPr>
          <a:xfrm xmlns:a="http://schemas.openxmlformats.org/drawingml/2006/main">
            <a:off x="731520" y="3246120"/>
            <a:ext cx="9144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a:solidFill>
                  <a:srgbClr val="FFFFFF"/>
                </a:solidFill>
              </a:rPr>
              <a:t>SE34FT Team 13 · Practice Project, Graduate Certificate in Architecting Scalable Systems</a:t>
            </a:r>
            <a:endParaRPr sz="1600"/>
          </a:p>
        </p:txBody>
      </p:sp>
      <p:sp>
        <p:nvSpPr>
          <p:cNvPr id="9" name="team panel">
            <a:extLst xmlns:a="http://schemas.openxmlformats.org/drawingml/2006/main">
              <a:ext uri="{FF2B5EF4-FFF2-40B4-BE49-F238E27FC236}">
                <a16:creationId xmlns:a16="http://schemas.microsoft.com/office/drawing/2014/main" id="{256A972C-1FED-4146-8D5C-7F6EDB6E4EBF}"/>
              </a:ext>
            </a:extLst>
          </p:cNvPr>
          <p:cNvSpPr>
            <a:spLocks xmlns:a="http://schemas.openxmlformats.org/drawingml/2006/main" noGrp="1"/>
          </p:cNvSpPr>
          <p:nvPr/>
        </p:nvSpPr>
        <p:spPr>
          <a:xfrm xmlns:a="http://schemas.openxmlformats.org/drawingml/2006/main">
            <a:off x="731520" y="4160520"/>
            <a:ext cx="8778240" cy="1234440"/>
          </a:xfrm>
          <a:prstGeom xmlns:a="http://schemas.openxmlformats.org/drawingml/2006/main" prst="roundRect">
            <a:avLst>
              <a:gd name="adj" fmla="val 5926"/>
            </a:avLst>
          </a:prstGeom>
          <a:solidFill xmlns:a="http://schemas.openxmlformats.org/drawingml/2006/main">
            <a:srgbClr val="1C437A"/>
          </a:solidFill>
          <a:ln xmlns:a="http://schemas.openxmlformats.org/drawingml/2006/main" w="12700">
            <a:solidFill>
              <a:srgbClr val="1C437A"/>
            </a:solidFill>
            <a:prstDash val="solid"/>
          </a:ln>
        </p:spPr>
      </p:sp>
      <p:sp>
        <p:nvSpPr>
          <p:cNvPr id="10" name="team names">
            <a:extLst xmlns:a="http://schemas.openxmlformats.org/drawingml/2006/main">
              <a:ext uri="{FF2B5EF4-FFF2-40B4-BE49-F238E27FC236}">
                <a16:creationId xmlns:a16="http://schemas.microsoft.com/office/drawing/2014/main" id="{F082AA38-9D49-41DB-BFC3-1C1A916B0F0C}"/>
              </a:ext>
            </a:extLst>
          </p:cNvPr>
          <p:cNvSpPr>
            <a:spLocks xmlns:a="http://schemas.openxmlformats.org/drawingml/2006/main" noGrp="1"/>
          </p:cNvSpPr>
          <p:nvPr/>
        </p:nvSpPr>
        <p:spPr>
          <a:xfrm xmlns:a="http://schemas.openxmlformats.org/drawingml/2006/main">
            <a:off x="960120" y="4251960"/>
            <a:ext cx="8412480" cy="1051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FFFFF"/>
                </a:solidFill>
              </a:rPr>
              <a:t>TANG YUCHEN · ZHU PENGXU · LIN XINDA · LIAO CAN · LIAO BINFENG</a:t>
            </a:r>
            <a:endParaRPr sz="1700"/>
          </a:p>
          <a:p xmlns:a="http://schemas.openxmlformats.org/drawingml/2006/main">
            <a:pPr marL="0" indent="0">
              <a:buNone/>
            </a:pPr>
            <a:r>
              <a:rPr sz="1500">
                <a:solidFill>
                  <a:srgbClr val="F5B700"/>
                </a:solidFill>
              </a:rPr>
              <a:t>26 October 2026 · 9:45–10:25 · Zoom</a:t>
            </a:r>
            <a:endParaRPr sz="1700"/>
          </a:p>
        </p:txBody>
      </p:sp>
    </p:spTree>
    <p:extLst>
      <p:ext uri="{BB962C8B-B14F-4D97-AF65-F5344CB8AC3E}">
        <p14:creationId xmlns:p14="http://schemas.microsoft.com/office/powerpoint/2010/main" val="134111700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7C4E54B-D08A-4226-8E2C-4FE0A179551A}"/>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A fluent answer can still break the policy</a:t>
            </a:r>
            <a:endParaRPr sz="2800"/>
          </a:p>
        </p:txBody>
      </p:sp>
      <p:sp>
        <p:nvSpPr>
          <p:cNvPr id="3" name="section pill">
            <a:extLst xmlns:a="http://schemas.openxmlformats.org/drawingml/2006/main">
              <a:ext uri="{FF2B5EF4-FFF2-40B4-BE49-F238E27FC236}">
                <a16:creationId xmlns:a16="http://schemas.microsoft.com/office/drawing/2014/main" id="{6C560889-2FD1-408B-9B37-162941995BE4}"/>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02624A84-CDBE-4872-9F5F-E40A8205D849}"/>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1 · Overview</a:t>
            </a:r>
            <a:endParaRPr sz="1200"/>
          </a:p>
        </p:txBody>
      </p:sp>
      <p:sp>
        <p:nvSpPr>
          <p:cNvPr id="5" name="problem text">
            <a:extLst xmlns:a="http://schemas.openxmlformats.org/drawingml/2006/main">
              <a:ext uri="{FF2B5EF4-FFF2-40B4-BE49-F238E27FC236}">
                <a16:creationId xmlns:a16="http://schemas.microsoft.com/office/drawing/2014/main" id="{435295FB-CC38-4B74-A623-22BBB235041B}"/>
              </a:ext>
            </a:extLst>
          </p:cNvPr>
          <p:cNvSpPr>
            <a:spLocks xmlns:a="http://schemas.openxmlformats.org/drawingml/2006/main" noGrp="1"/>
          </p:cNvSpPr>
          <p:nvPr/>
        </p:nvSpPr>
        <p:spPr>
          <a:xfrm xmlns:a="http://schemas.openxmlformats.org/drawingml/2006/main">
            <a:off x="457200" y="1234440"/>
            <a:ext cx="5120640" cy="3291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14325C"/>
                </a:solidFill>
              </a:rPr>
              <a:t>Business problem</a:t>
            </a:r>
            <a:endParaRPr sz="1800"/>
          </a:p>
          <a:p xmlns:a="http://schemas.openxmlformats.org/drawingml/2006/main">
            <a:pPr marL="342900" indent="-342900">
              <a:spcAft>
                <a:spcPts val="800"/>
              </a:spcAft>
              <a:buSzPct val="100000"/>
              <a:buChar char="•"/>
            </a:pPr>
            <a:r>
              <a:rPr sz="1500">
                <a:solidFill>
                  <a:srgbClr val="000000"/>
                </a:solidFill>
              </a:rPr>
              <a:t>Teams change the prompt of an AI support assistant and must re-run the same acceptance cases, keeping exact outputs and review decisions.</a:t>
            </a:r>
            <a:endParaRPr sz="1800"/>
          </a:p>
          <a:p xmlns:a="http://schemas.openxmlformats.org/drawingml/2006/main">
            <a:pPr marL="342900" indent="-342900">
              <a:spcAft>
                <a:spcPts val="800"/>
              </a:spcAft>
              <a:buSzPct val="100000"/>
              <a:buChar char="•"/>
            </a:pPr>
            <a:r>
              <a:rPr sz="1500">
                <a:solidFill>
                  <a:srgbClr val="000000"/>
                </a:solidFill>
              </a:rPr>
              <a:t>Fluent is not compliant: “Returns are accepted forever.” reads well but violates the returns policy.</a:t>
            </a:r>
            <a:endParaRPr sz="1800"/>
          </a:p>
          <a:p xmlns:a="http://schemas.openxmlformats.org/drawingml/2006/main">
            <a:pPr marL="342900" indent="-342900">
              <a:spcAft>
                <a:spcPts val="1600"/>
              </a:spcAft>
              <a:buSzPct val="100000"/>
              <a:buChar char="•"/>
            </a:pPr>
            <a:r>
              <a:rPr sz="1500">
                <a:solidFill>
                  <a:srgbClr val="000000"/>
                </a:solidFill>
              </a:rPr>
              <a:t>Model calls are slow and bursty, so evaluation must run asynchronously and scale out.</a:t>
            </a:r>
            <a:endParaRPr sz="1800"/>
          </a:p>
        </p:txBody>
      </p:sp>
      <p:sp>
        <p:nvSpPr>
          <p:cNvPr id="6" name="scenario card">
            <a:extLst xmlns:a="http://schemas.openxmlformats.org/drawingml/2006/main">
              <a:ext uri="{FF2B5EF4-FFF2-40B4-BE49-F238E27FC236}">
                <a16:creationId xmlns:a16="http://schemas.microsoft.com/office/drawing/2014/main" id="{8B1B8770-A141-4E49-8262-AD841D2E0EB2}"/>
              </a:ext>
            </a:extLst>
          </p:cNvPr>
          <p:cNvSpPr>
            <a:spLocks xmlns:a="http://schemas.openxmlformats.org/drawingml/2006/main" noGrp="1"/>
          </p:cNvSpPr>
          <p:nvPr/>
        </p:nvSpPr>
        <p:spPr>
          <a:xfrm xmlns:a="http://schemas.openxmlformats.org/drawingml/2006/main">
            <a:off x="457200" y="4617720"/>
            <a:ext cx="5120640" cy="1234440"/>
          </a:xfrm>
          <a:prstGeom xmlns:a="http://schemas.openxmlformats.org/drawingml/2006/main" prst="roundRect">
            <a:avLst>
              <a:gd name="adj" fmla="val 5926"/>
            </a:avLst>
          </a:prstGeom>
          <a:solidFill xmlns:a="http://schemas.openxmlformats.org/drawingml/2006/main">
            <a:srgbClr val="FFF3C4"/>
          </a:solidFill>
          <a:ln xmlns:a="http://schemas.openxmlformats.org/drawingml/2006/main" w="12700">
            <a:solidFill>
              <a:srgbClr val="FFF3C4"/>
            </a:solidFill>
            <a:prstDash val="solid"/>
          </a:ln>
        </p:spPr>
      </p:sp>
      <p:sp>
        <p:nvSpPr>
          <p:cNvPr id="7" name="scenario text">
            <a:extLst xmlns:a="http://schemas.openxmlformats.org/drawingml/2006/main">
              <a:ext uri="{FF2B5EF4-FFF2-40B4-BE49-F238E27FC236}">
                <a16:creationId xmlns:a16="http://schemas.microsoft.com/office/drawing/2014/main" id="{25D4A9D0-FD0D-4A8D-A75B-7036A0B2D078}"/>
              </a:ext>
            </a:extLst>
          </p:cNvPr>
          <p:cNvSpPr>
            <a:spLocks xmlns:a="http://schemas.openxmlformats.org/drawingml/2006/main" noGrp="1"/>
          </p:cNvSpPr>
          <p:nvPr/>
        </p:nvSpPr>
        <p:spPr>
          <a:xfrm xmlns:a="http://schemas.openxmlformats.org/drawingml/2006/main">
            <a:off x="640080" y="4681728"/>
            <a:ext cx="47548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325C"/>
                </a:solidFill>
              </a:rPr>
              <a:t>Representative scenario</a:t>
            </a:r>
            <a:endParaRPr sz="1500"/>
          </a:p>
          <a:p xmlns:a="http://schemas.openxmlformats.org/drawingml/2006/main">
            <a:pPr marL="0" indent="0">
              <a:buNone/>
            </a:pPr>
            <a:r>
              <a:rPr sz="1400">
                <a:solidFill>
                  <a:srgbClr val="000000"/>
                </a:solidFill>
              </a:rPr>
              <a:t>A fictional retailer’s returns assistant · 10 fixed cases · prompt v1 vs v2</a:t>
            </a:r>
            <a:endParaRPr sz="1500"/>
          </a:p>
        </p:txBody>
      </p:sp>
      <p:pic>
        <p:nvPicPr>
          <p:cNvPr id="8" name="blocked candidate screenshot">
            <a:extLst xmlns:a="http://schemas.openxmlformats.org/drawingml/2006/main">
              <a:ext uri="{FF2B5EF4-FFF2-40B4-BE49-F238E27FC236}">
                <a16:creationId xmlns:a16="http://schemas.microsoft.com/office/drawing/2014/main" id="{7E015864-4400-401C-9DDA-F628057A9F94}"/>
              </a:ext>
            </a:extLst>
          </p:cNvPr>
          <p:cNvPicPr>
            <a:picLocks xmlns:a="http://schemas.openxmlformats.org/drawingml/2006/main" noChangeAspect="1"/>
          </p:cNvPicPr>
          <p:nvPr/>
        </p:nvPicPr>
        <p:blipFill>
          <a:blip xmlns:r="http://schemas.openxmlformats.org/officeDocument/2006/relationships" xmlns:a="http://schemas.openxmlformats.org/drawingml/2006/main" r:embed="Raf88c7adc3a44a91"/>
          <a:stretch xmlns:a="http://schemas.openxmlformats.org/drawingml/2006/main">
            <a:fillRect l="0" t="0" r="0" b="0"/>
          </a:stretch>
        </p:blipFill>
        <p:spPr>
          <a:xfrm xmlns:a="http://schemas.openxmlformats.org/drawingml/2006/main">
            <a:off x="5943600" y="1280160"/>
            <a:ext cx="5788152" cy="3384597"/>
          </a:xfrm>
          <a:prstGeom xmlns:a="http://schemas.openxmlformats.org/drawingml/2006/main" prst="rect">
            <a:avLst/>
          </a:prstGeom>
        </p:spPr>
      </p:pic>
      <p:sp>
        <p:nvSpPr>
          <p:cNvPr id="9" name="blocked candidate screenshot frame">
            <a:extLst xmlns:a="http://schemas.openxmlformats.org/drawingml/2006/main">
              <a:ext uri="{FF2B5EF4-FFF2-40B4-BE49-F238E27FC236}">
                <a16:creationId xmlns:a16="http://schemas.microsoft.com/office/drawing/2014/main" id="{D00D0C3A-EC41-4EF7-9D2F-52041A8F335A}"/>
              </a:ext>
            </a:extLst>
          </p:cNvPr>
          <p:cNvSpPr>
            <a:spLocks xmlns:a="http://schemas.openxmlformats.org/drawingml/2006/main" noGrp="1"/>
          </p:cNvSpPr>
          <p:nvPr/>
        </p:nvSpPr>
        <p:spPr>
          <a:xfrm xmlns:a="http://schemas.openxmlformats.org/drawingml/2006/main">
            <a:off x="5943600" y="1280160"/>
            <a:ext cx="5788152" cy="3384597"/>
          </a:xfrm>
          <a:prstGeom xmlns:a="http://schemas.openxmlformats.org/drawingml/2006/main" prst="rect">
            <a:avLst/>
          </a:prstGeom>
          <a:ln xmlns:a="http://schemas.openxmlformats.org/drawingml/2006/main" w="12700">
            <a:solidFill>
              <a:srgbClr val="C9D6E8"/>
            </a:solidFill>
            <a:prstDash val="solid"/>
          </a:ln>
        </p:spPr>
      </p:sp>
      <p:sp>
        <p:nvSpPr>
          <p:cNvPr id="10" name="caption">
            <a:extLst xmlns:a="http://schemas.openxmlformats.org/drawingml/2006/main">
              <a:ext uri="{FF2B5EF4-FFF2-40B4-BE49-F238E27FC236}">
                <a16:creationId xmlns:a16="http://schemas.microsoft.com/office/drawing/2014/main" id="{FBA1DD26-5F4F-4242-B4D9-FA9D750D629C}"/>
              </a:ext>
            </a:extLst>
          </p:cNvPr>
          <p:cNvSpPr>
            <a:spLocks xmlns:a="http://schemas.openxmlformats.org/drawingml/2006/main" noGrp="1"/>
          </p:cNvSpPr>
          <p:nvPr/>
        </p:nvSpPr>
        <p:spPr>
          <a:xfrm xmlns:a="http://schemas.openxmlformats.org/drawingml/2006/main">
            <a:off x="5943600" y="4756197"/>
            <a:ext cx="578815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B6472"/>
                </a:solidFill>
              </a:rPr>
              <a:t>Rule score 90, but one critical case fails, so the gate blocks the release</a:t>
            </a:r>
            <a:endParaRPr sz="1200"/>
          </a:p>
        </p:txBody>
      </p:sp>
      <p:sp>
        <p:nvSpPr>
          <p:cNvPr id="25" name="Slide Number Placeholder 0">
            <a:extLst xmlns:a="http://schemas.openxmlformats.org/drawingml/2006/main">
              <a:ext uri="{FF2B5EF4-FFF2-40B4-BE49-F238E27FC236}">
                <a16:creationId xmlns:a16="http://schemas.microsoft.com/office/drawing/2014/main" id="{940C928F-713F-426F-808D-E3E76F908A4E}"/>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2</a:t>
            </a:fld>
            <a:endParaRPr/>
          </a:p>
        </p:txBody>
      </p:sp>
    </p:spTree>
    <p:extLst>
      <p:ext uri="{BB962C8B-B14F-4D97-AF65-F5344CB8AC3E}">
        <p14:creationId xmlns:p14="http://schemas.microsoft.com/office/powerpoint/2010/main" val="150266690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168CB5-A406-43C4-8AEE-4BFEF42350E2}"/>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Platform thinking: producers, seed, consumers</a:t>
            </a:r>
            <a:endParaRPr sz="2800"/>
          </a:p>
        </p:txBody>
      </p:sp>
      <p:sp>
        <p:nvSpPr>
          <p:cNvPr id="3" name="section pill">
            <a:extLst xmlns:a="http://schemas.openxmlformats.org/drawingml/2006/main">
              <a:ext uri="{FF2B5EF4-FFF2-40B4-BE49-F238E27FC236}">
                <a16:creationId xmlns:a16="http://schemas.microsoft.com/office/drawing/2014/main" id="{20F85210-BF2B-436F-913D-9E3F08C71E82}"/>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7CEE81B5-DD49-42F2-80D0-26E615D2891C}"/>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1 · Overview</a:t>
            </a:r>
            <a:endParaRPr sz="1200"/>
          </a:p>
        </p:txBody>
      </p:sp>
      <p:pic>
        <p:nvPicPr>
          <p:cNvPr id="5" name="platform thinking diagram">
            <a:extLst xmlns:a="http://schemas.openxmlformats.org/drawingml/2006/main">
              <a:ext uri="{FF2B5EF4-FFF2-40B4-BE49-F238E27FC236}">
                <a16:creationId xmlns:a16="http://schemas.microsoft.com/office/drawing/2014/main" id="{0E01EA9C-C782-4060-9360-22ED3B3B43E9}"/>
              </a:ext>
            </a:extLst>
          </p:cNvPr>
          <p:cNvPicPr>
            <a:picLocks xmlns:a="http://schemas.openxmlformats.org/drawingml/2006/main" noChangeAspect="1"/>
          </p:cNvPicPr>
          <p:nvPr/>
        </p:nvPicPr>
        <p:blipFill>
          <a:blip xmlns:r="http://schemas.openxmlformats.org/officeDocument/2006/relationships" xmlns:a="http://schemas.openxmlformats.org/drawingml/2006/main" r:embed="R26e0b72096734d4e"/>
          <a:stretch xmlns:a="http://schemas.openxmlformats.org/drawingml/2006/main">
            <a:fillRect l="0" t="0" r="0" b="0"/>
          </a:stretch>
        </p:blipFill>
        <p:spPr>
          <a:xfrm xmlns:a="http://schemas.openxmlformats.org/drawingml/2006/main">
            <a:off x="365760" y="1188720"/>
            <a:ext cx="8412480" cy="4206240"/>
          </a:xfrm>
          <a:prstGeom xmlns:a="http://schemas.openxmlformats.org/drawingml/2006/main" prst="rect">
            <a:avLst/>
          </a:prstGeom>
        </p:spPr>
      </p:pic>
      <p:sp>
        <p:nvSpPr>
          <p:cNvPr id="6" name="in scope card">
            <a:extLst xmlns:a="http://schemas.openxmlformats.org/drawingml/2006/main">
              <a:ext uri="{FF2B5EF4-FFF2-40B4-BE49-F238E27FC236}">
                <a16:creationId xmlns:a16="http://schemas.microsoft.com/office/drawing/2014/main" id="{A5A7C10A-64B6-49D6-BC24-419843F70CFA}"/>
              </a:ext>
            </a:extLst>
          </p:cNvPr>
          <p:cNvSpPr>
            <a:spLocks xmlns:a="http://schemas.openxmlformats.org/drawingml/2006/main" noGrp="1"/>
          </p:cNvSpPr>
          <p:nvPr/>
        </p:nvSpPr>
        <p:spPr>
          <a:xfrm xmlns:a="http://schemas.openxmlformats.org/drawingml/2006/main">
            <a:off x="9006840" y="1325880"/>
            <a:ext cx="2743200" cy="2240280"/>
          </a:xfrm>
          <a:prstGeom xmlns:a="http://schemas.openxmlformats.org/drawingml/2006/main" prst="roundRect">
            <a:avLst>
              <a:gd name="adj" fmla="val 3265"/>
            </a:avLst>
          </a:prstGeom>
          <a:solidFill xmlns:a="http://schemas.openxmlformats.org/drawingml/2006/main">
            <a:srgbClr val="DCE8F7"/>
          </a:solidFill>
          <a:ln xmlns:a="http://schemas.openxmlformats.org/drawingml/2006/main" w="12700">
            <a:solidFill>
              <a:srgbClr val="DCE8F7"/>
            </a:solidFill>
            <a:prstDash val="solid"/>
          </a:ln>
        </p:spPr>
      </p:sp>
      <p:sp>
        <p:nvSpPr>
          <p:cNvPr id="7" name="in scope text">
            <a:extLst xmlns:a="http://schemas.openxmlformats.org/drawingml/2006/main">
              <a:ext uri="{FF2B5EF4-FFF2-40B4-BE49-F238E27FC236}">
                <a16:creationId xmlns:a16="http://schemas.microsoft.com/office/drawing/2014/main" id="{D80C1C59-FF33-486B-AC52-591CC9245508}"/>
              </a:ext>
            </a:extLst>
          </p:cNvPr>
          <p:cNvSpPr>
            <a:spLocks xmlns:a="http://schemas.openxmlformats.org/drawingml/2006/main" noGrp="1"/>
          </p:cNvSpPr>
          <p:nvPr/>
        </p:nvSpPr>
        <p:spPr>
          <a:xfrm xmlns:a="http://schemas.openxmlformats.org/drawingml/2006/main">
            <a:off x="9144000" y="1417320"/>
            <a:ext cx="2514600" cy="2057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4325C"/>
                </a:solidFill>
              </a:rPr>
              <a:t>In scope</a:t>
            </a:r>
            <a:endParaRPr sz="1300"/>
          </a:p>
          <a:p xmlns:a="http://schemas.openxmlformats.org/drawingml/2006/main">
            <a:pPr marL="342900" indent="-342900">
              <a:buSzPct val="100000"/>
              <a:buChar char="•"/>
            </a:pPr>
            <a:r>
              <a:rPr sz="1300">
                <a:solidFill>
                  <a:srgbClr val="000000"/>
                </a:solidFill>
              </a:rPr>
              <a:t>Versioned assets</a:t>
            </a:r>
            <a:endParaRPr sz="1300"/>
          </a:p>
          <a:p xmlns:a="http://schemas.openxmlformats.org/drawingml/2006/main">
            <a:pPr marL="342900" indent="-342900">
              <a:buSzPct val="100000"/>
              <a:buChar char="•"/>
            </a:pPr>
            <a:r>
              <a:rPr sz="1300">
                <a:solidFill>
                  <a:srgbClr val="000000"/>
                </a:solidFill>
              </a:rPr>
              <a:t>Async evaluation + gate</a:t>
            </a:r>
            <a:endParaRPr sz="1300"/>
          </a:p>
          <a:p xmlns:a="http://schemas.openxmlformats.org/drawingml/2006/main">
            <a:pPr marL="342900" indent="-342900">
              <a:buSzPct val="100000"/>
              <a:buChar char="•"/>
            </a:pPr>
            <a:r>
              <a:rPr sz="1300">
                <a:solidFill>
                  <a:srgbClr val="000000"/>
                </a:solidFill>
              </a:rPr>
              <a:t>Independent human review</a:t>
            </a:r>
            <a:endParaRPr sz="1300"/>
          </a:p>
          <a:p xmlns:a="http://schemas.openxmlformats.org/drawingml/2006/main">
            <a:pPr marL="342900" indent="-342900">
              <a:buSzPct val="100000"/>
              <a:buChar char="•"/>
            </a:pPr>
            <a:r>
              <a:rPr sz="1300">
                <a:solidFill>
                  <a:srgbClr val="000000"/>
                </a:solidFill>
              </a:rPr>
              <a:t>Evidence export</a:t>
            </a:r>
            <a:endParaRPr sz="1300"/>
          </a:p>
          <a:p xmlns:a="http://schemas.openxmlformats.org/drawingml/2006/main">
            <a:pPr marL="342900" indent="-342900">
              <a:buSzPct val="100000"/>
              <a:buChar char="•"/>
            </a:pPr>
            <a:r>
              <a:rPr sz="1300">
                <a:solidFill>
                  <a:srgbClr val="000000"/>
                </a:solidFill>
              </a:rPr>
              <a:t>Worker autoscaling</a:t>
            </a:r>
            <a:endParaRPr sz="1300"/>
          </a:p>
        </p:txBody>
      </p:sp>
      <p:sp>
        <p:nvSpPr>
          <p:cNvPr id="8" name="out of scope card">
            <a:extLst xmlns:a="http://schemas.openxmlformats.org/drawingml/2006/main">
              <a:ext uri="{FF2B5EF4-FFF2-40B4-BE49-F238E27FC236}">
                <a16:creationId xmlns:a16="http://schemas.microsoft.com/office/drawing/2014/main" id="{6BFA037A-D2E7-402D-92D7-D1ACD71D310D}"/>
              </a:ext>
            </a:extLst>
          </p:cNvPr>
          <p:cNvSpPr>
            <a:spLocks xmlns:a="http://schemas.openxmlformats.org/drawingml/2006/main" noGrp="1"/>
          </p:cNvSpPr>
          <p:nvPr/>
        </p:nvSpPr>
        <p:spPr>
          <a:xfrm xmlns:a="http://schemas.openxmlformats.org/drawingml/2006/main">
            <a:off x="9006840" y="3749040"/>
            <a:ext cx="2743200" cy="2240280"/>
          </a:xfrm>
          <a:prstGeom xmlns:a="http://schemas.openxmlformats.org/drawingml/2006/main" prst="roundRect">
            <a:avLst>
              <a:gd name="adj" fmla="val 3265"/>
            </a:avLst>
          </a:prstGeom>
          <a:solidFill xmlns:a="http://schemas.openxmlformats.org/drawingml/2006/main">
            <a:srgbClr val="FFF3C4"/>
          </a:solidFill>
          <a:ln xmlns:a="http://schemas.openxmlformats.org/drawingml/2006/main" w="12700">
            <a:solidFill>
              <a:srgbClr val="FFF3C4"/>
            </a:solidFill>
            <a:prstDash val="solid"/>
          </a:ln>
        </p:spPr>
      </p:sp>
      <p:sp>
        <p:nvSpPr>
          <p:cNvPr id="9" name="out of scope text">
            <a:extLst xmlns:a="http://schemas.openxmlformats.org/drawingml/2006/main">
              <a:ext uri="{FF2B5EF4-FFF2-40B4-BE49-F238E27FC236}">
                <a16:creationId xmlns:a16="http://schemas.microsoft.com/office/drawing/2014/main" id="{0C2EE269-6BF7-4459-A767-13000BC912CE}"/>
              </a:ext>
            </a:extLst>
          </p:cNvPr>
          <p:cNvSpPr>
            <a:spLocks xmlns:a="http://schemas.openxmlformats.org/drawingml/2006/main" noGrp="1"/>
          </p:cNvSpPr>
          <p:nvPr/>
        </p:nvSpPr>
        <p:spPr>
          <a:xfrm xmlns:a="http://schemas.openxmlformats.org/drawingml/2006/main">
            <a:off x="9144000" y="3840480"/>
            <a:ext cx="2514600" cy="2057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4325C"/>
                </a:solidFill>
              </a:rPr>
              <a:t>Out of scope</a:t>
            </a:r>
            <a:endParaRPr sz="1300"/>
          </a:p>
          <a:p xmlns:a="http://schemas.openxmlformats.org/drawingml/2006/main">
            <a:pPr marL="342900" indent="-342900">
              <a:buSzPct val="100000"/>
              <a:buChar char="•"/>
            </a:pPr>
            <a:r>
              <a:rPr sz="1300">
                <a:solidFill>
                  <a:srgbClr val="000000"/>
                </a:solidFill>
              </a:rPr>
              <a:t>Model training</a:t>
            </a:r>
            <a:endParaRPr sz="1300"/>
          </a:p>
          <a:p xmlns:a="http://schemas.openxmlformats.org/drawingml/2006/main">
            <a:pPr marL="342900" indent="-342900">
              <a:buSzPct val="100000"/>
              <a:buChar char="•"/>
            </a:pPr>
            <a:r>
              <a:rPr sz="1300">
                <a:solidFill>
                  <a:srgbClr val="000000"/>
                </a:solidFill>
              </a:rPr>
              <a:t>Automatic deployment</a:t>
            </a:r>
            <a:endParaRPr sz="1300"/>
          </a:p>
          <a:p xmlns:a="http://schemas.openxmlformats.org/drawingml/2006/main">
            <a:pPr marL="342900" indent="-342900">
              <a:buSzPct val="100000"/>
              <a:buChar char="•"/>
            </a:pPr>
            <a:r>
              <a:rPr sz="1300">
                <a:solidFill>
                  <a:srgbClr val="000000"/>
                </a:solidFill>
              </a:rPr>
              <a:t>General semantic AI judge</a:t>
            </a:r>
            <a:endParaRPr sz="1300"/>
          </a:p>
          <a:p xmlns:a="http://schemas.openxmlformats.org/drawingml/2006/main">
            <a:pPr marL="342900" indent="-342900">
              <a:buSzPct val="100000"/>
              <a:buChar char="•"/>
            </a:pPr>
            <a:r>
              <a:rPr sz="1300">
                <a:solidFill>
                  <a:srgbClr val="000000"/>
                </a:solidFill>
              </a:rPr>
              <a:t>Multi-region DR</a:t>
            </a:r>
            <a:endParaRPr sz="1300"/>
          </a:p>
          <a:p xmlns:a="http://schemas.openxmlformats.org/drawingml/2006/main">
            <a:pPr marL="342900" indent="-342900">
              <a:buSzPct val="100000"/>
              <a:buChar char="•"/>
            </a:pPr>
            <a:r>
              <a:rPr sz="1300">
                <a:solidFill>
                  <a:srgbClr val="000000"/>
                </a:solidFill>
              </a:rPr>
              <a:t>Real customer data</a:t>
            </a:r>
            <a:endParaRPr sz="1300"/>
          </a:p>
        </p:txBody>
      </p:sp>
      <p:sp>
        <p:nvSpPr>
          <p:cNvPr id="25" name="Slide Number Placeholder 0">
            <a:extLst xmlns:a="http://schemas.openxmlformats.org/drawingml/2006/main">
              <a:ext uri="{FF2B5EF4-FFF2-40B4-BE49-F238E27FC236}">
                <a16:creationId xmlns:a16="http://schemas.microsoft.com/office/drawing/2014/main" id="{8A7DDB7E-5949-45E4-B445-42F9D12CAFF9}"/>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3</a:t>
            </a:fld>
            <a:endParaRPr/>
          </a:p>
        </p:txBody>
      </p:sp>
    </p:spTree>
    <p:extLst>
      <p:ext uri="{BB962C8B-B14F-4D97-AF65-F5344CB8AC3E}">
        <p14:creationId xmlns:p14="http://schemas.microsoft.com/office/powerpoint/2010/main" val="74724030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0454521-B21A-4732-8D5A-054A551A6C84}"/>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Current status and actual milestones</a:t>
            </a:r>
            <a:endParaRPr sz="2800"/>
          </a:p>
        </p:txBody>
      </p:sp>
      <p:sp>
        <p:nvSpPr>
          <p:cNvPr id="3" name="section pill">
            <a:extLst xmlns:a="http://schemas.openxmlformats.org/drawingml/2006/main">
              <a:ext uri="{FF2B5EF4-FFF2-40B4-BE49-F238E27FC236}">
                <a16:creationId xmlns:a16="http://schemas.microsoft.com/office/drawing/2014/main" id="{E0EA8041-EEC2-40FC-9275-23C4E93FDF9E}"/>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DC641878-329F-4DBB-B47F-E172E3501FC1}"/>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2 · Project Conduct</a:t>
            </a:r>
            <a:endParaRPr sz="1200"/>
          </a:p>
        </p:txBody>
      </p:sp>
      <p:sp>
        <p:nvSpPr>
          <p:cNvPr id="5" name="sprint 1 band">
            <a:extLst xmlns:a="http://schemas.openxmlformats.org/drawingml/2006/main">
              <a:ext uri="{FF2B5EF4-FFF2-40B4-BE49-F238E27FC236}">
                <a16:creationId xmlns:a16="http://schemas.microsoft.com/office/drawing/2014/main" id="{8A1D5AA2-EBB7-41C5-82F1-515F980C3052}"/>
              </a:ext>
            </a:extLst>
          </p:cNvPr>
          <p:cNvSpPr>
            <a:spLocks xmlns:a="http://schemas.openxmlformats.org/drawingml/2006/main" noGrp="1"/>
          </p:cNvSpPr>
          <p:nvPr/>
        </p:nvSpPr>
        <p:spPr>
          <a:xfrm xmlns:a="http://schemas.openxmlformats.org/drawingml/2006/main">
            <a:off x="1600200" y="2697480"/>
            <a:ext cx="2468880" cy="329184"/>
          </a:xfrm>
          <a:prstGeom xmlns:a="http://schemas.openxmlformats.org/drawingml/2006/main" prst="roundRect">
            <a:avLst>
              <a:gd name="adj" fmla="val 22222"/>
            </a:avLst>
          </a:prstGeom>
          <a:solidFill xmlns:a="http://schemas.openxmlformats.org/drawingml/2006/main">
            <a:srgbClr val="DCE8F7"/>
          </a:solidFill>
          <a:ln xmlns:a="http://schemas.openxmlformats.org/drawingml/2006/main" w="12700">
            <a:solidFill>
              <a:srgbClr val="DCE8F7"/>
            </a:solidFill>
            <a:prstDash val="solid"/>
          </a:ln>
        </p:spPr>
      </p:sp>
      <p:sp>
        <p:nvSpPr>
          <p:cNvPr id="6" name="sprint 1 label">
            <a:extLst xmlns:a="http://schemas.openxmlformats.org/drawingml/2006/main">
              <a:ext uri="{FF2B5EF4-FFF2-40B4-BE49-F238E27FC236}">
                <a16:creationId xmlns:a16="http://schemas.microsoft.com/office/drawing/2014/main" id="{54A3ED80-A595-4D06-868E-6905E7620C0B}"/>
              </a:ext>
            </a:extLst>
          </p:cNvPr>
          <p:cNvSpPr>
            <a:spLocks xmlns:a="http://schemas.openxmlformats.org/drawingml/2006/main" noGrp="1"/>
          </p:cNvSpPr>
          <p:nvPr/>
        </p:nvSpPr>
        <p:spPr>
          <a:xfrm xmlns:a="http://schemas.openxmlformats.org/drawingml/2006/main">
            <a:off x="1600200" y="2697480"/>
            <a:ext cx="24688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Sprint 1 · 8–13 Oct</a:t>
            </a:r>
            <a:endParaRPr sz="1200"/>
          </a:p>
        </p:txBody>
      </p:sp>
      <p:sp>
        <p:nvSpPr>
          <p:cNvPr id="7" name="sprint 2 band">
            <a:extLst xmlns:a="http://schemas.openxmlformats.org/drawingml/2006/main">
              <a:ext uri="{FF2B5EF4-FFF2-40B4-BE49-F238E27FC236}">
                <a16:creationId xmlns:a16="http://schemas.microsoft.com/office/drawing/2014/main" id="{5542698F-9A99-46D9-835A-0480A624A4A5}"/>
              </a:ext>
            </a:extLst>
          </p:cNvPr>
          <p:cNvSpPr>
            <a:spLocks xmlns:a="http://schemas.openxmlformats.org/drawingml/2006/main" noGrp="1"/>
          </p:cNvSpPr>
          <p:nvPr/>
        </p:nvSpPr>
        <p:spPr>
          <a:xfrm xmlns:a="http://schemas.openxmlformats.org/drawingml/2006/main">
            <a:off x="4160520" y="2697480"/>
            <a:ext cx="3566160" cy="329184"/>
          </a:xfrm>
          <a:prstGeom xmlns:a="http://schemas.openxmlformats.org/drawingml/2006/main" prst="roundRect">
            <a:avLst>
              <a:gd name="adj" fmla="val 22222"/>
            </a:avLst>
          </a:prstGeom>
          <a:solidFill xmlns:a="http://schemas.openxmlformats.org/drawingml/2006/main">
            <a:srgbClr val="C4D8F0"/>
          </a:solidFill>
          <a:ln xmlns:a="http://schemas.openxmlformats.org/drawingml/2006/main" w="12700">
            <a:solidFill>
              <a:srgbClr val="C4D8F0"/>
            </a:solidFill>
            <a:prstDash val="solid"/>
          </a:ln>
        </p:spPr>
      </p:sp>
      <p:sp>
        <p:nvSpPr>
          <p:cNvPr id="8" name="sprint 2 label">
            <a:extLst xmlns:a="http://schemas.openxmlformats.org/drawingml/2006/main">
              <a:ext uri="{FF2B5EF4-FFF2-40B4-BE49-F238E27FC236}">
                <a16:creationId xmlns:a16="http://schemas.microsoft.com/office/drawing/2014/main" id="{61F25800-27C8-49CE-B546-60BE3359DE32}"/>
              </a:ext>
            </a:extLst>
          </p:cNvPr>
          <p:cNvSpPr>
            <a:spLocks xmlns:a="http://schemas.openxmlformats.org/drawingml/2006/main" noGrp="1"/>
          </p:cNvSpPr>
          <p:nvPr/>
        </p:nvSpPr>
        <p:spPr>
          <a:xfrm xmlns:a="http://schemas.openxmlformats.org/drawingml/2006/main">
            <a:off x="4160520" y="2697480"/>
            <a:ext cx="35661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Sprint 2 · 14–20 Oct</a:t>
            </a:r>
            <a:endParaRPr sz="1200"/>
          </a:p>
        </p:txBody>
      </p:sp>
      <p:sp>
        <p:nvSpPr>
          <p:cNvPr id="9" name="timeline axis">
            <a:extLst xmlns:a="http://schemas.openxmlformats.org/drawingml/2006/main">
              <a:ext uri="{FF2B5EF4-FFF2-40B4-BE49-F238E27FC236}">
                <a16:creationId xmlns:a16="http://schemas.microsoft.com/office/drawing/2014/main" id="{BCC659DD-6B49-40DD-B089-4416753174A8}"/>
              </a:ext>
            </a:extLst>
          </p:cNvPr>
          <p:cNvSpPr>
            <a:spLocks xmlns:a="http://schemas.openxmlformats.org/drawingml/2006/main" noGrp="1"/>
          </p:cNvSpPr>
          <p:nvPr/>
        </p:nvSpPr>
        <p:spPr>
          <a:xfrm xmlns:a="http://schemas.openxmlformats.org/drawingml/2006/main">
            <a:off x="731520" y="2514600"/>
            <a:ext cx="10789920" cy="0"/>
          </a:xfrm>
          <a:prstGeom xmlns:a="http://schemas.openxmlformats.org/drawingml/2006/main" prst="line">
            <a:avLst/>
          </a:prstGeom>
          <a:noFill xmlns:a="http://schemas.openxmlformats.org/drawingml/2006/main"/>
          <a:ln xmlns:a="http://schemas.openxmlformats.org/drawingml/2006/main" w="38100">
            <a:solidFill>
              <a:srgbClr val="14325C"/>
            </a:solidFill>
            <a:prstDash val="solid"/>
          </a:ln>
        </p:spPr>
      </p:sp>
      <p:sp>
        <p:nvSpPr>
          <p:cNvPr id="10" name="milestone 6 Oct">
            <a:extLst xmlns:a="http://schemas.openxmlformats.org/drawingml/2006/main">
              <a:ext uri="{FF2B5EF4-FFF2-40B4-BE49-F238E27FC236}">
                <a16:creationId xmlns:a16="http://schemas.microsoft.com/office/drawing/2014/main" id="{8CC318DF-B429-4578-BDD9-DF8E4B3A1CB4}"/>
              </a:ext>
            </a:extLst>
          </p:cNvPr>
          <p:cNvSpPr>
            <a:spLocks xmlns:a="http://schemas.openxmlformats.org/drawingml/2006/main" noGrp="1"/>
          </p:cNvSpPr>
          <p:nvPr/>
        </p:nvSpPr>
        <p:spPr>
          <a:xfrm xmlns:a="http://schemas.openxmlformats.org/drawingml/2006/main">
            <a:off x="877824" y="2386584"/>
            <a:ext cx="256032" cy="256032"/>
          </a:xfrm>
          <a:prstGeom xmlns:a="http://schemas.openxmlformats.org/drawingml/2006/main" prst="ellipse">
            <a:avLst/>
          </a:prstGeom>
          <a:solidFill xmlns:a="http://schemas.openxmlformats.org/drawingml/2006/main">
            <a:srgbClr val="14325C"/>
          </a:solidFill>
          <a:ln xmlns:a="http://schemas.openxmlformats.org/drawingml/2006/main" w="25400">
            <a:solidFill>
              <a:srgbClr val="14325C"/>
            </a:solidFill>
            <a:prstDash val="solid"/>
          </a:ln>
        </p:spPr>
      </p:sp>
      <p:sp>
        <p:nvSpPr>
          <p:cNvPr id="11" name="date 6 Oct">
            <a:extLst xmlns:a="http://schemas.openxmlformats.org/drawingml/2006/main">
              <a:ext uri="{FF2B5EF4-FFF2-40B4-BE49-F238E27FC236}">
                <a16:creationId xmlns:a16="http://schemas.microsoft.com/office/drawing/2014/main" id="{C730A7DF-3733-42FE-88DF-2EFB17FFF037}"/>
              </a:ext>
            </a:extLst>
          </p:cNvPr>
          <p:cNvSpPr>
            <a:spLocks xmlns:a="http://schemas.openxmlformats.org/drawingml/2006/main" noGrp="1"/>
          </p:cNvSpPr>
          <p:nvPr/>
        </p:nvSpPr>
        <p:spPr>
          <a:xfrm xmlns:a="http://schemas.openxmlformats.org/drawingml/2006/main">
            <a:off x="365760" y="1947672"/>
            <a:ext cx="1280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4325C"/>
                </a:solidFill>
              </a:rPr>
              <a:t>6 Oct</a:t>
            </a:r>
            <a:endParaRPr sz="1400"/>
          </a:p>
        </p:txBody>
      </p:sp>
      <p:sp>
        <p:nvSpPr>
          <p:cNvPr id="12" name="event 6 Oct">
            <a:extLst xmlns:a="http://schemas.openxmlformats.org/drawingml/2006/main">
              <a:ext uri="{FF2B5EF4-FFF2-40B4-BE49-F238E27FC236}">
                <a16:creationId xmlns:a16="http://schemas.microsoft.com/office/drawing/2014/main" id="{B2106FBD-3CA5-4533-BC0B-1EA896C3D055}"/>
              </a:ext>
            </a:extLst>
          </p:cNvPr>
          <p:cNvSpPr>
            <a:spLocks xmlns:a="http://schemas.openxmlformats.org/drawingml/2006/main" noGrp="1"/>
          </p:cNvSpPr>
          <p:nvPr/>
        </p:nvSpPr>
        <p:spPr>
          <a:xfrm xmlns:a="http://schemas.openxmlformats.org/drawingml/2006/main">
            <a:off x="384048" y="3154680"/>
            <a:ext cx="124358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1F2937"/>
                </a:solidFill>
              </a:rPr>
              <a:t>Revised proposal</a:t>
            </a:r>
            <a:endParaRPr sz="1150"/>
          </a:p>
        </p:txBody>
      </p:sp>
      <p:sp>
        <p:nvSpPr>
          <p:cNvPr id="13" name="milestone 11 Oct">
            <a:extLst xmlns:a="http://schemas.openxmlformats.org/drawingml/2006/main">
              <a:ext uri="{FF2B5EF4-FFF2-40B4-BE49-F238E27FC236}">
                <a16:creationId xmlns:a16="http://schemas.microsoft.com/office/drawing/2014/main" id="{F67F1D53-F392-435E-A4F0-A4306DB0A80C}"/>
              </a:ext>
            </a:extLst>
          </p:cNvPr>
          <p:cNvSpPr>
            <a:spLocks xmlns:a="http://schemas.openxmlformats.org/drawingml/2006/main" noGrp="1"/>
          </p:cNvSpPr>
          <p:nvPr/>
        </p:nvSpPr>
        <p:spPr>
          <a:xfrm xmlns:a="http://schemas.openxmlformats.org/drawingml/2006/main">
            <a:off x="2112264" y="2386584"/>
            <a:ext cx="256032" cy="256032"/>
          </a:xfrm>
          <a:prstGeom xmlns:a="http://schemas.openxmlformats.org/drawingml/2006/main" prst="ellipse">
            <a:avLst/>
          </a:prstGeom>
          <a:solidFill xmlns:a="http://schemas.openxmlformats.org/drawingml/2006/main">
            <a:srgbClr val="14325C"/>
          </a:solidFill>
          <a:ln xmlns:a="http://schemas.openxmlformats.org/drawingml/2006/main" w="25400">
            <a:solidFill>
              <a:srgbClr val="14325C"/>
            </a:solidFill>
            <a:prstDash val="solid"/>
          </a:ln>
        </p:spPr>
      </p:sp>
      <p:sp>
        <p:nvSpPr>
          <p:cNvPr id="14" name="date 11 Oct">
            <a:extLst xmlns:a="http://schemas.openxmlformats.org/drawingml/2006/main">
              <a:ext uri="{FF2B5EF4-FFF2-40B4-BE49-F238E27FC236}">
                <a16:creationId xmlns:a16="http://schemas.microsoft.com/office/drawing/2014/main" id="{8F95C4D3-26B4-46C1-A17E-C09B3EF8A246}"/>
              </a:ext>
            </a:extLst>
          </p:cNvPr>
          <p:cNvSpPr>
            <a:spLocks xmlns:a="http://schemas.openxmlformats.org/drawingml/2006/main" noGrp="1"/>
          </p:cNvSpPr>
          <p:nvPr/>
        </p:nvSpPr>
        <p:spPr>
          <a:xfrm xmlns:a="http://schemas.openxmlformats.org/drawingml/2006/main">
            <a:off x="1600200" y="1947672"/>
            <a:ext cx="1280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4325C"/>
                </a:solidFill>
              </a:rPr>
              <a:t>11 Oct</a:t>
            </a:r>
            <a:endParaRPr sz="1400"/>
          </a:p>
        </p:txBody>
      </p:sp>
      <p:sp>
        <p:nvSpPr>
          <p:cNvPr id="15" name="event 11 Oct">
            <a:extLst xmlns:a="http://schemas.openxmlformats.org/drawingml/2006/main">
              <a:ext uri="{FF2B5EF4-FFF2-40B4-BE49-F238E27FC236}">
                <a16:creationId xmlns:a16="http://schemas.microsoft.com/office/drawing/2014/main" id="{C7AEEAC7-D359-4CA7-A798-A04E5A47998A}"/>
              </a:ext>
            </a:extLst>
          </p:cNvPr>
          <p:cNvSpPr>
            <a:spLocks xmlns:a="http://schemas.openxmlformats.org/drawingml/2006/main" noGrp="1"/>
          </p:cNvSpPr>
          <p:nvPr/>
        </p:nvSpPr>
        <p:spPr>
          <a:xfrm xmlns:a="http://schemas.openxmlformats.org/drawingml/2006/main">
            <a:off x="1618488" y="3931920"/>
            <a:ext cx="124358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1F2937"/>
                </a:solidFill>
              </a:rPr>
              <a:t>GKE deploy · CI/CD + rollback · 20 real model calls · scaling</a:t>
            </a:r>
            <a:endParaRPr sz="1150"/>
          </a:p>
        </p:txBody>
      </p:sp>
      <p:sp>
        <p:nvSpPr>
          <p:cNvPr id="16" name="milestone 13–14 Oct">
            <a:extLst xmlns:a="http://schemas.openxmlformats.org/drawingml/2006/main">
              <a:ext uri="{FF2B5EF4-FFF2-40B4-BE49-F238E27FC236}">
                <a16:creationId xmlns:a16="http://schemas.microsoft.com/office/drawing/2014/main" id="{34733A52-88D3-4955-A366-80777B86ADFA}"/>
              </a:ext>
            </a:extLst>
          </p:cNvPr>
          <p:cNvSpPr>
            <a:spLocks xmlns:a="http://schemas.openxmlformats.org/drawingml/2006/main" noGrp="1"/>
          </p:cNvSpPr>
          <p:nvPr/>
        </p:nvSpPr>
        <p:spPr>
          <a:xfrm xmlns:a="http://schemas.openxmlformats.org/drawingml/2006/main">
            <a:off x="3346704" y="2386584"/>
            <a:ext cx="256032" cy="256032"/>
          </a:xfrm>
          <a:prstGeom xmlns:a="http://schemas.openxmlformats.org/drawingml/2006/main" prst="ellipse">
            <a:avLst/>
          </a:prstGeom>
          <a:solidFill xmlns:a="http://schemas.openxmlformats.org/drawingml/2006/main">
            <a:srgbClr val="14325C"/>
          </a:solidFill>
          <a:ln xmlns:a="http://schemas.openxmlformats.org/drawingml/2006/main" w="25400">
            <a:solidFill>
              <a:srgbClr val="14325C"/>
            </a:solidFill>
            <a:prstDash val="solid"/>
          </a:ln>
        </p:spPr>
      </p:sp>
      <p:sp>
        <p:nvSpPr>
          <p:cNvPr id="17" name="date 13–14 Oct">
            <a:extLst xmlns:a="http://schemas.openxmlformats.org/drawingml/2006/main">
              <a:ext uri="{FF2B5EF4-FFF2-40B4-BE49-F238E27FC236}">
                <a16:creationId xmlns:a16="http://schemas.microsoft.com/office/drawing/2014/main" id="{BE5AD21E-DD44-4438-933A-4B2B75CED439}"/>
              </a:ext>
            </a:extLst>
          </p:cNvPr>
          <p:cNvSpPr>
            <a:spLocks xmlns:a="http://schemas.openxmlformats.org/drawingml/2006/main" noGrp="1"/>
          </p:cNvSpPr>
          <p:nvPr/>
        </p:nvSpPr>
        <p:spPr>
          <a:xfrm xmlns:a="http://schemas.openxmlformats.org/drawingml/2006/main">
            <a:off x="2834640" y="1947672"/>
            <a:ext cx="1280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4325C"/>
                </a:solidFill>
              </a:rPr>
              <a:t>13–14 Oct</a:t>
            </a:r>
            <a:endParaRPr sz="1400"/>
          </a:p>
        </p:txBody>
      </p:sp>
      <p:sp>
        <p:nvSpPr>
          <p:cNvPr id="18" name="event 13–14 Oct">
            <a:extLst xmlns:a="http://schemas.openxmlformats.org/drawingml/2006/main">
              <a:ext uri="{FF2B5EF4-FFF2-40B4-BE49-F238E27FC236}">
                <a16:creationId xmlns:a16="http://schemas.microsoft.com/office/drawing/2014/main" id="{489CB1B3-50A5-4ECB-A426-693BC76E6544}"/>
              </a:ext>
            </a:extLst>
          </p:cNvPr>
          <p:cNvSpPr>
            <a:spLocks xmlns:a="http://schemas.openxmlformats.org/drawingml/2006/main" noGrp="1"/>
          </p:cNvSpPr>
          <p:nvPr/>
        </p:nvSpPr>
        <p:spPr>
          <a:xfrm xmlns:a="http://schemas.openxmlformats.org/drawingml/2006/main">
            <a:off x="2852928" y="3154680"/>
            <a:ext cx="124358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1F2937"/>
                </a:solidFill>
              </a:rPr>
              <a:t>25-item UAT · PR #4 UI fixes</a:t>
            </a:r>
            <a:endParaRPr sz="1150"/>
          </a:p>
        </p:txBody>
      </p:sp>
      <p:sp>
        <p:nvSpPr>
          <p:cNvPr id="19" name="milestone 15 Oct">
            <a:extLst xmlns:a="http://schemas.openxmlformats.org/drawingml/2006/main">
              <a:ext uri="{FF2B5EF4-FFF2-40B4-BE49-F238E27FC236}">
                <a16:creationId xmlns:a16="http://schemas.microsoft.com/office/drawing/2014/main" id="{BB58958A-5EB4-45D6-9DAE-34F5C492B7C2}"/>
              </a:ext>
            </a:extLst>
          </p:cNvPr>
          <p:cNvSpPr>
            <a:spLocks xmlns:a="http://schemas.openxmlformats.org/drawingml/2006/main" noGrp="1"/>
          </p:cNvSpPr>
          <p:nvPr/>
        </p:nvSpPr>
        <p:spPr>
          <a:xfrm xmlns:a="http://schemas.openxmlformats.org/drawingml/2006/main">
            <a:off x="4581144" y="2386584"/>
            <a:ext cx="256032" cy="256032"/>
          </a:xfrm>
          <a:prstGeom xmlns:a="http://schemas.openxmlformats.org/drawingml/2006/main" prst="ellipse">
            <a:avLst/>
          </a:prstGeom>
          <a:solidFill xmlns:a="http://schemas.openxmlformats.org/drawingml/2006/main">
            <a:srgbClr val="14325C"/>
          </a:solidFill>
          <a:ln xmlns:a="http://schemas.openxmlformats.org/drawingml/2006/main" w="25400">
            <a:solidFill>
              <a:srgbClr val="14325C"/>
            </a:solidFill>
            <a:prstDash val="solid"/>
          </a:ln>
        </p:spPr>
      </p:sp>
      <p:sp>
        <p:nvSpPr>
          <p:cNvPr id="20" name="date 15 Oct">
            <a:extLst xmlns:a="http://schemas.openxmlformats.org/drawingml/2006/main">
              <a:ext uri="{FF2B5EF4-FFF2-40B4-BE49-F238E27FC236}">
                <a16:creationId xmlns:a16="http://schemas.microsoft.com/office/drawing/2014/main" id="{EA198106-427E-491D-867B-B17E967AFC2D}"/>
              </a:ext>
            </a:extLst>
          </p:cNvPr>
          <p:cNvSpPr>
            <a:spLocks xmlns:a="http://schemas.openxmlformats.org/drawingml/2006/main" noGrp="1"/>
          </p:cNvSpPr>
          <p:nvPr/>
        </p:nvSpPr>
        <p:spPr>
          <a:xfrm xmlns:a="http://schemas.openxmlformats.org/drawingml/2006/main">
            <a:off x="4069080" y="1947672"/>
            <a:ext cx="1280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4325C"/>
                </a:solidFill>
              </a:rPr>
              <a:t>15 Oct</a:t>
            </a:r>
            <a:endParaRPr sz="1400"/>
          </a:p>
        </p:txBody>
      </p:sp>
      <p:sp>
        <p:nvSpPr>
          <p:cNvPr id="21" name="event 15 Oct">
            <a:extLst xmlns:a="http://schemas.openxmlformats.org/drawingml/2006/main">
              <a:ext uri="{FF2B5EF4-FFF2-40B4-BE49-F238E27FC236}">
                <a16:creationId xmlns:a16="http://schemas.microsoft.com/office/drawing/2014/main" id="{438BBCF8-1592-486F-850F-FB335E5271E5}"/>
              </a:ext>
            </a:extLst>
          </p:cNvPr>
          <p:cNvSpPr>
            <a:spLocks xmlns:a="http://schemas.openxmlformats.org/drawingml/2006/main" noGrp="1"/>
          </p:cNvSpPr>
          <p:nvPr/>
        </p:nvSpPr>
        <p:spPr>
          <a:xfrm xmlns:a="http://schemas.openxmlformats.org/drawingml/2006/main">
            <a:off x="4087368" y="3931920"/>
            <a:ext cx="124358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1F2937"/>
                </a:solidFill>
              </a:rPr>
              <a:t>Acceptance rules + lineage (PR #3)</a:t>
            </a:r>
            <a:endParaRPr sz="1150"/>
          </a:p>
        </p:txBody>
      </p:sp>
      <p:sp>
        <p:nvSpPr>
          <p:cNvPr id="22" name="milestone 16–19 Oct">
            <a:extLst xmlns:a="http://schemas.openxmlformats.org/drawingml/2006/main">
              <a:ext uri="{FF2B5EF4-FFF2-40B4-BE49-F238E27FC236}">
                <a16:creationId xmlns:a16="http://schemas.microsoft.com/office/drawing/2014/main" id="{F0FB2088-F8F7-4E98-A822-33C0FA6789DA}"/>
              </a:ext>
            </a:extLst>
          </p:cNvPr>
          <p:cNvSpPr>
            <a:spLocks xmlns:a="http://schemas.openxmlformats.org/drawingml/2006/main" noGrp="1"/>
          </p:cNvSpPr>
          <p:nvPr/>
        </p:nvSpPr>
        <p:spPr>
          <a:xfrm xmlns:a="http://schemas.openxmlformats.org/drawingml/2006/main">
            <a:off x="5815584" y="2386584"/>
            <a:ext cx="256032" cy="256032"/>
          </a:xfrm>
          <a:prstGeom xmlns:a="http://schemas.openxmlformats.org/drawingml/2006/main" prst="ellipse">
            <a:avLst/>
          </a:prstGeom>
          <a:solidFill xmlns:a="http://schemas.openxmlformats.org/drawingml/2006/main">
            <a:srgbClr val="14325C"/>
          </a:solidFill>
          <a:ln xmlns:a="http://schemas.openxmlformats.org/drawingml/2006/main" w="25400">
            <a:solidFill>
              <a:srgbClr val="14325C"/>
            </a:solidFill>
            <a:prstDash val="solid"/>
          </a:ln>
        </p:spPr>
      </p:sp>
      <p:sp>
        <p:nvSpPr>
          <p:cNvPr id="23" name="date 16–19 Oct">
            <a:extLst xmlns:a="http://schemas.openxmlformats.org/drawingml/2006/main">
              <a:ext uri="{FF2B5EF4-FFF2-40B4-BE49-F238E27FC236}">
                <a16:creationId xmlns:a16="http://schemas.microsoft.com/office/drawing/2014/main" id="{6CA19512-27A8-4AFF-A631-9310562A8D3D}"/>
              </a:ext>
            </a:extLst>
          </p:cNvPr>
          <p:cNvSpPr>
            <a:spLocks xmlns:a="http://schemas.openxmlformats.org/drawingml/2006/main" noGrp="1"/>
          </p:cNvSpPr>
          <p:nvPr/>
        </p:nvSpPr>
        <p:spPr>
          <a:xfrm xmlns:a="http://schemas.openxmlformats.org/drawingml/2006/main">
            <a:off x="5303520" y="1947672"/>
            <a:ext cx="1280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4325C"/>
                </a:solidFill>
              </a:rPr>
              <a:t>16–19 Oct</a:t>
            </a:r>
            <a:endParaRPr sz="1400"/>
          </a:p>
        </p:txBody>
      </p:sp>
      <p:sp>
        <p:nvSpPr>
          <p:cNvPr id="24" name="event 16–19 Oct">
            <a:extLst xmlns:a="http://schemas.openxmlformats.org/drawingml/2006/main">
              <a:ext uri="{FF2B5EF4-FFF2-40B4-BE49-F238E27FC236}">
                <a16:creationId xmlns:a16="http://schemas.microsoft.com/office/drawing/2014/main" id="{FC9C14E0-D22B-438F-B97A-90CAF9BEACB6}"/>
              </a:ext>
            </a:extLst>
          </p:cNvPr>
          <p:cNvSpPr>
            <a:spLocks xmlns:a="http://schemas.openxmlformats.org/drawingml/2006/main" noGrp="1"/>
          </p:cNvSpPr>
          <p:nvPr/>
        </p:nvSpPr>
        <p:spPr>
          <a:xfrm xmlns:a="http://schemas.openxmlformats.org/drawingml/2006/main">
            <a:off x="5321808" y="3154680"/>
            <a:ext cx="124358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1F2937"/>
                </a:solidFill>
              </a:rPr>
              <a:t>Model runs v6–v17 · reviewer v3</a:t>
            </a:r>
            <a:endParaRPr sz="1150"/>
          </a:p>
        </p:txBody>
      </p:sp>
      <p:sp>
        <p:nvSpPr>
          <p:cNvPr id="25" name="milestone 19 Oct">
            <a:extLst xmlns:a="http://schemas.openxmlformats.org/drawingml/2006/main">
              <a:ext uri="{FF2B5EF4-FFF2-40B4-BE49-F238E27FC236}">
                <a16:creationId xmlns:a16="http://schemas.microsoft.com/office/drawing/2014/main" id="{8412C3DA-C446-4DB0-8878-6E4874632E1D}"/>
              </a:ext>
            </a:extLst>
          </p:cNvPr>
          <p:cNvSpPr>
            <a:spLocks xmlns:a="http://schemas.openxmlformats.org/drawingml/2006/main" noGrp="1"/>
          </p:cNvSpPr>
          <p:nvPr/>
        </p:nvSpPr>
        <p:spPr>
          <a:xfrm xmlns:a="http://schemas.openxmlformats.org/drawingml/2006/main">
            <a:off x="7050024" y="2386584"/>
            <a:ext cx="256032" cy="256032"/>
          </a:xfrm>
          <a:prstGeom xmlns:a="http://schemas.openxmlformats.org/drawingml/2006/main" prst="ellipse">
            <a:avLst/>
          </a:prstGeom>
          <a:solidFill xmlns:a="http://schemas.openxmlformats.org/drawingml/2006/main">
            <a:srgbClr val="14325C"/>
          </a:solidFill>
          <a:ln xmlns:a="http://schemas.openxmlformats.org/drawingml/2006/main" w="25400">
            <a:solidFill>
              <a:srgbClr val="14325C"/>
            </a:solidFill>
            <a:prstDash val="solid"/>
          </a:ln>
        </p:spPr>
      </p:sp>
      <p:sp>
        <p:nvSpPr>
          <p:cNvPr id="26" name="date 19 Oct">
            <a:extLst xmlns:a="http://schemas.openxmlformats.org/drawingml/2006/main">
              <a:ext uri="{FF2B5EF4-FFF2-40B4-BE49-F238E27FC236}">
                <a16:creationId xmlns:a16="http://schemas.microsoft.com/office/drawing/2014/main" id="{8C40D557-39FE-4B67-8E97-6E69D4A996EA}"/>
              </a:ext>
            </a:extLst>
          </p:cNvPr>
          <p:cNvSpPr>
            <a:spLocks xmlns:a="http://schemas.openxmlformats.org/drawingml/2006/main" noGrp="1"/>
          </p:cNvSpPr>
          <p:nvPr/>
        </p:nvSpPr>
        <p:spPr>
          <a:xfrm xmlns:a="http://schemas.openxmlformats.org/drawingml/2006/main">
            <a:off x="6537960" y="1947672"/>
            <a:ext cx="1280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4325C"/>
                </a:solidFill>
              </a:rPr>
              <a:t>19 Oct</a:t>
            </a:r>
            <a:endParaRPr sz="1400"/>
          </a:p>
        </p:txBody>
      </p:sp>
      <p:sp>
        <p:nvSpPr>
          <p:cNvPr id="27" name="event 19 Oct">
            <a:extLst xmlns:a="http://schemas.openxmlformats.org/drawingml/2006/main">
              <a:ext uri="{FF2B5EF4-FFF2-40B4-BE49-F238E27FC236}">
                <a16:creationId xmlns:a16="http://schemas.microsoft.com/office/drawing/2014/main" id="{F596D036-88DE-49E8-A60B-6E7AB3D2B375}"/>
              </a:ext>
            </a:extLst>
          </p:cNvPr>
          <p:cNvSpPr>
            <a:spLocks xmlns:a="http://schemas.openxmlformats.org/drawingml/2006/main" noGrp="1"/>
          </p:cNvSpPr>
          <p:nvPr/>
        </p:nvSpPr>
        <p:spPr>
          <a:xfrm xmlns:a="http://schemas.openxmlformats.org/drawingml/2006/main">
            <a:off x="6556248" y="3931920"/>
            <a:ext cx="124358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1F2937"/>
                </a:solidFill>
              </a:rPr>
              <a:t>Handoff freeze · clean-checkout check</a:t>
            </a:r>
            <a:endParaRPr sz="1150"/>
          </a:p>
        </p:txBody>
      </p:sp>
      <p:sp>
        <p:nvSpPr>
          <p:cNvPr id="28" name="milestone 21 Oct">
            <a:extLst xmlns:a="http://schemas.openxmlformats.org/drawingml/2006/main">
              <a:ext uri="{FF2B5EF4-FFF2-40B4-BE49-F238E27FC236}">
                <a16:creationId xmlns:a16="http://schemas.microsoft.com/office/drawing/2014/main" id="{F8210316-5957-44D3-A3F7-0400BAC248EE}"/>
              </a:ext>
            </a:extLst>
          </p:cNvPr>
          <p:cNvSpPr>
            <a:spLocks xmlns:a="http://schemas.openxmlformats.org/drawingml/2006/main" noGrp="1"/>
          </p:cNvSpPr>
          <p:nvPr/>
        </p:nvSpPr>
        <p:spPr>
          <a:xfrm xmlns:a="http://schemas.openxmlformats.org/drawingml/2006/main">
            <a:off x="8284464" y="2386584"/>
            <a:ext cx="256032" cy="256032"/>
          </a:xfrm>
          <a:prstGeom xmlns:a="http://schemas.openxmlformats.org/drawingml/2006/main" prst="ellipse">
            <a:avLst/>
          </a:prstGeom>
          <a:solidFill xmlns:a="http://schemas.openxmlformats.org/drawingml/2006/main">
            <a:srgbClr val="F5B700"/>
          </a:solidFill>
          <a:ln xmlns:a="http://schemas.openxmlformats.org/drawingml/2006/main" w="25400">
            <a:solidFill>
              <a:srgbClr val="E3A600"/>
            </a:solidFill>
            <a:prstDash val="solid"/>
          </a:ln>
        </p:spPr>
      </p:sp>
      <p:sp>
        <p:nvSpPr>
          <p:cNvPr id="29" name="date 21 Oct">
            <a:extLst xmlns:a="http://schemas.openxmlformats.org/drawingml/2006/main">
              <a:ext uri="{FF2B5EF4-FFF2-40B4-BE49-F238E27FC236}">
                <a16:creationId xmlns:a16="http://schemas.microsoft.com/office/drawing/2014/main" id="{F38DDD7A-678E-4244-A127-51B90184F750}"/>
              </a:ext>
            </a:extLst>
          </p:cNvPr>
          <p:cNvSpPr>
            <a:spLocks xmlns:a="http://schemas.openxmlformats.org/drawingml/2006/main" noGrp="1"/>
          </p:cNvSpPr>
          <p:nvPr/>
        </p:nvSpPr>
        <p:spPr>
          <a:xfrm xmlns:a="http://schemas.openxmlformats.org/drawingml/2006/main">
            <a:off x="7772400" y="1947672"/>
            <a:ext cx="1280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E3A600"/>
                </a:solidFill>
              </a:rPr>
              <a:t>21–23 Oct</a:t>
            </a:r>
            <a:endParaRPr sz="1400"/>
          </a:p>
        </p:txBody>
      </p:sp>
      <p:sp>
        <p:nvSpPr>
          <p:cNvPr id="30" name="event 21 Oct">
            <a:extLst xmlns:a="http://schemas.openxmlformats.org/drawingml/2006/main">
              <a:ext uri="{FF2B5EF4-FFF2-40B4-BE49-F238E27FC236}">
                <a16:creationId xmlns:a16="http://schemas.microsoft.com/office/drawing/2014/main" id="{53C94B66-A0FD-4AF5-8CA8-AF084845F501}"/>
              </a:ext>
            </a:extLst>
          </p:cNvPr>
          <p:cNvSpPr>
            <a:spLocks xmlns:a="http://schemas.openxmlformats.org/drawingml/2006/main" noGrp="1"/>
          </p:cNvSpPr>
          <p:nvPr/>
        </p:nvSpPr>
        <p:spPr>
          <a:xfrm xmlns:a="http://schemas.openxmlformats.org/drawingml/2006/main">
            <a:off x="7790688" y="3154680"/>
            <a:ext cx="124358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1F2937"/>
                </a:solidFill>
              </a:rPr>
              <a:t>Local resilience · replay rehearsal · personal roles</a:t>
            </a:r>
            <a:endParaRPr sz="1150"/>
          </a:p>
        </p:txBody>
      </p:sp>
      <p:sp>
        <p:nvSpPr>
          <p:cNvPr id="31" name="milestone 26 Oct">
            <a:extLst xmlns:a="http://schemas.openxmlformats.org/drawingml/2006/main">
              <a:ext uri="{FF2B5EF4-FFF2-40B4-BE49-F238E27FC236}">
                <a16:creationId xmlns:a16="http://schemas.microsoft.com/office/drawing/2014/main" id="{06CA4676-CDE5-4E46-B207-72505DAA8E69}"/>
              </a:ext>
            </a:extLst>
          </p:cNvPr>
          <p:cNvSpPr>
            <a:spLocks xmlns:a="http://schemas.openxmlformats.org/drawingml/2006/main" noGrp="1"/>
          </p:cNvSpPr>
          <p:nvPr/>
        </p:nvSpPr>
        <p:spPr>
          <a:xfrm xmlns:a="http://schemas.openxmlformats.org/drawingml/2006/main">
            <a:off x="9564624" y="2386584"/>
            <a:ext cx="256032" cy="256032"/>
          </a:xfrm>
          <a:prstGeom xmlns:a="http://schemas.openxmlformats.org/drawingml/2006/main" prst="ellipse">
            <a:avLst/>
          </a:prstGeom>
          <a:solidFill xmlns:a="http://schemas.openxmlformats.org/drawingml/2006/main">
            <a:srgbClr val="FFFFFF"/>
          </a:solidFill>
          <a:ln xmlns:a="http://schemas.openxmlformats.org/drawingml/2006/main" w="38100">
            <a:solidFill>
              <a:srgbClr val="E3A600"/>
            </a:solidFill>
            <a:prstDash val="solid"/>
          </a:ln>
        </p:spPr>
      </p:sp>
      <p:sp>
        <p:nvSpPr>
          <p:cNvPr id="32" name="date 26 Oct">
            <a:extLst xmlns:a="http://schemas.openxmlformats.org/drawingml/2006/main">
              <a:ext uri="{FF2B5EF4-FFF2-40B4-BE49-F238E27FC236}">
                <a16:creationId xmlns:a16="http://schemas.microsoft.com/office/drawing/2014/main" id="{B8DDE1FE-33A2-433E-AFE1-30018B92CAC6}"/>
              </a:ext>
            </a:extLst>
          </p:cNvPr>
          <p:cNvSpPr>
            <a:spLocks xmlns:a="http://schemas.openxmlformats.org/drawingml/2006/main" noGrp="1"/>
          </p:cNvSpPr>
          <p:nvPr/>
        </p:nvSpPr>
        <p:spPr>
          <a:xfrm xmlns:a="http://schemas.openxmlformats.org/drawingml/2006/main">
            <a:off x="9052560" y="1947672"/>
            <a:ext cx="1280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E3A600"/>
                </a:solidFill>
              </a:rPr>
              <a:t>26 Oct</a:t>
            </a:r>
            <a:endParaRPr sz="1400"/>
          </a:p>
        </p:txBody>
      </p:sp>
      <p:sp>
        <p:nvSpPr>
          <p:cNvPr id="33" name="event 26 Oct">
            <a:extLst xmlns:a="http://schemas.openxmlformats.org/drawingml/2006/main">
              <a:ext uri="{FF2B5EF4-FFF2-40B4-BE49-F238E27FC236}">
                <a16:creationId xmlns:a16="http://schemas.microsoft.com/office/drawing/2014/main" id="{06048B01-A755-47E1-99F7-2E7873AF06C9}"/>
              </a:ext>
            </a:extLst>
          </p:cNvPr>
          <p:cNvSpPr>
            <a:spLocks xmlns:a="http://schemas.openxmlformats.org/drawingml/2006/main" noGrp="1"/>
          </p:cNvSpPr>
          <p:nvPr/>
        </p:nvSpPr>
        <p:spPr>
          <a:xfrm xmlns:a="http://schemas.openxmlformats.org/drawingml/2006/main">
            <a:off x="9070848" y="3931920"/>
            <a:ext cx="124358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1F2937"/>
                </a:solidFill>
              </a:rPr>
              <a:t>Presentation</a:t>
            </a:r>
            <a:endParaRPr sz="1150"/>
          </a:p>
        </p:txBody>
      </p:sp>
      <p:sp>
        <p:nvSpPr>
          <p:cNvPr id="34" name="milestone 16 Nov">
            <a:extLst xmlns:a="http://schemas.openxmlformats.org/drawingml/2006/main">
              <a:ext uri="{FF2B5EF4-FFF2-40B4-BE49-F238E27FC236}">
                <a16:creationId xmlns:a16="http://schemas.microsoft.com/office/drawing/2014/main" id="{4C3DE04D-9F2A-42BD-B4CF-7493966BC994}"/>
              </a:ext>
            </a:extLst>
          </p:cNvPr>
          <p:cNvSpPr>
            <a:spLocks xmlns:a="http://schemas.openxmlformats.org/drawingml/2006/main" noGrp="1"/>
          </p:cNvSpPr>
          <p:nvPr/>
        </p:nvSpPr>
        <p:spPr>
          <a:xfrm xmlns:a="http://schemas.openxmlformats.org/drawingml/2006/main">
            <a:off x="10844784" y="2386584"/>
            <a:ext cx="256032" cy="256032"/>
          </a:xfrm>
          <a:prstGeom xmlns:a="http://schemas.openxmlformats.org/drawingml/2006/main" prst="ellipse">
            <a:avLst/>
          </a:prstGeom>
          <a:solidFill xmlns:a="http://schemas.openxmlformats.org/drawingml/2006/main">
            <a:srgbClr val="FFFFFF"/>
          </a:solidFill>
          <a:ln xmlns:a="http://schemas.openxmlformats.org/drawingml/2006/main" w="25400">
            <a:solidFill>
              <a:srgbClr val="A6B0C0"/>
            </a:solidFill>
            <a:prstDash val="solid"/>
          </a:ln>
        </p:spPr>
      </p:sp>
      <p:sp>
        <p:nvSpPr>
          <p:cNvPr id="35" name="date 16 Nov">
            <a:extLst xmlns:a="http://schemas.openxmlformats.org/drawingml/2006/main">
              <a:ext uri="{FF2B5EF4-FFF2-40B4-BE49-F238E27FC236}">
                <a16:creationId xmlns:a16="http://schemas.microsoft.com/office/drawing/2014/main" id="{50A63E9B-0819-44C8-B353-DD6E86C976E6}"/>
              </a:ext>
            </a:extLst>
          </p:cNvPr>
          <p:cNvSpPr>
            <a:spLocks xmlns:a="http://schemas.openxmlformats.org/drawingml/2006/main" noGrp="1"/>
          </p:cNvSpPr>
          <p:nvPr/>
        </p:nvSpPr>
        <p:spPr>
          <a:xfrm xmlns:a="http://schemas.openxmlformats.org/drawingml/2006/main">
            <a:off x="10332720" y="1947672"/>
            <a:ext cx="1280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4325C"/>
                </a:solidFill>
              </a:rPr>
              <a:t>16 Nov</a:t>
            </a:r>
            <a:endParaRPr sz="1400"/>
          </a:p>
        </p:txBody>
      </p:sp>
      <p:sp>
        <p:nvSpPr>
          <p:cNvPr id="36" name="event 16 Nov">
            <a:extLst xmlns:a="http://schemas.openxmlformats.org/drawingml/2006/main">
              <a:ext uri="{FF2B5EF4-FFF2-40B4-BE49-F238E27FC236}">
                <a16:creationId xmlns:a16="http://schemas.microsoft.com/office/drawing/2014/main" id="{04FCA52E-19AB-481B-9F59-E3FEF0C36C3D}"/>
              </a:ext>
            </a:extLst>
          </p:cNvPr>
          <p:cNvSpPr>
            <a:spLocks xmlns:a="http://schemas.openxmlformats.org/drawingml/2006/main" noGrp="1"/>
          </p:cNvSpPr>
          <p:nvPr/>
        </p:nvSpPr>
        <p:spPr>
          <a:xfrm xmlns:a="http://schemas.openxmlformats.org/drawingml/2006/main">
            <a:off x="10351008" y="3154680"/>
            <a:ext cx="1243584"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50">
                <a:solidFill>
                  <a:srgbClr val="1F2937"/>
                </a:solidFill>
              </a:rPr>
              <a:t>Final report</a:t>
            </a:r>
            <a:endParaRPr sz="1150"/>
          </a:p>
        </p:txBody>
      </p:sp>
      <p:sp>
        <p:nvSpPr>
          <p:cNvPr id="37" name="timeline note">
            <a:extLst xmlns:a="http://schemas.openxmlformats.org/drawingml/2006/main">
              <a:ext uri="{FF2B5EF4-FFF2-40B4-BE49-F238E27FC236}">
                <a16:creationId xmlns:a16="http://schemas.microsoft.com/office/drawing/2014/main" id="{4534391A-423A-45B1-925E-2F2D47DBEFB2}"/>
              </a:ext>
            </a:extLst>
          </p:cNvPr>
          <p:cNvSpPr>
            <a:spLocks xmlns:a="http://schemas.openxmlformats.org/drawingml/2006/main" noGrp="1"/>
          </p:cNvSpPr>
          <p:nvPr/>
        </p:nvSpPr>
        <p:spPr>
          <a:xfrm xmlns:a="http://schemas.openxmlformats.org/drawingml/2006/main">
            <a:off x="457200" y="11887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B6472"/>
                </a:solidFill>
              </a:rPr>
              <a:t>Course schedule V2.8: Team 13 at 9:45 on 26 Oct · 40 minutes including questions</a:t>
            </a:r>
            <a:endParaRPr sz="1200"/>
          </a:p>
        </p:txBody>
      </p:sp>
      <p:sp>
        <p:nvSpPr>
          <p:cNvPr id="38" name="status Done">
            <a:extLst xmlns:a="http://schemas.openxmlformats.org/drawingml/2006/main">
              <a:ext uri="{FF2B5EF4-FFF2-40B4-BE49-F238E27FC236}">
                <a16:creationId xmlns:a16="http://schemas.microsoft.com/office/drawing/2014/main" id="{78AB1EE0-643B-4F25-9FD2-29CB9EE95CC0}"/>
              </a:ext>
            </a:extLst>
          </p:cNvPr>
          <p:cNvSpPr>
            <a:spLocks xmlns:a="http://schemas.openxmlformats.org/drawingml/2006/main" noGrp="1"/>
          </p:cNvSpPr>
          <p:nvPr/>
        </p:nvSpPr>
        <p:spPr>
          <a:xfrm xmlns:a="http://schemas.openxmlformats.org/drawingml/2006/main">
            <a:off x="457200" y="4754880"/>
            <a:ext cx="3639312" cy="1463040"/>
          </a:xfrm>
          <a:prstGeom xmlns:a="http://schemas.openxmlformats.org/drawingml/2006/main" prst="roundRect">
            <a:avLst>
              <a:gd name="adj" fmla="val 5000"/>
            </a:avLst>
          </a:prstGeom>
          <a:solidFill xmlns:a="http://schemas.openxmlformats.org/drawingml/2006/main">
            <a:srgbClr val="E6F0FB"/>
          </a:solidFill>
          <a:ln xmlns:a="http://schemas.openxmlformats.org/drawingml/2006/main" w="12700">
            <a:solidFill>
              <a:srgbClr val="E6F0FB"/>
            </a:solidFill>
            <a:prstDash val="solid"/>
          </a:ln>
        </p:spPr>
      </p:sp>
      <p:sp>
        <p:nvSpPr>
          <p:cNvPr id="39" name="status text Done">
            <a:extLst xmlns:a="http://schemas.openxmlformats.org/drawingml/2006/main">
              <a:ext uri="{FF2B5EF4-FFF2-40B4-BE49-F238E27FC236}">
                <a16:creationId xmlns:a16="http://schemas.microsoft.com/office/drawing/2014/main" id="{CD6259DA-35A7-4ABA-BDC0-DE3AF2DA338D}"/>
              </a:ext>
            </a:extLst>
          </p:cNvPr>
          <p:cNvSpPr>
            <a:spLocks xmlns:a="http://schemas.openxmlformats.org/drawingml/2006/main" noGrp="1"/>
          </p:cNvSpPr>
          <p:nvPr/>
        </p:nvSpPr>
        <p:spPr>
          <a:xfrm xmlns:a="http://schemas.openxmlformats.org/drawingml/2006/main">
            <a:off x="594360" y="4818888"/>
            <a:ext cx="3383280" cy="1344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4325C"/>
                </a:solidFill>
              </a:rPr>
              <a:t>Done</a:t>
            </a:r>
            <a:endParaRPr sz="1500"/>
          </a:p>
          <a:p xmlns:a="http://schemas.openxmlformats.org/drawingml/2006/main">
            <a:pPr marL="0" indent="0">
              <a:buNone/>
            </a:pPr>
            <a:r>
              <a:rPr sz="1200">
                <a:solidFill>
                  <a:srgbClr val="1F2937"/>
                </a:solidFill>
              </a:rPr>
              <a:t>3 services + workers · async evaluation + gate · review + audit · GKE deploy · CI/CD with rollback · autoscaling 1→3→1 · UAT · local circuit breaker, tracing, log aggregation</a:t>
            </a:r>
            <a:endParaRPr sz="1500"/>
          </a:p>
        </p:txBody>
      </p:sp>
      <p:sp>
        <p:nvSpPr>
          <p:cNvPr id="40" name="status Partial">
            <a:extLst xmlns:a="http://schemas.openxmlformats.org/drawingml/2006/main">
              <a:ext uri="{FF2B5EF4-FFF2-40B4-BE49-F238E27FC236}">
                <a16:creationId xmlns:a16="http://schemas.microsoft.com/office/drawing/2014/main" id="{7750034C-D61B-42BB-A633-93AED3D5B0CB}"/>
              </a:ext>
            </a:extLst>
          </p:cNvPr>
          <p:cNvSpPr>
            <a:spLocks xmlns:a="http://schemas.openxmlformats.org/drawingml/2006/main" noGrp="1"/>
          </p:cNvSpPr>
          <p:nvPr/>
        </p:nvSpPr>
        <p:spPr>
          <a:xfrm xmlns:a="http://schemas.openxmlformats.org/drawingml/2006/main">
            <a:off x="4279392" y="4754880"/>
            <a:ext cx="3639312" cy="1463040"/>
          </a:xfrm>
          <a:prstGeom xmlns:a="http://schemas.openxmlformats.org/drawingml/2006/main" prst="roundRect">
            <a:avLst>
              <a:gd name="adj" fmla="val 5000"/>
            </a:avLst>
          </a:prstGeom>
          <a:solidFill xmlns:a="http://schemas.openxmlformats.org/drawingml/2006/main">
            <a:srgbClr val="FFF3C4"/>
          </a:solidFill>
          <a:ln xmlns:a="http://schemas.openxmlformats.org/drawingml/2006/main" w="12700">
            <a:solidFill>
              <a:srgbClr val="FFF3C4"/>
            </a:solidFill>
            <a:prstDash val="solid"/>
          </a:ln>
        </p:spPr>
      </p:sp>
      <p:sp>
        <p:nvSpPr>
          <p:cNvPr id="41" name="status text Partial">
            <a:extLst xmlns:a="http://schemas.openxmlformats.org/drawingml/2006/main">
              <a:ext uri="{FF2B5EF4-FFF2-40B4-BE49-F238E27FC236}">
                <a16:creationId xmlns:a16="http://schemas.microsoft.com/office/drawing/2014/main" id="{4DC9DADE-5983-41E2-98DD-8EBEABC76AED}"/>
              </a:ext>
            </a:extLst>
          </p:cNvPr>
          <p:cNvSpPr>
            <a:spLocks xmlns:a="http://schemas.openxmlformats.org/drawingml/2006/main" noGrp="1"/>
          </p:cNvSpPr>
          <p:nvPr/>
        </p:nvSpPr>
        <p:spPr>
          <a:xfrm xmlns:a="http://schemas.openxmlformats.org/drawingml/2006/main">
            <a:off x="4416552" y="4818888"/>
            <a:ext cx="3383280" cy="1344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8A6300"/>
                </a:solidFill>
              </a:rPr>
              <a:t>Partial</a:t>
            </a:r>
            <a:endParaRPr sz="1500"/>
          </a:p>
          <a:p xmlns:a="http://schemas.openxmlformats.org/drawingml/2006/main">
            <a:pPr marL="0" indent="0">
              <a:buNone/>
            </a:pPr>
            <a:r>
              <a:rPr sz="1200">
                <a:solidFill>
                  <a:srgbClr val="1F2937"/>
                </a:solidFill>
              </a:rPr>
              <a:t>Reviewer shadow-only · targeted key rules 4/5 · r14 full-16 not executed (free budget) · personal review pending</a:t>
            </a:r>
            <a:endParaRPr sz="1500"/>
          </a:p>
        </p:txBody>
      </p:sp>
      <p:sp>
        <p:nvSpPr>
          <p:cNvPr id="42" name="status Open">
            <a:extLst xmlns:a="http://schemas.openxmlformats.org/drawingml/2006/main">
              <a:ext uri="{FF2B5EF4-FFF2-40B4-BE49-F238E27FC236}">
                <a16:creationId xmlns:a16="http://schemas.microsoft.com/office/drawing/2014/main" id="{5BB63BEC-CDCA-486B-8744-FABD35A3C370}"/>
              </a:ext>
            </a:extLst>
          </p:cNvPr>
          <p:cNvSpPr>
            <a:spLocks xmlns:a="http://schemas.openxmlformats.org/drawingml/2006/main" noGrp="1"/>
          </p:cNvSpPr>
          <p:nvPr/>
        </p:nvSpPr>
        <p:spPr>
          <a:xfrm xmlns:a="http://schemas.openxmlformats.org/drawingml/2006/main">
            <a:off x="8101584" y="4754880"/>
            <a:ext cx="3639312" cy="1463040"/>
          </a:xfrm>
          <a:prstGeom xmlns:a="http://schemas.openxmlformats.org/drawingml/2006/main" prst="roundRect">
            <a:avLst>
              <a:gd name="adj" fmla="val 5000"/>
            </a:avLst>
          </a:prstGeom>
          <a:solidFill xmlns:a="http://schemas.openxmlformats.org/drawingml/2006/main">
            <a:srgbClr val="EEF1F5"/>
          </a:solidFill>
          <a:ln xmlns:a="http://schemas.openxmlformats.org/drawingml/2006/main" w="12700">
            <a:solidFill>
              <a:srgbClr val="EEF1F5"/>
            </a:solidFill>
            <a:prstDash val="solid"/>
          </a:ln>
        </p:spPr>
      </p:sp>
      <p:sp>
        <p:nvSpPr>
          <p:cNvPr id="43" name="status text Open">
            <a:extLst xmlns:a="http://schemas.openxmlformats.org/drawingml/2006/main">
              <a:ext uri="{FF2B5EF4-FFF2-40B4-BE49-F238E27FC236}">
                <a16:creationId xmlns:a16="http://schemas.microsoft.com/office/drawing/2014/main" id="{D5A9A6AC-4E35-46B3-8AAC-6ACCBAFEE788}"/>
              </a:ext>
            </a:extLst>
          </p:cNvPr>
          <p:cNvSpPr>
            <a:spLocks xmlns:a="http://schemas.openxmlformats.org/drawingml/2006/main" noGrp="1"/>
          </p:cNvSpPr>
          <p:nvPr/>
        </p:nvSpPr>
        <p:spPr>
          <a:xfrm xmlns:a="http://schemas.openxmlformats.org/drawingml/2006/main">
            <a:off x="8238744" y="4818888"/>
            <a:ext cx="3383280" cy="1344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5B6472"/>
                </a:solidFill>
              </a:rPr>
              <a:t>Open</a:t>
            </a:r>
            <a:endParaRPr sz="1500"/>
          </a:p>
          <a:p xmlns:a="http://schemas.openxmlformats.org/drawingml/2006/main">
            <a:pPr marL="0" indent="0">
              <a:buNone/>
            </a:pPr>
            <a:r>
              <a:rPr sz="1200">
                <a:solidFill>
                  <a:srgbClr val="1F2937"/>
                </a:solidFill>
              </a:rPr>
              <a:t>Reviewer first login and team UAT · alerts · local resilience not on GKE · sustained load · production HA</a:t>
            </a:r>
            <a:endParaRPr sz="1500"/>
          </a:p>
        </p:txBody>
      </p:sp>
      <p:sp>
        <p:nvSpPr>
          <p:cNvPr id="44" name="Slide Number Placeholder 0">
            <a:extLst xmlns:a="http://schemas.openxmlformats.org/drawingml/2006/main">
              <a:ext uri="{FF2B5EF4-FFF2-40B4-BE49-F238E27FC236}">
                <a16:creationId xmlns:a16="http://schemas.microsoft.com/office/drawing/2014/main" id="{865AA91C-E808-4928-863F-11B28C0DDD52}"/>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4</a:t>
            </a:fld>
            <a:endParaRPr/>
          </a:p>
        </p:txBody>
      </p:sp>
    </p:spTree>
    <p:extLst>
      <p:ext uri="{BB962C8B-B14F-4D97-AF65-F5344CB8AC3E}">
        <p14:creationId xmlns:p14="http://schemas.microsoft.com/office/powerpoint/2010/main" val="79881336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07CF159-3FA6-4DDC-859F-A569347448A4}"/>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Team responsibilities and effort</a:t>
            </a:r>
            <a:endParaRPr sz="2800"/>
          </a:p>
        </p:txBody>
      </p:sp>
      <p:sp>
        <p:nvSpPr>
          <p:cNvPr id="3" name="section pill">
            <a:extLst xmlns:a="http://schemas.openxmlformats.org/drawingml/2006/main">
              <a:ext uri="{FF2B5EF4-FFF2-40B4-BE49-F238E27FC236}">
                <a16:creationId xmlns:a16="http://schemas.microsoft.com/office/drawing/2014/main" id="{B2875339-0445-4A1A-8097-0EF04774399A}"/>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0D14057D-E3B3-4350-8E2A-13FF20FF7293}"/>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2 · Project Conduct</a:t>
            </a:r>
            <a:endParaRPr sz="1200"/>
          </a:p>
        </p:txBody>
      </p:sp>
      <p:graphicFrame>
        <p:nvGraphicFramePr>
          <p:cNvPr id="6" name="team table">
            <a:extLst xmlns:a="http://schemas.openxmlformats.org/drawingml/2006/main">
              <a:ext uri="{FF2B5EF4-FFF2-40B4-BE49-F238E27FC236}">
                <a16:creationId xmlns:a16="http://schemas.microsoft.com/office/drawing/2014/main" id="{ADD6BD9A-BF5E-4C01-9C1A-39E889F07C1B}"/>
              </a:ext>
            </a:extLst>
          </p:cNvPr>
          <p:cNvGraphicFramePr/>
          <p:nvPr/>
        </p:nvGraphicFramePr>
        <p:xfrm>
          <a:off xmlns:a="http://schemas.openxmlformats.org/drawingml/2006/main" x="457200" y="1280160"/>
          <a:ext xmlns:a="http://schemas.openxmlformats.org/drawingml/2006/main" cx="11274552" cy="914400"/>
        </p:xfrm>
        <a:graphic xmlns:a="http://schemas.openxmlformats.org/drawingml/2006/main">
          <a:graphicData uri="http://schemas.openxmlformats.org/drawingml/2006/table">
            <a:tbl>
              <a:tblPr/>
              <a:tblGrid>
                <a:gridCol w="2194560"/>
                <a:gridCol w="3291840"/>
                <a:gridCol w="3959352"/>
                <a:gridCol w="1828800"/>
              </a:tblGrid>
              <a:tr h="0">
                <a:tc>
                  <a:txBody>
                    <a:bodyPr/>
                    <a:lstStyle/>
                    <a:p>
                      <a:pPr marL="0" indent="0">
                        <a:buNone/>
                      </a:pPr>
                      <a:r>
                        <a:rPr sz="1400" b="1">
                          <a:solidFill>
                            <a:srgbClr val="FFFFFF"/>
                          </a:solidFill>
                          <a:latin typeface="Arial"/>
                          <a:ea typeface="Arial"/>
                          <a:cs typeface="Arial"/>
                        </a:rPr>
                        <a:t>Member</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c>
                  <a:txBody>
                    <a:bodyPr/>
                    <a:lstStyle/>
                    <a:p>
                      <a:pPr marL="0" indent="0">
                        <a:buNone/>
                      </a:pPr>
                      <a:r>
                        <a:rPr sz="1400" b="1">
                          <a:solidFill>
                            <a:srgbClr val="FFFFFF"/>
                          </a:solidFill>
                          <a:latin typeface="Arial"/>
                          <a:ea typeface="Arial"/>
                          <a:cs typeface="Arial"/>
                        </a:rPr>
                        <a:t>Responsibility</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c>
                  <a:txBody>
                    <a:bodyPr/>
                    <a:lstStyle/>
                    <a:p>
                      <a:pPr marL="0" indent="0">
                        <a:buNone/>
                      </a:pPr>
                      <a:r>
                        <a:rPr sz="1400" b="1">
                          <a:solidFill>
                            <a:srgbClr val="FFFFFF"/>
                          </a:solidFill>
                          <a:latin typeface="Arial"/>
                          <a:ea typeface="Arial"/>
                          <a:cs typeface="Arial"/>
                        </a:rPr>
                        <a:t>Main deliverables</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c>
                  <a:txBody>
                    <a:bodyPr/>
                    <a:lstStyle/>
                    <a:p>
                      <a:pPr marL="0" indent="0">
                        <a:buNone/>
                      </a:pPr>
                      <a:r>
                        <a:rPr sz="1400" b="1">
                          <a:solidFill>
                            <a:srgbClr val="FFFFFF"/>
                          </a:solidFill>
                          <a:latin typeface="Arial"/>
                          <a:ea typeface="Arial"/>
                          <a:cs typeface="Arial"/>
                        </a:rPr>
                        <a:t>Rough total effort</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r>
              <a:tr h="0">
                <a:tc>
                  <a:txBody>
                    <a:bodyPr/>
                    <a:lstStyle/>
                    <a:p>
                      <a:pPr marL="0" indent="0">
                        <a:buNone/>
                      </a:pPr>
                      <a:r>
                        <a:rPr sz="1400" b="1">
                          <a:solidFill>
                            <a:srgbClr val="1F2937"/>
                          </a:solidFill>
                          <a:latin typeface="Arial"/>
                          <a:ea typeface="Arial"/>
                          <a:cs typeface="Arial"/>
                        </a:rPr>
                        <a:t>A · TANG YUCHEN</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400">
                          <a:solidFill>
                            <a:srgbClr val="1F2937"/>
                          </a:solidFill>
                          <a:latin typeface="Arial"/>
                          <a:ea typeface="Arial"/>
                          <a:cs typeface="Arial"/>
                        </a:rPr>
                        <a:t>Requirements, UI, UAT, presentation</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400">
                          <a:solidFill>
                            <a:srgbClr val="1F2937"/>
                          </a:solidFill>
                          <a:latin typeface="Arial"/>
                          <a:ea typeface="Arial"/>
                          <a:cs typeface="Arial"/>
                        </a:rPr>
                        <a:t>Console pages · 25-item UAT record · PR #4</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400" b="1">
                          <a:solidFill>
                            <a:srgbClr val="B07A00"/>
                          </a:solidFill>
                          <a:latin typeface="Arial"/>
                          <a:ea typeface="Arial"/>
                          <a:cs typeface="Arial"/>
                        </a:rPr>
                        <a:t>TBC</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400" b="1">
                          <a:solidFill>
                            <a:srgbClr val="1F2937"/>
                          </a:solidFill>
                          <a:latin typeface="Arial"/>
                          <a:ea typeface="Arial"/>
                          <a:cs typeface="Arial"/>
                        </a:rPr>
                        <a:t>B · ZHU PENGXU</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400">
                          <a:solidFill>
                            <a:srgbClr val="1F2937"/>
                          </a:solidFill>
                          <a:latin typeface="Arial"/>
                          <a:ea typeface="Arial"/>
                          <a:cs typeface="Arial"/>
                        </a:rPr>
                        <a:t>APIs, data, domain and review invariants</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400">
                          <a:solidFill>
                            <a:srgbClr val="1F2937"/>
                          </a:solidFill>
                          <a:latin typeface="Arial"/>
                          <a:ea typeface="Arial"/>
                          <a:cs typeface="Arial"/>
                        </a:rPr>
                        <a:t>Review invariants · acceptance rules and lineage · PR #3</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400" b="1">
                          <a:solidFill>
                            <a:srgbClr val="B07A00"/>
                          </a:solidFill>
                          <a:latin typeface="Arial"/>
                          <a:ea typeface="Arial"/>
                          <a:cs typeface="Arial"/>
                        </a:rPr>
                        <a:t>TBC</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400" b="1">
                          <a:solidFill>
                            <a:srgbClr val="1F2937"/>
                          </a:solidFill>
                          <a:latin typeface="Arial"/>
                          <a:ea typeface="Arial"/>
                          <a:cs typeface="Arial"/>
                        </a:rPr>
                        <a:t>C · LIN XINDA</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400">
                          <a:solidFill>
                            <a:srgbClr val="1F2937"/>
                          </a:solidFill>
                          <a:latin typeface="Arial"/>
                          <a:ea typeface="Arial"/>
                          <a:cs typeface="Arial"/>
                        </a:rPr>
                        <a:t>Support app, provider, evaluation experiments</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400">
                          <a:solidFill>
                            <a:srgbClr val="1F2937"/>
                          </a:solidFill>
                          <a:latin typeface="Arial"/>
                          <a:ea typeface="Arial"/>
                          <a:cs typeface="Arial"/>
                        </a:rPr>
                        <a:t>Customer A/B · reviewer v3 runs · circuit breaker adapter</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400" b="1">
                          <a:solidFill>
                            <a:srgbClr val="B07A00"/>
                          </a:solidFill>
                          <a:latin typeface="Arial"/>
                          <a:ea typeface="Arial"/>
                          <a:cs typeface="Arial"/>
                        </a:rPr>
                        <a:t>TBC</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400" b="1">
                          <a:solidFill>
                            <a:srgbClr val="1F2937"/>
                          </a:solidFill>
                          <a:latin typeface="Arial"/>
                          <a:ea typeface="Arial"/>
                          <a:cs typeface="Arial"/>
                        </a:rPr>
                        <a:t>D · LIAO CAN</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400">
                          <a:solidFill>
                            <a:srgbClr val="1F2937"/>
                          </a:solidFill>
                          <a:latin typeface="Arial"/>
                          <a:ea typeface="Arial"/>
                          <a:cs typeface="Arial"/>
                        </a:rPr>
                        <a:t>Containers, cloud, CI/CD, recovery</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400">
                          <a:solidFill>
                            <a:srgbClr val="1F2937"/>
                          </a:solidFill>
                          <a:latin typeface="Arial"/>
                          <a:ea typeface="Arial"/>
                          <a:cs typeface="Arial"/>
                        </a:rPr>
                        <a:t>GKE trial · CI/CD with rollback · tracing and log lab</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400" b="1">
                          <a:solidFill>
                            <a:srgbClr val="B07A00"/>
                          </a:solidFill>
                          <a:latin typeface="Arial"/>
                          <a:ea typeface="Arial"/>
                          <a:cs typeface="Arial"/>
                        </a:rPr>
                        <a:t>TBC</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400" b="1">
                          <a:solidFill>
                            <a:srgbClr val="1F2937"/>
                          </a:solidFill>
                          <a:latin typeface="Arial"/>
                          <a:ea typeface="Arial"/>
                          <a:cs typeface="Arial"/>
                        </a:rPr>
                        <a:t>E · LIAO BINFENG</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400">
                          <a:solidFill>
                            <a:srgbClr val="1F2937"/>
                          </a:solidFill>
                          <a:latin typeface="Arial"/>
                          <a:ea typeface="Arial"/>
                          <a:cs typeface="Arial"/>
                        </a:rPr>
                        <a:t>Security, performance, fault testing</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400">
                          <a:solidFill>
                            <a:srgbClr val="1F2937"/>
                          </a:solidFill>
                          <a:latin typeface="Arial"/>
                          <a:ea typeface="Arial"/>
                          <a:cs typeface="Arial"/>
                        </a:rPr>
                        <a:t>PR #2 · load, fault and scaling evidence</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400" b="1">
                          <a:solidFill>
                            <a:srgbClr val="B07A00"/>
                          </a:solidFill>
                          <a:latin typeface="Arial"/>
                          <a:ea typeface="Arial"/>
                          <a:cs typeface="Arial"/>
                        </a:rPr>
                        <a:t>TBC</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bl>
          </a:graphicData>
        </a:graphic>
      </p:graphicFrame>
      <p:sp>
        <p:nvSpPr>
          <p:cNvPr id="26" name="effort note card">
            <a:extLst xmlns:a="http://schemas.openxmlformats.org/drawingml/2006/main">
              <a:ext uri="{FF2B5EF4-FFF2-40B4-BE49-F238E27FC236}">
                <a16:creationId xmlns:a16="http://schemas.microsoft.com/office/drawing/2014/main" id="{D0404168-6679-4993-B031-B1CCEA5FBF98}"/>
              </a:ext>
            </a:extLst>
          </p:cNvPr>
          <p:cNvSpPr>
            <a:spLocks xmlns:a="http://schemas.openxmlformats.org/drawingml/2006/main" noGrp="1"/>
          </p:cNvSpPr>
          <p:nvPr/>
        </p:nvSpPr>
        <p:spPr>
          <a:xfrm xmlns:a="http://schemas.openxmlformats.org/drawingml/2006/main">
            <a:off x="457200" y="4617720"/>
            <a:ext cx="11274552" cy="1097280"/>
          </a:xfrm>
          <a:prstGeom xmlns:a="http://schemas.openxmlformats.org/drawingml/2006/main" prst="roundRect">
            <a:avLst>
              <a:gd name="adj" fmla="val 6667"/>
            </a:avLst>
          </a:prstGeom>
          <a:solidFill xmlns:a="http://schemas.openxmlformats.org/drawingml/2006/main">
            <a:srgbClr val="FFF3C4"/>
          </a:solidFill>
          <a:ln xmlns:a="http://schemas.openxmlformats.org/drawingml/2006/main" w="12700">
            <a:solidFill>
              <a:srgbClr val="FFF3C4"/>
            </a:solidFill>
            <a:prstDash val="solid"/>
          </a:ln>
        </p:spPr>
      </p:sp>
      <p:sp>
        <p:nvSpPr>
          <p:cNvPr id="7" name="effort note">
            <a:extLst xmlns:a="http://schemas.openxmlformats.org/drawingml/2006/main">
              <a:ext uri="{FF2B5EF4-FFF2-40B4-BE49-F238E27FC236}">
                <a16:creationId xmlns:a16="http://schemas.microsoft.com/office/drawing/2014/main" id="{A880C8A2-2957-47A2-83D9-8A92F72DFFEC}"/>
              </a:ext>
            </a:extLst>
          </p:cNvPr>
          <p:cNvSpPr>
            <a:spLocks xmlns:a="http://schemas.openxmlformats.org/drawingml/2006/main" noGrp="1"/>
          </p:cNvSpPr>
          <p:nvPr/>
        </p:nvSpPr>
        <p:spPr>
          <a:xfrm xmlns:a="http://schemas.openxmlformats.org/drawingml/2006/main">
            <a:off x="640080" y="4681728"/>
            <a:ext cx="1088136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00000"/>
                </a:solidFill>
              </a:rPr>
              <a:t>Planned: </a:t>
            </a:r>
            <a:r>
              <a:rPr sz="1400">
                <a:solidFill>
                  <a:srgbClr val="000000"/>
                </a:solidFill>
              </a:rPr>
              <a:t>50 person-days in the proposal (10 per member). Actual effort is each member’s own estimate.</a:t>
            </a:r>
            <a:endParaRPr sz="1400"/>
          </a:p>
          <a:p xmlns:a="http://schemas.openxmlformats.org/drawingml/2006/main">
            <a:pPr marL="0" indent="0">
              <a:buNone/>
            </a:pPr>
            <a:r>
              <a:rPr sz="1400" b="1">
                <a:solidFill>
                  <a:srgbClr val="000000"/>
                </a:solidFill>
              </a:rPr>
              <a:t>Definition of done: </a:t>
            </a:r>
            <a:r>
              <a:rPr sz="1400">
                <a:solidFill>
                  <a:srgbClr val="000000"/>
                </a:solidFill>
              </a:rPr>
              <a:t>reproducible build and tests · immutable evidence · permission and release invariants · independent review.</a:t>
            </a:r>
            <a:endParaRPr sz="1400"/>
          </a:p>
        </p:txBody>
      </p:sp>
      <p:sp>
        <p:nvSpPr>
          <p:cNvPr id="25" name="Slide Number Placeholder 0">
            <a:extLst xmlns:a="http://schemas.openxmlformats.org/drawingml/2006/main">
              <a:ext uri="{FF2B5EF4-FFF2-40B4-BE49-F238E27FC236}">
                <a16:creationId xmlns:a16="http://schemas.microsoft.com/office/drawing/2014/main" id="{29A98EB6-86B8-4479-B1CA-0991B61D9E1F}"/>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5</a:t>
            </a:fld>
            <a:endParaRPr/>
          </a:p>
        </p:txBody>
      </p:sp>
    </p:spTree>
    <p:extLst>
      <p:ext uri="{BB962C8B-B14F-4D97-AF65-F5344CB8AC3E}">
        <p14:creationId xmlns:p14="http://schemas.microsoft.com/office/powerpoint/2010/main" val="188019222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E05D233-92F5-4389-BD59-4A51E7D963A9}"/>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Key architectural decisions</a:t>
            </a:r>
            <a:endParaRPr sz="2800"/>
          </a:p>
        </p:txBody>
      </p:sp>
      <p:sp>
        <p:nvSpPr>
          <p:cNvPr id="3" name="section pill">
            <a:extLst xmlns:a="http://schemas.openxmlformats.org/drawingml/2006/main">
              <a:ext uri="{FF2B5EF4-FFF2-40B4-BE49-F238E27FC236}">
                <a16:creationId xmlns:a16="http://schemas.microsoft.com/office/drawing/2014/main" id="{3F91C9AF-F313-4EAC-85BD-42393DBDC24D}"/>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74ECFF64-B176-48C9-BFD1-9D953B01800E}"/>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3 · Logical Architecture</a:t>
            </a:r>
            <a:endParaRPr sz="1200"/>
          </a:p>
        </p:txBody>
      </p:sp>
      <p:graphicFrame>
        <p:nvGraphicFramePr>
          <p:cNvPr id="7" name="Architecture Decision – Three bounded-context services">
            <a:extLst xmlns:a="http://schemas.openxmlformats.org/drawingml/2006/main">
              <a:ext uri="{FF2B5EF4-FFF2-40B4-BE49-F238E27FC236}">
                <a16:creationId xmlns:a16="http://schemas.microsoft.com/office/drawing/2014/main" id="{BA02AEB6-9FAD-4E27-9410-D14E4F0DC401}"/>
              </a:ext>
            </a:extLst>
          </p:cNvPr>
          <p:cNvGraphicFramePr/>
          <p:nvPr/>
        </p:nvGraphicFramePr>
        <p:xfrm>
          <a:off xmlns:a="http://schemas.openxmlformats.org/drawingml/2006/main" x="457200" y="1188720"/>
          <a:ext xmlns:a="http://schemas.openxmlformats.org/drawingml/2006/main" cx="5532120" cy="914400"/>
        </p:xfrm>
        <a:graphic xmlns:a="http://schemas.openxmlformats.org/drawingml/2006/main">
          <a:graphicData uri="http://schemas.openxmlformats.org/drawingml/2006/table">
            <a:tbl>
              <a:tblPr/>
              <a:tblGrid>
                <a:gridCol w="1188720"/>
                <a:gridCol w="4343400"/>
              </a:tblGrid>
              <a:tr h="0">
                <a:tc gridSpan="2">
                  <a:txBody>
                    <a:bodyPr/>
                    <a:lstStyle/>
                    <a:p>
                      <a:pPr marL="0" indent="0">
                        <a:buNone/>
                      </a:pPr>
                      <a:r>
                        <a:rPr sz="1300">
                          <a:solidFill>
                            <a:srgbClr val="FFFFFF"/>
                          </a:solidFill>
                          <a:latin typeface="Arial"/>
                          <a:ea typeface="Arial"/>
                          <a:cs typeface="Arial"/>
                        </a:rPr>
                        <a:t>Architecture Decision – Three bounded-context services</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c hMerge="1">
                  <a:txBody>
                    <a:bodyPr/>
                    <a:lstStyle/>
                    <a:p>
                      <a:pPr/>
                    </a:p>
                  </a:txBody>
                  <a:tcPr marL="91440" marR="91440" marT="45720" marB="45720"/>
                </a:tc>
              </a:tr>
              <a:tr h="0">
                <a:tc>
                  <a:txBody>
                    <a:bodyPr/>
                    <a:lstStyle/>
                    <a:p>
                      <a:pPr marL="0" indent="0">
                        <a:buNone/>
                      </a:pPr>
                      <a:r>
                        <a:rPr sz="1150" b="1">
                          <a:solidFill>
                            <a:srgbClr val="14325C"/>
                          </a:solidFill>
                          <a:latin typeface="Arial"/>
                          <a:ea typeface="Arial"/>
                          <a:cs typeface="Arial"/>
                        </a:rPr>
                        <a:t>Issue</a:t>
                      </a:r>
                      <a:endParaRPr sz="115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50">
                          <a:solidFill>
                            <a:srgbClr val="1F2937"/>
                          </a:solidFill>
                          <a:latin typeface="Arial"/>
                          <a:ea typeface="Arial"/>
                          <a:cs typeface="Arial"/>
                        </a:rPr>
                        <a:t>Evaluation work is bursty and slow; assets and human review change independently. Execution must scale horizontally.</a:t>
                      </a:r>
                      <a:endParaRPr sz="115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150" b="1">
                          <a:solidFill>
                            <a:srgbClr val="14325C"/>
                          </a:solidFill>
                          <a:latin typeface="Arial"/>
                          <a:ea typeface="Arial"/>
                          <a:cs typeface="Arial"/>
                        </a:rPr>
                        <a:t>Decision</a:t>
                      </a:r>
                      <a:endParaRPr sz="115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50">
                          <a:solidFill>
                            <a:srgbClr val="1F2937"/>
                          </a:solidFill>
                          <a:latin typeface="Arial"/>
                          <a:ea typeface="Arial"/>
                          <a:cs typeface="Arial"/>
                        </a:rPr>
                        <a:t>Three services by bounded context — Test Assets, Evaluation (with worker replicas), Review &amp; Evidence — each owning its database</a:t>
                      </a:r>
                      <a:endParaRPr sz="115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150" b="1">
                          <a:solidFill>
                            <a:srgbClr val="14325C"/>
                          </a:solidFill>
                          <a:latin typeface="Arial"/>
                          <a:ea typeface="Arial"/>
                          <a:cs typeface="Arial"/>
                        </a:rPr>
                        <a:t>Assumptions</a:t>
                      </a:r>
                      <a:endParaRPr sz="115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50">
                          <a:solidFill>
                            <a:srgbClr val="1F2937"/>
                          </a:solidFill>
                          <a:latin typeface="Arial"/>
                          <a:ea typeface="Arial"/>
                          <a:cs typeface="Arial"/>
                        </a:rPr>
                        <a:t>Five-person team; one repository and shared image are acceptable</a:t>
                      </a:r>
                      <a:endParaRPr sz="115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150" b="1">
                          <a:solidFill>
                            <a:srgbClr val="14325C"/>
                          </a:solidFill>
                          <a:latin typeface="Arial"/>
                          <a:ea typeface="Arial"/>
                          <a:cs typeface="Arial"/>
                        </a:rPr>
                        <a:t>Alternatives</a:t>
                      </a:r>
                      <a:endParaRPr sz="115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50">
                          <a:solidFill>
                            <a:srgbClr val="1F2937"/>
                          </a:solidFill>
                          <a:latin typeface="Arial"/>
                          <a:ea typeface="Arial"/>
                          <a:cs typeface="Arial"/>
                        </a:rPr>
                        <a:t>1. Modular monolith with one worker   2. Six fine-grained services</a:t>
                      </a:r>
                      <a:endParaRPr sz="115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150" b="1">
                          <a:solidFill>
                            <a:srgbClr val="14325C"/>
                          </a:solidFill>
                          <a:latin typeface="Arial"/>
                          <a:ea typeface="Arial"/>
                          <a:cs typeface="Arial"/>
                        </a:rPr>
                        <a:t>Justification</a:t>
                      </a:r>
                      <a:endParaRPr sz="115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50">
                          <a:solidFill>
                            <a:srgbClr val="1F2937"/>
                          </a:solidFill>
                          <a:latin typeface="Arial"/>
                          <a:ea typeface="Arial"/>
                          <a:cs typeface="Arial"/>
                        </a:rPr>
                        <a:t>A monolith cannot scale execution independently; six services add distributed transactions without a business boundary.</a:t>
                      </a:r>
                      <a:endParaRPr sz="115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bl>
          </a:graphicData>
        </a:graphic>
      </p:graphicFrame>
      <p:graphicFrame>
        <p:nvGraphicFramePr>
          <p:cNvPr id="13" name="Architecture Decision – Asynchronous evaluation via a durable queue">
            <a:extLst xmlns:a="http://schemas.openxmlformats.org/drawingml/2006/main">
              <a:ext uri="{FF2B5EF4-FFF2-40B4-BE49-F238E27FC236}">
                <a16:creationId xmlns:a16="http://schemas.microsoft.com/office/drawing/2014/main" id="{5E67B871-3B8B-4FF2-9B9C-32E3145EEC6D}"/>
              </a:ext>
            </a:extLst>
          </p:cNvPr>
          <p:cNvGraphicFramePr/>
          <p:nvPr/>
        </p:nvGraphicFramePr>
        <p:xfrm>
          <a:off xmlns:a="http://schemas.openxmlformats.org/drawingml/2006/main" x="6199632" y="1188720"/>
          <a:ext xmlns:a="http://schemas.openxmlformats.org/drawingml/2006/main" cx="5532120" cy="914400"/>
        </p:xfrm>
        <a:graphic xmlns:a="http://schemas.openxmlformats.org/drawingml/2006/main">
          <a:graphicData uri="http://schemas.openxmlformats.org/drawingml/2006/table">
            <a:tbl>
              <a:tblPr/>
              <a:tblGrid>
                <a:gridCol w="1188720"/>
                <a:gridCol w="4343400"/>
              </a:tblGrid>
              <a:tr h="0">
                <a:tc gridSpan="2">
                  <a:txBody>
                    <a:bodyPr/>
                    <a:lstStyle/>
                    <a:p>
                      <a:pPr marL="0" indent="0">
                        <a:buNone/>
                      </a:pPr>
                      <a:r>
                        <a:rPr sz="1300">
                          <a:solidFill>
                            <a:srgbClr val="FFFFFF"/>
                          </a:solidFill>
                          <a:latin typeface="Arial"/>
                          <a:ea typeface="Arial"/>
                          <a:cs typeface="Arial"/>
                        </a:rPr>
                        <a:t>Architecture Decision – Asynchronous evaluation via a durable queue</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c hMerge="1">
                  <a:txBody>
                    <a:bodyPr/>
                    <a:lstStyle/>
                    <a:p>
                      <a:pPr/>
                    </a:p>
                  </a:txBody>
                  <a:tcPr marL="91440" marR="91440" marT="45720" marB="45720"/>
                </a:tc>
              </a:tr>
              <a:tr h="0">
                <a:tc>
                  <a:txBody>
                    <a:bodyPr/>
                    <a:lstStyle/>
                    <a:p>
                      <a:pPr marL="0" indent="0">
                        <a:buNone/>
                      </a:pPr>
                      <a:r>
                        <a:rPr sz="1150" b="1">
                          <a:solidFill>
                            <a:srgbClr val="14325C"/>
                          </a:solidFill>
                          <a:latin typeface="Arial"/>
                          <a:ea typeface="Arial"/>
                          <a:cs typeface="Arial"/>
                        </a:rPr>
                        <a:t>Issue</a:t>
                      </a:r>
                      <a:endParaRPr sz="115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50">
                          <a:solidFill>
                            <a:srgbClr val="1F2937"/>
                          </a:solidFill>
                          <a:latin typeface="Arial"/>
                          <a:ea typeface="Arial"/>
                          <a:cs typeface="Arial"/>
                        </a:rPr>
                        <a:t>Running ten model cases inside a synchronous HTTP request ties up the API under latency and bursts</a:t>
                      </a:r>
                      <a:endParaRPr sz="115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150" b="1">
                          <a:solidFill>
                            <a:srgbClr val="14325C"/>
                          </a:solidFill>
                          <a:latin typeface="Arial"/>
                          <a:ea typeface="Arial"/>
                          <a:cs typeface="Arial"/>
                        </a:rPr>
                        <a:t>Decision</a:t>
                      </a:r>
                      <a:endParaRPr sz="115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50">
                          <a:solidFill>
                            <a:srgbClr val="1F2937"/>
                          </a:solidFill>
                          <a:latin typeface="Arial"/>
                          <a:ea typeface="Arial"/>
                          <a:cs typeface="Arial"/>
                        </a:rPr>
                        <a:t>Accept (202) → job + outbox in one transaction → RabbitMQ → competing workers with leases (Queue-Based Load Leveling, Competing Consumers)</a:t>
                      </a:r>
                      <a:endParaRPr sz="115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150" b="1">
                          <a:solidFill>
                            <a:srgbClr val="14325C"/>
                          </a:solidFill>
                          <a:latin typeface="Arial"/>
                          <a:ea typeface="Arial"/>
                          <a:cs typeface="Arial"/>
                        </a:rPr>
                        <a:t>Assumptions</a:t>
                      </a:r>
                      <a:endParaRPr sz="115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50">
                          <a:solidFill>
                            <a:srgbClr val="1F2937"/>
                          </a:solidFill>
                          <a:latin typeface="Arial"/>
                          <a:ea typeface="Arial"/>
                          <a:cs typeface="Arial"/>
                        </a:rPr>
                        <a:t>At-least-once delivery is acceptable; final writes are idempotent</a:t>
                      </a:r>
                      <a:endParaRPr sz="115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150" b="1">
                          <a:solidFill>
                            <a:srgbClr val="14325C"/>
                          </a:solidFill>
                          <a:latin typeface="Arial"/>
                          <a:ea typeface="Arial"/>
                          <a:cs typeface="Arial"/>
                        </a:rPr>
                        <a:t>Alternatives</a:t>
                      </a:r>
                      <a:endParaRPr sz="115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50">
                          <a:solidFill>
                            <a:srgbClr val="1F2937"/>
                          </a:solidFill>
                          <a:latin typeface="Arial"/>
                          <a:ea typeface="Arial"/>
                          <a:cs typeface="Arial"/>
                        </a:rPr>
                        <a:t>1. Synchronous model calls in the API   2. Publish after the DB write, without an outbox</a:t>
                      </a:r>
                      <a:endParaRPr sz="115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150" b="1">
                          <a:solidFill>
                            <a:srgbClr val="14325C"/>
                          </a:solidFill>
                          <a:latin typeface="Arial"/>
                          <a:ea typeface="Arial"/>
                          <a:cs typeface="Arial"/>
                        </a:rPr>
                        <a:t>Justification</a:t>
                      </a:r>
                      <a:endParaRPr sz="115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50">
                          <a:solidFill>
                            <a:srgbClr val="1F2937"/>
                          </a:solidFill>
                          <a:latin typeface="Arial"/>
                          <a:ea typeface="Arial"/>
                          <a:cs typeface="Arial"/>
                        </a:rPr>
                        <a:t>Backpressure and a scaling signal for KEDA; the outbox closes the write/publish gap. Duplicates are handled by an idempotent receiver.</a:t>
                      </a:r>
                      <a:endParaRPr sz="115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bl>
          </a:graphicData>
        </a:graphic>
      </p:graphicFrame>
      <p:graphicFrame>
        <p:nvGraphicFramePr>
          <p:cNvPr id="19" name="other decisions">
            <a:extLst xmlns:a="http://schemas.openxmlformats.org/drawingml/2006/main">
              <a:ext uri="{FF2B5EF4-FFF2-40B4-BE49-F238E27FC236}">
                <a16:creationId xmlns:a16="http://schemas.microsoft.com/office/drawing/2014/main" id="{3B418D2B-1520-44E3-80C3-F8F073913B2F}"/>
              </a:ext>
            </a:extLst>
          </p:cNvPr>
          <p:cNvGraphicFramePr/>
          <p:nvPr/>
        </p:nvGraphicFramePr>
        <p:xfrm>
          <a:off xmlns:a="http://schemas.openxmlformats.org/drawingml/2006/main" x="457200" y="4343400"/>
          <a:ext xmlns:a="http://schemas.openxmlformats.org/drawingml/2006/main" cx="11274552" cy="914400"/>
        </p:xfrm>
        <a:graphic xmlns:a="http://schemas.openxmlformats.org/drawingml/2006/main">
          <a:graphicData uri="http://schemas.openxmlformats.org/drawingml/2006/table">
            <a:tbl>
              <a:tblPr/>
              <a:tblGrid>
                <a:gridCol w="3931920"/>
                <a:gridCol w="7342632"/>
              </a:tblGrid>
              <a:tr h="0">
                <a:tc gridSpan="2">
                  <a:txBody>
                    <a:bodyPr/>
                    <a:lstStyle/>
                    <a:p>
                      <a:pPr marL="0" indent="0">
                        <a:buNone/>
                      </a:pPr>
                      <a:r>
                        <a:rPr sz="1300">
                          <a:solidFill>
                            <a:srgbClr val="FFFFFF"/>
                          </a:solidFill>
                          <a:latin typeface="Arial"/>
                          <a:ea typeface="Arial"/>
                          <a:cs typeface="Arial"/>
                        </a:rPr>
                        <a:t>Other Architecture Decisions</a:t>
                      </a:r>
                      <a:endParaRPr sz="1300">
                        <a:latin typeface="Arial"/>
                        <a:ea typeface="Arial"/>
                        <a:cs typeface="Arial"/>
                      </a:endParaRPr>
                    </a:p>
                  </a:txBody>
                  <a:tcPr marL="73152" marR="73152" marT="36576" marB="36576"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14325C"/>
                    </a:solidFill>
                  </a:tcPr>
                </a:tc>
                <a:tc hMerge="1">
                  <a:txBody>
                    <a:bodyPr/>
                    <a:lstStyle/>
                    <a:p>
                      <a:pPr/>
                    </a:p>
                  </a:txBody>
                  <a:tcPr marL="91440" marR="91440" marT="45720" marB="45720"/>
                </a:tc>
              </a:tr>
              <a:tr h="0">
                <a:tc>
                  <a:txBody>
                    <a:bodyPr/>
                    <a:lstStyle/>
                    <a:p>
                      <a:pPr marL="0" indent="0">
                        <a:buNone/>
                      </a:pPr>
                      <a:r>
                        <a:rPr sz="1150" b="1">
                          <a:solidFill>
                            <a:srgbClr val="14325C"/>
                          </a:solidFill>
                          <a:latin typeface="Arial"/>
                          <a:ea typeface="Arial"/>
                          <a:cs typeface="Arial"/>
                        </a:rPr>
                        <a:t>Database per service, separate logins</a:t>
                      </a:r>
                      <a:endParaRPr sz="1150">
                        <a:latin typeface="Arial"/>
                        <a:ea typeface="Arial"/>
                        <a:cs typeface="Arial"/>
                      </a:endParaRPr>
                    </a:p>
                  </a:txBody>
                  <a:tcPr marL="73152" marR="73152" marT="36576" marB="36576"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50">
                          <a:solidFill>
                            <a:srgbClr val="1F2937"/>
                          </a:solidFill>
                          <a:latin typeface="Arial"/>
                          <a:ea typeface="Arial"/>
                          <a:cs typeface="Arial"/>
                        </a:rPr>
                        <a:t>No cross-service data access; one shared PostgreSQL instance is a single point of failure</a:t>
                      </a:r>
                      <a:endParaRPr sz="1150">
                        <a:latin typeface="Arial"/>
                        <a:ea typeface="Arial"/>
                        <a:cs typeface="Arial"/>
                      </a:endParaRPr>
                    </a:p>
                  </a:txBody>
                  <a:tcPr marL="73152" marR="73152" marT="36576" marB="36576"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150" b="1">
                          <a:solidFill>
                            <a:srgbClr val="14325C"/>
                          </a:solidFill>
                          <a:latin typeface="Arial"/>
                          <a:ea typeface="Arial"/>
                          <a:cs typeface="Arial"/>
                        </a:rPr>
                        <a:t>Copy immutable snapshots across contexts</a:t>
                      </a:r>
                      <a:endParaRPr sz="1150">
                        <a:latin typeface="Arial"/>
                        <a:ea typeface="Arial"/>
                        <a:cs typeface="Arial"/>
                      </a:endParaRPr>
                    </a:p>
                  </a:txBody>
                  <a:tcPr marL="73152" marR="73152" marT="36576" marB="36576"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50">
                          <a:solidFill>
                            <a:srgbClr val="1F2937"/>
                          </a:solidFill>
                          <a:latin typeface="Arial"/>
                          <a:ea typeface="Arial"/>
                          <a:cs typeface="Arial"/>
                        </a:rPr>
                        <a:t>Review stays available and auditable when Evaluation is down; costs storage</a:t>
                      </a:r>
                      <a:endParaRPr sz="1150">
                        <a:latin typeface="Arial"/>
                        <a:ea typeface="Arial"/>
                        <a:cs typeface="Arial"/>
                      </a:endParaRPr>
                    </a:p>
                  </a:txBody>
                  <a:tcPr marL="73152" marR="73152" marT="36576" marB="36576"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150" b="1">
                          <a:solidFill>
                            <a:srgbClr val="14325C"/>
                          </a:solidFill>
                          <a:latin typeface="Arial"/>
                          <a:ea typeface="Arial"/>
                          <a:cs typeface="Arial"/>
                        </a:rPr>
                        <a:t>Fail-closed gate + independent human review</a:t>
                      </a:r>
                      <a:endParaRPr sz="1150">
                        <a:latin typeface="Arial"/>
                        <a:ea typeface="Arial"/>
                        <a:cs typeface="Arial"/>
                      </a:endParaRPr>
                    </a:p>
                  </a:txBody>
                  <a:tcPr marL="73152" marR="73152" marT="36576" marB="36576"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50">
                          <a:solidFill>
                            <a:srgbClr val="1F2937"/>
                          </a:solidFill>
                          <a:latin typeface="Arial"/>
                          <a:ea typeface="Arial"/>
                          <a:cs typeface="Arial"/>
                        </a:rPr>
                        <a:t>Missing evidence or a critical failure blocks; authors cannot approve their own candidate</a:t>
                      </a:r>
                      <a:endParaRPr sz="1150">
                        <a:latin typeface="Arial"/>
                        <a:ea typeface="Arial"/>
                        <a:cs typeface="Arial"/>
                      </a:endParaRPr>
                    </a:p>
                  </a:txBody>
                  <a:tcPr marL="73152" marR="73152" marT="36576" marB="36576"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150" b="1">
                          <a:solidFill>
                            <a:srgbClr val="14325C"/>
                          </a:solidFill>
                          <a:latin typeface="Arial"/>
                          <a:ea typeface="Arial"/>
                          <a:cs typeface="Arial"/>
                        </a:rPr>
                        <a:t>KEDA queue-depth scaling, not CPU HPA</a:t>
                      </a:r>
                      <a:endParaRPr sz="1150">
                        <a:latin typeface="Arial"/>
                        <a:ea typeface="Arial"/>
                        <a:cs typeface="Arial"/>
                      </a:endParaRPr>
                    </a:p>
                  </a:txBody>
                  <a:tcPr marL="73152" marR="73152" marT="36576" marB="36576"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50">
                          <a:solidFill>
                            <a:srgbClr val="1F2937"/>
                          </a:solidFill>
                          <a:latin typeface="Arial"/>
                          <a:ea typeface="Arial"/>
                          <a:cs typeface="Arial"/>
                        </a:rPr>
                        <a:t>Model calls are I/O-bound: CPU stays low while work piles up</a:t>
                      </a:r>
                      <a:endParaRPr sz="1150">
                        <a:latin typeface="Arial"/>
                        <a:ea typeface="Arial"/>
                        <a:cs typeface="Arial"/>
                      </a:endParaRPr>
                    </a:p>
                  </a:txBody>
                  <a:tcPr marL="73152" marR="73152" marT="36576" marB="36576"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150" b="1">
                          <a:solidFill>
                            <a:srgbClr val="8A6300"/>
                          </a:solidFill>
                          <a:latin typeface="Arial"/>
                          <a:ea typeface="Arial"/>
                          <a:cs typeface="Arial"/>
                        </a:rPr>
                        <a:t>Circuit breaker on provider calls  NEW</a:t>
                      </a:r>
                      <a:endParaRPr sz="1150">
                        <a:latin typeface="Arial"/>
                        <a:ea typeface="Arial"/>
                        <a:cs typeface="Arial"/>
                      </a:endParaRPr>
                    </a:p>
                  </a:txBody>
                  <a:tcPr marL="73152" marR="73152" marT="36576" marB="36576"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FF3C4"/>
                    </a:solidFill>
                  </a:tcPr>
                </a:tc>
                <a:tc>
                  <a:txBody>
                    <a:bodyPr/>
                    <a:lstStyle/>
                    <a:p>
                      <a:pPr marL="0" indent="0">
                        <a:buNone/>
                      </a:pPr>
                      <a:r>
                        <a:rPr sz="1150">
                          <a:solidFill>
                            <a:srgbClr val="1F2937"/>
                          </a:solidFill>
                          <a:latin typeface="Arial"/>
                          <a:ea typeface="Arial"/>
                          <a:cs typeface="Arial"/>
                        </a:rPr>
                        <a:t>Stops calls to a failing provider; state shared in the Support DB (optional) — verified locally, not on GKE</a:t>
                      </a:r>
                      <a:endParaRPr sz="1150">
                        <a:latin typeface="Arial"/>
                        <a:ea typeface="Arial"/>
                        <a:cs typeface="Arial"/>
                      </a:endParaRPr>
                    </a:p>
                  </a:txBody>
                  <a:tcPr marL="73152" marR="73152" marT="36576" marB="36576"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FF3C4"/>
                    </a:solidFill>
                  </a:tcPr>
                </a:tc>
              </a:tr>
            </a:tbl>
          </a:graphicData>
        </a:graphic>
      </p:graphicFrame>
      <p:sp>
        <p:nvSpPr>
          <p:cNvPr id="25" name="Slide Number Placeholder 0">
            <a:extLst xmlns:a="http://schemas.openxmlformats.org/drawingml/2006/main">
              <a:ext uri="{FF2B5EF4-FFF2-40B4-BE49-F238E27FC236}">
                <a16:creationId xmlns:a16="http://schemas.microsoft.com/office/drawing/2014/main" id="{148C932A-7ABE-41D0-8A94-D5E7B4103DE5}"/>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6</a:t>
            </a:fld>
            <a:endParaRPr/>
          </a:p>
        </p:txBody>
      </p:sp>
    </p:spTree>
    <p:extLst>
      <p:ext uri="{BB962C8B-B14F-4D97-AF65-F5344CB8AC3E}">
        <p14:creationId xmlns:p14="http://schemas.microsoft.com/office/powerpoint/2010/main" val="141625448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1D4ABE3-6719-4FED-B6F0-2CBCBEA32EAF}"/>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Logical architecture: detailed deployment view</a:t>
            </a:r>
            <a:endParaRPr sz="2800"/>
          </a:p>
        </p:txBody>
      </p:sp>
      <p:sp>
        <p:nvSpPr>
          <p:cNvPr id="3" name="section pill">
            <a:extLst xmlns:a="http://schemas.openxmlformats.org/drawingml/2006/main">
              <a:ext uri="{FF2B5EF4-FFF2-40B4-BE49-F238E27FC236}">
                <a16:creationId xmlns:a16="http://schemas.microsoft.com/office/drawing/2014/main" id="{3EAAA90E-5790-4EBF-95C0-64971B6E50A4}"/>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4B43B6E5-6CE5-40C5-9D8A-FB1A0FC1CB95}"/>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3 · Logical Architecture</a:t>
            </a:r>
            <a:endParaRPr sz="1200"/>
          </a:p>
        </p:txBody>
      </p:sp>
      <p:pic>
        <p:nvPicPr>
          <p:cNvPr id="5" name="logical detail deployment diagram">
            <a:extLst xmlns:a="http://schemas.openxmlformats.org/drawingml/2006/main">
              <a:ext uri="{FF2B5EF4-FFF2-40B4-BE49-F238E27FC236}">
                <a16:creationId xmlns:a16="http://schemas.microsoft.com/office/drawing/2014/main" id="{B0F2F221-5F94-4D19-8A5D-A3FAEBE595F5}"/>
              </a:ext>
            </a:extLst>
          </p:cNvPr>
          <p:cNvPicPr>
            <a:picLocks xmlns:a="http://schemas.openxmlformats.org/drawingml/2006/main" noChangeAspect="1"/>
          </p:cNvPicPr>
          <p:nvPr/>
        </p:nvPicPr>
        <p:blipFill>
          <a:blip xmlns:r="http://schemas.openxmlformats.org/officeDocument/2006/relationships" xmlns:a="http://schemas.openxmlformats.org/drawingml/2006/main" r:embed="R537637ecccb24e39"/>
          <a:stretch xmlns:a="http://schemas.openxmlformats.org/drawingml/2006/main">
            <a:fillRect l="0" t="0" r="0" b="0"/>
          </a:stretch>
        </p:blipFill>
        <p:spPr>
          <a:xfrm xmlns:a="http://schemas.openxmlformats.org/drawingml/2006/main">
            <a:off x="776888" y="1143000"/>
            <a:ext cx="10635175" cy="493776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6425F4A5-24F9-49F9-88C0-7C9283FD15E6}"/>
              </a:ext>
            </a:extLst>
          </p:cNvPr>
          <p:cNvSpPr>
            <a:spLocks xmlns:a="http://schemas.openxmlformats.org/drawingml/2006/main" noGrp="1"/>
          </p:cNvSpPr>
          <p:nvPr/>
        </p:nvSpPr>
        <p:spPr>
          <a:xfrm xmlns:a="http://schemas.openxmlformats.org/drawingml/2006/main">
            <a:off x="457200" y="6053328"/>
            <a:ext cx="1127455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B6472"/>
                </a:solidFill>
              </a:rPr>
              <a:t>Each subsystem owns its data · workers belong to the Evaluation context · the model adapter is an anticorruption layer protected by a circuit breaker</a:t>
            </a:r>
            <a:endParaRPr sz="1200"/>
          </a:p>
        </p:txBody>
      </p:sp>
      <p:sp>
        <p:nvSpPr>
          <p:cNvPr id="25" name="Slide Number Placeholder 0">
            <a:extLst xmlns:a="http://schemas.openxmlformats.org/drawingml/2006/main">
              <a:ext uri="{FF2B5EF4-FFF2-40B4-BE49-F238E27FC236}">
                <a16:creationId xmlns:a16="http://schemas.microsoft.com/office/drawing/2014/main" id="{1A569089-8F7C-4DBB-A52F-7A4776C5D9B4}"/>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7</a:t>
            </a:fld>
            <a:endParaRPr/>
          </a:p>
        </p:txBody>
      </p:sp>
    </p:spTree>
    <p:extLst>
      <p:ext uri="{BB962C8B-B14F-4D97-AF65-F5344CB8AC3E}">
        <p14:creationId xmlns:p14="http://schemas.microsoft.com/office/powerpoint/2010/main" val="103928197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3D8A5FD-8456-4381-8DFE-5640F8CCD124}"/>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DDD: bounded contexts and context map</a:t>
            </a:r>
            <a:endParaRPr sz="2800"/>
          </a:p>
        </p:txBody>
      </p:sp>
      <p:sp>
        <p:nvSpPr>
          <p:cNvPr id="3" name="section pill">
            <a:extLst xmlns:a="http://schemas.openxmlformats.org/drawingml/2006/main">
              <a:ext uri="{FF2B5EF4-FFF2-40B4-BE49-F238E27FC236}">
                <a16:creationId xmlns:a16="http://schemas.microsoft.com/office/drawing/2014/main" id="{3D0739F4-EB82-466D-8EE3-933DD1E9D954}"/>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4D0AEABC-379A-4ED1-8F41-3024F439952B}"/>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3 · Logical Architecture</a:t>
            </a:r>
            <a:endParaRPr sz="1200"/>
          </a:p>
        </p:txBody>
      </p:sp>
      <p:pic>
        <p:nvPicPr>
          <p:cNvPr id="5" name="context map">
            <a:extLst xmlns:a="http://schemas.openxmlformats.org/drawingml/2006/main">
              <a:ext uri="{FF2B5EF4-FFF2-40B4-BE49-F238E27FC236}">
                <a16:creationId xmlns:a16="http://schemas.microsoft.com/office/drawing/2014/main" id="{5DCEF580-BA48-4B23-A2E0-EB36C96B0511}"/>
              </a:ext>
            </a:extLst>
          </p:cNvPr>
          <p:cNvPicPr>
            <a:picLocks xmlns:a="http://schemas.openxmlformats.org/drawingml/2006/main" noChangeAspect="1"/>
          </p:cNvPicPr>
          <p:nvPr/>
        </p:nvPicPr>
        <p:blipFill>
          <a:blip xmlns:r="http://schemas.openxmlformats.org/officeDocument/2006/relationships" xmlns:a="http://schemas.openxmlformats.org/drawingml/2006/main" r:embed="Reaac430b64eb4a10"/>
          <a:stretch xmlns:a="http://schemas.openxmlformats.org/drawingml/2006/main">
            <a:fillRect l="0" t="0" r="0" b="0"/>
          </a:stretch>
        </p:blipFill>
        <p:spPr>
          <a:xfrm xmlns:a="http://schemas.openxmlformats.org/drawingml/2006/main">
            <a:off x="677524" y="1188720"/>
            <a:ext cx="10833904" cy="475488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E9E38DB3-B975-4EC9-952F-64565909BEE7}"/>
              </a:ext>
            </a:extLst>
          </p:cNvPr>
          <p:cNvSpPr>
            <a:spLocks xmlns:a="http://schemas.openxmlformats.org/drawingml/2006/main" noGrp="1"/>
          </p:cNvSpPr>
          <p:nvPr/>
        </p:nvSpPr>
        <p:spPr>
          <a:xfrm xmlns:a="http://schemas.openxmlformats.org/drawingml/2006/main">
            <a:off x="457200" y="6053328"/>
            <a:ext cx="1127455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B6472"/>
                </a:solidFill>
              </a:rPr>
              <a:t>Ubiquitous language: execution succeeded ≠ rule eligible ≠ approved</a:t>
            </a:r>
            <a:endParaRPr sz="1200"/>
          </a:p>
        </p:txBody>
      </p:sp>
      <p:sp>
        <p:nvSpPr>
          <p:cNvPr id="25" name="Slide Number Placeholder 0">
            <a:extLst xmlns:a="http://schemas.openxmlformats.org/drawingml/2006/main">
              <a:ext uri="{FF2B5EF4-FFF2-40B4-BE49-F238E27FC236}">
                <a16:creationId xmlns:a16="http://schemas.microsoft.com/office/drawing/2014/main" id="{C415C4CD-A75F-4668-B840-F0A4CAAE825D}"/>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8</a:t>
            </a:fld>
            <a:endParaRPr/>
          </a:p>
        </p:txBody>
      </p:sp>
    </p:spTree>
    <p:extLst>
      <p:ext uri="{BB962C8B-B14F-4D97-AF65-F5344CB8AC3E}">
        <p14:creationId xmlns:p14="http://schemas.microsoft.com/office/powerpoint/2010/main" val="59718389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F2439E7-143E-4D77-9452-73E78D7F4EB9}"/>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How producers and consumers integrate</a:t>
            </a:r>
            <a:endParaRPr sz="2800"/>
          </a:p>
        </p:txBody>
      </p:sp>
      <p:sp>
        <p:nvSpPr>
          <p:cNvPr id="3" name="section pill">
            <a:extLst xmlns:a="http://schemas.openxmlformats.org/drawingml/2006/main">
              <a:ext uri="{FF2B5EF4-FFF2-40B4-BE49-F238E27FC236}">
                <a16:creationId xmlns:a16="http://schemas.microsoft.com/office/drawing/2014/main" id="{9DA12F0E-7B46-4B70-9710-861F6B9941B6}"/>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DF4BDDEF-2B42-4F3D-866E-3735FEED7658}"/>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3 · Logical Architecture</a:t>
            </a:r>
            <a:endParaRPr sz="1200"/>
          </a:p>
        </p:txBody>
      </p:sp>
      <p:graphicFrame>
        <p:nvGraphicFramePr>
          <p:cNvPr id="10" name="integration endpoints">
            <a:extLst xmlns:a="http://schemas.openxmlformats.org/drawingml/2006/main">
              <a:ext uri="{FF2B5EF4-FFF2-40B4-BE49-F238E27FC236}">
                <a16:creationId xmlns:a16="http://schemas.microsoft.com/office/drawing/2014/main" id="{02F4645E-86ED-49F7-9F32-34169A016D1A}"/>
              </a:ext>
            </a:extLst>
          </p:cNvPr>
          <p:cNvGraphicFramePr/>
          <p:nvPr/>
        </p:nvGraphicFramePr>
        <p:xfrm>
          <a:off xmlns:a="http://schemas.openxmlformats.org/drawingml/2006/main" x="457200" y="1188720"/>
          <a:ext xmlns:a="http://schemas.openxmlformats.org/drawingml/2006/main" cx="11274552" cy="914400"/>
        </p:xfrm>
        <a:graphic xmlns:a="http://schemas.openxmlformats.org/drawingml/2006/main">
          <a:graphicData uri="http://schemas.openxmlformats.org/drawingml/2006/table">
            <a:tbl>
              <a:tblPr/>
              <a:tblGrid>
                <a:gridCol w="1828800"/>
                <a:gridCol w="2331720"/>
                <a:gridCol w="2377440"/>
                <a:gridCol w="2240280"/>
                <a:gridCol w="2496312"/>
              </a:tblGrid>
              <a:tr h="0">
                <a:tc gridSpan="5">
                  <a:txBody>
                    <a:bodyPr/>
                    <a:lstStyle/>
                    <a:p>
                      <a:pPr marL="0" indent="0">
                        <a:buNone/>
                      </a:pPr>
                      <a:r>
                        <a:rPr sz="1300">
                          <a:solidFill>
                            <a:srgbClr val="FFFFFF"/>
                          </a:solidFill>
                          <a:latin typeface="Arial"/>
                          <a:ea typeface="Arial"/>
                          <a:cs typeface="Arial"/>
                        </a:rPr>
                        <a:t>Integration Endpoints</a:t>
                      </a:r>
                      <a:endParaRPr sz="13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14325C"/>
                    </a:solidFill>
                  </a:tcPr>
                </a:tc>
                <a:tc hMerge="1">
                  <a:txBody>
                    <a:bodyPr/>
                    <a:lstStyle/>
                    <a:p>
                      <a:pPr/>
                    </a:p>
                  </a:txBody>
                  <a:tcPr marL="91440" marR="91440" marT="45720" marB="45720"/>
                </a:tc>
                <a:tc hMerge="1">
                  <a:txBody>
                    <a:bodyPr/>
                    <a:lstStyle/>
                    <a:p>
                      <a:pPr/>
                    </a:p>
                  </a:txBody>
                  <a:tcPr marL="91440" marR="91440" marT="45720" marB="45720"/>
                </a:tc>
                <a:tc hMerge="1">
                  <a:txBody>
                    <a:bodyPr/>
                    <a:lstStyle/>
                    <a:p>
                      <a:pPr/>
                    </a:p>
                  </a:txBody>
                  <a:tcPr marL="91440" marR="91440" marT="45720" marB="45720"/>
                </a:tc>
                <a:tc hMerge="1">
                  <a:txBody>
                    <a:bodyPr/>
                    <a:lstStyle/>
                    <a:p>
                      <a:pPr/>
                    </a:p>
                  </a:txBody>
                  <a:tcPr marL="91440" marR="91440" marT="45720" marB="45720"/>
                </a:tc>
              </a:tr>
              <a:tr h="0">
                <a:tc>
                  <a:txBody>
                    <a:bodyPr/>
                    <a:lstStyle/>
                    <a:p>
                      <a:pPr marL="0" indent="0">
                        <a:buNone/>
                      </a:pPr>
                      <a:r>
                        <a:rPr sz="1200" b="1">
                          <a:solidFill>
                            <a:srgbClr val="FFFFFF"/>
                          </a:solidFill>
                          <a:latin typeface="Arial"/>
                          <a:ea typeface="Arial"/>
                          <a:cs typeface="Arial"/>
                        </a:rPr>
                        <a:t>Source</a:t>
                      </a:r>
                      <a:endParaRPr sz="12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c>
                  <a:txBody>
                    <a:bodyPr/>
                    <a:lstStyle/>
                    <a:p>
                      <a:pPr marL="0" indent="0">
                        <a:buNone/>
                      </a:pPr>
                      <a:r>
                        <a:rPr sz="1200" b="1">
                          <a:solidFill>
                            <a:srgbClr val="FFFFFF"/>
                          </a:solidFill>
                          <a:latin typeface="Arial"/>
                          <a:ea typeface="Arial"/>
                          <a:cs typeface="Arial"/>
                        </a:rPr>
                        <a:t>Destination</a:t>
                      </a:r>
                      <a:endParaRPr sz="12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c>
                  <a:txBody>
                    <a:bodyPr/>
                    <a:lstStyle/>
                    <a:p>
                      <a:pPr marL="0" indent="0">
                        <a:buNone/>
                      </a:pPr>
                      <a:r>
                        <a:rPr sz="1200" b="1">
                          <a:solidFill>
                            <a:srgbClr val="FFFFFF"/>
                          </a:solidFill>
                          <a:latin typeface="Arial"/>
                          <a:ea typeface="Arial"/>
                          <a:cs typeface="Arial"/>
                        </a:rPr>
                        <a:t>Protocol</a:t>
                      </a:r>
                      <a:endParaRPr sz="12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c>
                  <a:txBody>
                    <a:bodyPr/>
                    <a:lstStyle/>
                    <a:p>
                      <a:pPr marL="0" indent="0">
                        <a:buNone/>
                      </a:pPr>
                      <a:r>
                        <a:rPr sz="1200" b="1">
                          <a:solidFill>
                            <a:srgbClr val="FFFFFF"/>
                          </a:solidFill>
                          <a:latin typeface="Arial"/>
                          <a:ea typeface="Arial"/>
                          <a:cs typeface="Arial"/>
                        </a:rPr>
                        <a:t>Format</a:t>
                      </a:r>
                      <a:endParaRPr sz="12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c>
                  <a:txBody>
                    <a:bodyPr/>
                    <a:lstStyle/>
                    <a:p>
                      <a:pPr marL="0" indent="0">
                        <a:buNone/>
                      </a:pPr>
                      <a:r>
                        <a:rPr sz="1200" b="1">
                          <a:solidFill>
                            <a:srgbClr val="FFFFFF"/>
                          </a:solidFill>
                          <a:latin typeface="Arial"/>
                          <a:ea typeface="Arial"/>
                          <a:cs typeface="Arial"/>
                        </a:rPr>
                        <a:t>Transformation Needed?</a:t>
                      </a:r>
                      <a:endParaRPr sz="12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r>
              <a:tr h="0">
                <a:tc>
                  <a:txBody>
                    <a:bodyPr/>
                    <a:lstStyle/>
                    <a:p>
                      <a:pPr marL="0" indent="0">
                        <a:buNone/>
                      </a:pPr>
                      <a:r>
                        <a:rPr sz="1100">
                          <a:solidFill>
                            <a:srgbClr val="1F2937"/>
                          </a:solidFill>
                          <a:latin typeface="Arial"/>
                          <a:ea typeface="Arial"/>
                          <a:cs typeface="Arial"/>
                        </a:rPr>
                        <a:t>Console (browser)</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00">
                          <a:solidFill>
                            <a:srgbClr val="1F2937"/>
                          </a:solidFill>
                          <a:latin typeface="Arial"/>
                          <a:ea typeface="Arial"/>
                          <a:cs typeface="Arial"/>
                        </a:rPr>
                        <a:t>Gateway</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00">
                          <a:solidFill>
                            <a:srgbClr val="1F2937"/>
                          </a:solidFill>
                          <a:latin typeface="Arial"/>
                          <a:ea typeface="Arial"/>
                          <a:cs typeface="Arial"/>
                        </a:rPr>
                        <a:t>HTTPS + OIDC token</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00">
                          <a:solidFill>
                            <a:srgbClr val="1F2937"/>
                          </a:solidFill>
                          <a:latin typeface="Arial"/>
                          <a:ea typeface="Arial"/>
                          <a:cs typeface="Arial"/>
                        </a:rPr>
                        <a:t>JSON, /api/v2/*</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00">
                          <a:solidFill>
                            <a:srgbClr val="1F2937"/>
                          </a:solidFill>
                          <a:latin typeface="Arial"/>
                          <a:ea typeface="Arial"/>
                          <a:cs typeface="Arial"/>
                        </a:rPr>
                        <a:t>No</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100">
                          <a:solidFill>
                            <a:srgbClr val="1F2937"/>
                          </a:solidFill>
                          <a:latin typeface="Arial"/>
                          <a:ea typeface="Arial"/>
                          <a:cs typeface="Arial"/>
                        </a:rPr>
                        <a:t>CLI / CI pipeline</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00">
                          <a:solidFill>
                            <a:srgbClr val="1F2937"/>
                          </a:solidFill>
                          <a:latin typeface="Arial"/>
                          <a:ea typeface="Arial"/>
                          <a:cs typeface="Arial"/>
                        </a:rPr>
                        <a:t>Gateway</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00">
                          <a:solidFill>
                            <a:srgbClr val="1F2937"/>
                          </a:solidFill>
                          <a:latin typeface="Arial"/>
                          <a:ea typeface="Arial"/>
                          <a:cs typeface="Arial"/>
                        </a:rPr>
                        <a:t>HTTPS + OIDC token</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00">
                          <a:solidFill>
                            <a:srgbClr val="1F2937"/>
                          </a:solidFill>
                          <a:latin typeface="Arial"/>
                          <a:ea typeface="Arial"/>
                          <a:cs typeface="Arial"/>
                        </a:rPr>
                        <a:t>JSON</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00">
                          <a:solidFill>
                            <a:srgbClr val="1F2937"/>
                          </a:solidFill>
                          <a:latin typeface="Arial"/>
                          <a:ea typeface="Arial"/>
                          <a:cs typeface="Arial"/>
                        </a:rPr>
                        <a:t>No – exit code 3 when the gate blocks</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100">
                          <a:solidFill>
                            <a:srgbClr val="1F2937"/>
                          </a:solidFill>
                          <a:latin typeface="Arial"/>
                          <a:ea typeface="Arial"/>
                          <a:cs typeface="Arial"/>
                        </a:rPr>
                        <a:t>Gateway</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00">
                          <a:solidFill>
                            <a:srgbClr val="1F2937"/>
                          </a:solidFill>
                          <a:latin typeface="Arial"/>
                          <a:ea typeface="Arial"/>
                          <a:cs typeface="Arial"/>
                        </a:rPr>
                        <a:t>Assets / Evaluation / Review</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00">
                          <a:solidFill>
                            <a:srgbClr val="1F2937"/>
                          </a:solidFill>
                          <a:latin typeface="Arial"/>
                          <a:ea typeface="Arial"/>
                          <a:cs typeface="Arial"/>
                        </a:rPr>
                        <a:t>HTTP (cluster-internal)</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00">
                          <a:solidFill>
                            <a:srgbClr val="1F2937"/>
                          </a:solidFill>
                          <a:latin typeface="Arial"/>
                          <a:ea typeface="Arial"/>
                          <a:cs typeface="Arial"/>
                        </a:rPr>
                        <a:t>JSON</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00">
                          <a:solidFill>
                            <a:srgbClr val="1F2937"/>
                          </a:solidFill>
                          <a:latin typeface="Arial"/>
                          <a:ea typeface="Arial"/>
                          <a:cs typeface="Arial"/>
                        </a:rPr>
                        <a:t>No – each service validates the token</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100">
                          <a:solidFill>
                            <a:srgbClr val="1F2937"/>
                          </a:solidFill>
                          <a:latin typeface="Arial"/>
                          <a:ea typeface="Arial"/>
                          <a:cs typeface="Arial"/>
                        </a:rPr>
                        <a:t>Evaluation Service</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00">
                          <a:solidFill>
                            <a:srgbClr val="1F2937"/>
                          </a:solidFill>
                          <a:latin typeface="Arial"/>
                          <a:ea typeface="Arial"/>
                          <a:cs typeface="Arial"/>
                        </a:rPr>
                        <a:t>Asset Service</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00">
                          <a:solidFill>
                            <a:srgbClr val="1F2937"/>
                          </a:solidFill>
                          <a:latin typeface="Arial"/>
                          <a:ea typeface="Arial"/>
                          <a:cs typeface="Arial"/>
                        </a:rPr>
                        <a:t>HTTP + service token</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00">
                          <a:solidFill>
                            <a:srgbClr val="1F2937"/>
                          </a:solidFill>
                          <a:latin typeface="Arial"/>
                          <a:ea typeface="Arial"/>
                          <a:cs typeface="Arial"/>
                        </a:rPr>
                        <a:t>JSON snapshot</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00">
                          <a:solidFill>
                            <a:srgbClr val="1F2937"/>
                          </a:solidFill>
                          <a:latin typeface="Arial"/>
                          <a:ea typeface="Arial"/>
                          <a:cs typeface="Arial"/>
                        </a:rPr>
                        <a:t>No – stored as an immutable copy</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100">
                          <a:solidFill>
                            <a:srgbClr val="1F2937"/>
                          </a:solidFill>
                          <a:latin typeface="Arial"/>
                          <a:ea typeface="Arial"/>
                          <a:cs typeface="Arial"/>
                        </a:rPr>
                        <a:t>Evaluation Service</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00">
                          <a:solidFill>
                            <a:srgbClr val="1F2937"/>
                          </a:solidFill>
                          <a:latin typeface="Arial"/>
                          <a:ea typeface="Arial"/>
                          <a:cs typeface="Arial"/>
                        </a:rPr>
                        <a:t>Message Broker</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00">
                          <a:solidFill>
                            <a:srgbClr val="1F2937"/>
                          </a:solidFill>
                          <a:latin typeface="Arial"/>
                          <a:ea typeface="Arial"/>
                          <a:cs typeface="Arial"/>
                        </a:rPr>
                        <a:t>AMQPS, publisher confirms</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00">
                          <a:solidFill>
                            <a:srgbClr val="1F2937"/>
                          </a:solidFill>
                          <a:latin typeface="Arial"/>
                          <a:ea typeface="Arial"/>
                          <a:cs typeface="Arial"/>
                        </a:rPr>
                        <a:t>JSON job ID + traceparent header</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00">
                          <a:solidFill>
                            <a:srgbClr val="1F2937"/>
                          </a:solidFill>
                          <a:latin typeface="Arial"/>
                          <a:ea typeface="Arial"/>
                          <a:cs typeface="Arial"/>
                        </a:rPr>
                        <a:t>No</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100">
                          <a:solidFill>
                            <a:srgbClr val="1F2937"/>
                          </a:solidFill>
                          <a:latin typeface="Arial"/>
                          <a:ea typeface="Arial"/>
                          <a:cs typeface="Arial"/>
                        </a:rPr>
                        <a:t>Message Broker</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00">
                          <a:solidFill>
                            <a:srgbClr val="1F2937"/>
                          </a:solidFill>
                          <a:latin typeface="Arial"/>
                          <a:ea typeface="Arial"/>
                          <a:cs typeface="Arial"/>
                        </a:rPr>
                        <a:t>Worker</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00">
                          <a:solidFill>
                            <a:srgbClr val="1F2937"/>
                          </a:solidFill>
                          <a:latin typeface="Arial"/>
                          <a:ea typeface="Arial"/>
                          <a:cs typeface="Arial"/>
                        </a:rPr>
                        <a:t>AMQPS, manual ack</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00">
                          <a:solidFill>
                            <a:srgbClr val="1F2937"/>
                          </a:solidFill>
                          <a:latin typeface="Arial"/>
                          <a:ea typeface="Arial"/>
                          <a:cs typeface="Arial"/>
                        </a:rPr>
                        <a:t>JSON job ID + traceparent header</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00">
                          <a:solidFill>
                            <a:srgbClr val="1F2937"/>
                          </a:solidFill>
                          <a:latin typeface="Arial"/>
                          <a:ea typeface="Arial"/>
                          <a:cs typeface="Arial"/>
                        </a:rPr>
                        <a:t>No – worker reads the job from its DB</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100">
                          <a:solidFill>
                            <a:srgbClr val="1F2937"/>
                          </a:solidFill>
                          <a:latin typeface="Arial"/>
                          <a:ea typeface="Arial"/>
                          <a:cs typeface="Arial"/>
                        </a:rPr>
                        <a:t>Worker</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00">
                          <a:solidFill>
                            <a:srgbClr val="1F2937"/>
                          </a:solidFill>
                          <a:latin typeface="Arial"/>
                          <a:ea typeface="Arial"/>
                          <a:cs typeface="Arial"/>
                        </a:rPr>
                        <a:t>Support Adapter</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00">
                          <a:solidFill>
                            <a:srgbClr val="1F2937"/>
                          </a:solidFill>
                          <a:latin typeface="Arial"/>
                          <a:ea typeface="Arial"/>
                          <a:cs typeface="Arial"/>
                        </a:rPr>
                        <a:t>HTTP (runner contract)</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00">
                          <a:solidFill>
                            <a:srgbClr val="1F2937"/>
                          </a:solidFill>
                          <a:latin typeface="Arial"/>
                          <a:ea typeface="Arial"/>
                          <a:cs typeface="Arial"/>
                        </a:rPr>
                        <a:t>JSON</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00">
                          <a:solidFill>
                            <a:srgbClr val="1F2937"/>
                          </a:solidFill>
                          <a:latin typeface="Arial"/>
                          <a:ea typeface="Arial"/>
                          <a:cs typeface="Arial"/>
                        </a:rPr>
                        <a:t>No</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100">
                          <a:solidFill>
                            <a:srgbClr val="1F2937"/>
                          </a:solidFill>
                          <a:latin typeface="Arial"/>
                          <a:ea typeface="Arial"/>
                          <a:cs typeface="Arial"/>
                        </a:rPr>
                        <a:t>Support Adapter</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00">
                          <a:solidFill>
                            <a:srgbClr val="1F2937"/>
                          </a:solidFill>
                          <a:latin typeface="Arial"/>
                          <a:ea typeface="Arial"/>
                          <a:cs typeface="Arial"/>
                        </a:rPr>
                        <a:t>External Model Provider</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00">
                          <a:solidFill>
                            <a:srgbClr val="1F2937"/>
                          </a:solidFill>
                          <a:latin typeface="Arial"/>
                          <a:ea typeface="Arial"/>
                          <a:cs typeface="Arial"/>
                        </a:rPr>
                        <a:t>HTTPS, server-side key, circuit breaker</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00">
                          <a:solidFill>
                            <a:srgbClr val="1F2937"/>
                          </a:solidFill>
                          <a:latin typeface="Arial"/>
                          <a:ea typeface="Arial"/>
                          <a:cs typeface="Arial"/>
                        </a:rPr>
                        <a:t>Provider JSON</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00" b="1">
                          <a:solidFill>
                            <a:srgbClr val="1F2937"/>
                          </a:solidFill>
                          <a:latin typeface="Arial"/>
                          <a:ea typeface="Arial"/>
                          <a:cs typeface="Arial"/>
                        </a:rPr>
                        <a:t>Yes – ACL maps to bounded output, error, provenance</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100">
                          <a:solidFill>
                            <a:srgbClr val="1F2937"/>
                          </a:solidFill>
                          <a:latin typeface="Arial"/>
                          <a:ea typeface="Arial"/>
                          <a:cs typeface="Arial"/>
                        </a:rPr>
                        <a:t>Review Service</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00">
                          <a:solidFill>
                            <a:srgbClr val="1F2937"/>
                          </a:solidFill>
                          <a:latin typeface="Arial"/>
                          <a:ea typeface="Arial"/>
                          <a:cs typeface="Arial"/>
                        </a:rPr>
                        <a:t>Evaluation Service</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00">
                          <a:solidFill>
                            <a:srgbClr val="1F2937"/>
                          </a:solidFill>
                          <a:latin typeface="Arial"/>
                          <a:ea typeface="Arial"/>
                          <a:cs typeface="Arial"/>
                        </a:rPr>
                        <a:t>HTTP + service token</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00">
                          <a:solidFill>
                            <a:srgbClr val="1F2937"/>
                          </a:solidFill>
                          <a:latin typeface="Arial"/>
                          <a:ea typeface="Arial"/>
                          <a:cs typeface="Arial"/>
                        </a:rPr>
                        <a:t>JSON evidence</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100">
                          <a:solidFill>
                            <a:srgbClr val="1F2937"/>
                          </a:solidFill>
                          <a:latin typeface="Arial"/>
                          <a:ea typeface="Arial"/>
                          <a:cs typeface="Arial"/>
                        </a:rPr>
                        <a:t>No – copied into the review snapshot</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100">
                          <a:solidFill>
                            <a:srgbClr val="1F2937"/>
                          </a:solidFill>
                          <a:latin typeface="Arial"/>
                          <a:ea typeface="Arial"/>
                          <a:cs typeface="Arial"/>
                        </a:rPr>
                        <a:t>Business services</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00">
                          <a:solidFill>
                            <a:srgbClr val="1F2937"/>
                          </a:solidFill>
                          <a:latin typeface="Arial"/>
                          <a:ea typeface="Arial"/>
                          <a:cs typeface="Arial"/>
                        </a:rPr>
                        <a:t>PostgreSQL (own DB)</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00">
                          <a:solidFill>
                            <a:srgbClr val="1F2937"/>
                          </a:solidFill>
                          <a:latin typeface="Arial"/>
                          <a:ea typeface="Arial"/>
                          <a:cs typeface="Arial"/>
                        </a:rPr>
                        <a:t>PostgreSQL over TLS</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00">
                          <a:solidFill>
                            <a:srgbClr val="1F2937"/>
                          </a:solidFill>
                          <a:latin typeface="Arial"/>
                          <a:ea typeface="Arial"/>
                          <a:cs typeface="Arial"/>
                        </a:rPr>
                        <a:t>SQL + JSONB</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100">
                          <a:solidFill>
                            <a:srgbClr val="1F2937"/>
                          </a:solidFill>
                          <a:latin typeface="Arial"/>
                          <a:ea typeface="Arial"/>
                          <a:cs typeface="Arial"/>
                        </a:rPr>
                        <a:t>No</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100">
                          <a:solidFill>
                            <a:srgbClr val="1F2937"/>
                          </a:solidFill>
                          <a:latin typeface="Arial"/>
                          <a:ea typeface="Arial"/>
                          <a:cs typeface="Arial"/>
                        </a:rPr>
                        <a:t>All app services</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FF3C4"/>
                    </a:solidFill>
                  </a:tcPr>
                </a:tc>
                <a:tc>
                  <a:txBody>
                    <a:bodyPr/>
                    <a:lstStyle/>
                    <a:p>
                      <a:pPr marL="0" indent="0">
                        <a:buNone/>
                      </a:pPr>
                      <a:r>
                        <a:rPr sz="1100">
                          <a:solidFill>
                            <a:srgbClr val="1F2937"/>
                          </a:solidFill>
                          <a:latin typeface="Arial"/>
                          <a:ea typeface="Arial"/>
                          <a:cs typeface="Arial"/>
                        </a:rPr>
                        <a:t>Jaeger (local lab)</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FF3C4"/>
                    </a:solidFill>
                  </a:tcPr>
                </a:tc>
                <a:tc>
                  <a:txBody>
                    <a:bodyPr/>
                    <a:lstStyle/>
                    <a:p>
                      <a:pPr marL="0" indent="0">
                        <a:buNone/>
                      </a:pPr>
                      <a:r>
                        <a:rPr sz="1100">
                          <a:solidFill>
                            <a:srgbClr val="1F2937"/>
                          </a:solidFill>
                          <a:latin typeface="Arial"/>
                          <a:ea typeface="Arial"/>
                          <a:cs typeface="Arial"/>
                        </a:rPr>
                        <a:t>OTLP over HTTP</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FF3C4"/>
                    </a:solidFill>
                  </a:tcPr>
                </a:tc>
                <a:tc>
                  <a:txBody>
                    <a:bodyPr/>
                    <a:lstStyle/>
                    <a:p>
                      <a:pPr marL="0" indent="0">
                        <a:buNone/>
                      </a:pPr>
                      <a:r>
                        <a:rPr sz="1100">
                          <a:solidFill>
                            <a:srgbClr val="1F2937"/>
                          </a:solidFill>
                          <a:latin typeface="Arial"/>
                          <a:ea typeface="Arial"/>
                          <a:cs typeface="Arial"/>
                        </a:rPr>
                        <a:t>Spans with W3C trace context</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FF3C4"/>
                    </a:solidFill>
                  </a:tcPr>
                </a:tc>
                <a:tc>
                  <a:txBody>
                    <a:bodyPr/>
                    <a:lstStyle/>
                    <a:p>
                      <a:pPr marL="0" indent="0">
                        <a:buNone/>
                      </a:pPr>
                      <a:r>
                        <a:rPr sz="1100">
                          <a:solidFill>
                            <a:srgbClr val="1F2937"/>
                          </a:solidFill>
                          <a:latin typeface="Arial"/>
                          <a:ea typeface="Arial"/>
                          <a:cs typeface="Arial"/>
                        </a:rPr>
                        <a:t>No – trace IDs only, no baggage</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FF3C4"/>
                    </a:solidFill>
                  </a:tcPr>
                </a:tc>
              </a:tr>
              <a:tr h="0">
                <a:tc>
                  <a:txBody>
                    <a:bodyPr/>
                    <a:lstStyle/>
                    <a:p>
                      <a:pPr marL="0" indent="0">
                        <a:buNone/>
                      </a:pPr>
                      <a:r>
                        <a:rPr sz="1100">
                          <a:solidFill>
                            <a:srgbClr val="1F2937"/>
                          </a:solidFill>
                          <a:latin typeface="Arial"/>
                          <a:ea typeface="Arial"/>
                          <a:cs typeface="Arial"/>
                        </a:rPr>
                        <a:t>Service log files</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FF3C4"/>
                    </a:solidFill>
                  </a:tcPr>
                </a:tc>
                <a:tc>
                  <a:txBody>
                    <a:bodyPr/>
                    <a:lstStyle/>
                    <a:p>
                      <a:pPr marL="0" indent="0">
                        <a:buNone/>
                      </a:pPr>
                      <a:r>
                        <a:rPr sz="1100">
                          <a:solidFill>
                            <a:srgbClr val="1F2937"/>
                          </a:solidFill>
                          <a:latin typeface="Arial"/>
                          <a:ea typeface="Arial"/>
                          <a:cs typeface="Arial"/>
                        </a:rPr>
                        <a:t>Alloy → Loki → Grafana (local lab)</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FF3C4"/>
                    </a:solidFill>
                  </a:tcPr>
                </a:tc>
                <a:tc>
                  <a:txBody>
                    <a:bodyPr/>
                    <a:lstStyle/>
                    <a:p>
                      <a:pPr marL="0" indent="0">
                        <a:buNone/>
                      </a:pPr>
                      <a:r>
                        <a:rPr sz="1100">
                          <a:solidFill>
                            <a:srgbClr val="1F2937"/>
                          </a:solidFill>
                          <a:latin typeface="Arial"/>
                          <a:ea typeface="Arial"/>
                          <a:cs typeface="Arial"/>
                        </a:rPr>
                        <a:t>File tail → Loki push</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FF3C4"/>
                    </a:solidFill>
                  </a:tcPr>
                </a:tc>
                <a:tc>
                  <a:txBody>
                    <a:bodyPr/>
                    <a:lstStyle/>
                    <a:p>
                      <a:pPr marL="0" indent="0">
                        <a:buNone/>
                      </a:pPr>
                      <a:r>
                        <a:rPr sz="1100">
                          <a:solidFill>
                            <a:srgbClr val="1F2937"/>
                          </a:solidFill>
                          <a:latin typeface="Arial"/>
                          <a:ea typeface="Arial"/>
                          <a:cs typeface="Arial"/>
                        </a:rPr>
                        <a:t>JSON logs: service, traceId, spanId</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FF3C4"/>
                    </a:solidFill>
                  </a:tcPr>
                </a:tc>
                <a:tc>
                  <a:txBody>
                    <a:bodyPr/>
                    <a:lstStyle/>
                    <a:p>
                      <a:pPr marL="0" indent="0">
                        <a:buNone/>
                      </a:pPr>
                      <a:r>
                        <a:rPr sz="1100">
                          <a:solidFill>
                            <a:srgbClr val="1F2937"/>
                          </a:solidFill>
                          <a:latin typeface="Arial"/>
                          <a:ea typeface="Arial"/>
                          <a:cs typeface="Arial"/>
                        </a:rPr>
                        <a:t>No – auth, cookie, query kept out</a:t>
                      </a:r>
                      <a:endParaRPr sz="1100">
                        <a:latin typeface="Arial"/>
                        <a:ea typeface="Arial"/>
                        <a:cs typeface="Arial"/>
                      </a:endParaRPr>
                    </a:p>
                  </a:txBody>
                  <a:tcPr marL="64008" marR="64008" marT="27432" marB="27432"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FF3C4"/>
                    </a:solidFill>
                  </a:tcPr>
                </a:tc>
              </a:tr>
            </a:tbl>
          </a:graphicData>
        </a:graphic>
      </p:graphicFrame>
      <p:sp>
        <p:nvSpPr>
          <p:cNvPr id="6" name="integration note">
            <a:extLst xmlns:a="http://schemas.openxmlformats.org/drawingml/2006/main">
              <a:ext uri="{FF2B5EF4-FFF2-40B4-BE49-F238E27FC236}">
                <a16:creationId xmlns:a16="http://schemas.microsoft.com/office/drawing/2014/main" id="{F58D1C8A-8064-4A1E-BB01-2EB80448C408}"/>
              </a:ext>
            </a:extLst>
          </p:cNvPr>
          <p:cNvSpPr>
            <a:spLocks xmlns:a="http://schemas.openxmlformats.org/drawingml/2006/main" noGrp="1"/>
          </p:cNvSpPr>
          <p:nvPr/>
        </p:nvSpPr>
        <p:spPr>
          <a:xfrm xmlns:a="http://schemas.openxmlformats.org/drawingml/2006/main">
            <a:off x="457200" y="5897880"/>
            <a:ext cx="1127455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4325C"/>
                </a:solidFill>
              </a:rPr>
              <a:t>Producers </a:t>
            </a:r>
            <a:r>
              <a:rPr sz="1300">
                <a:solidFill>
                  <a:srgbClr val="000000"/>
                </a:solidFill>
              </a:rPr>
              <a:t>register applications and append suite versions.  </a:t>
            </a:r>
            <a:r>
              <a:rPr sz="1300" b="1">
                <a:solidFill>
                  <a:srgbClr val="14325C"/>
                </a:solidFill>
              </a:rPr>
              <a:t>Consumers </a:t>
            </a:r>
            <a:r>
              <a:rPr sz="1300">
                <a:solidFill>
                  <a:srgbClr val="000000"/>
                </a:solidFill>
              </a:rPr>
              <a:t>reuse the same APIs.  </a:t>
            </a:r>
            <a:r>
              <a:rPr sz="1300" b="1">
                <a:solidFill>
                  <a:srgbClr val="8A6300"/>
                </a:solidFill>
              </a:rPr>
              <a:t>Yellow rows: </a:t>
            </a:r>
            <a:r>
              <a:rPr sz="1300">
                <a:solidFill>
                  <a:srgbClr val="000000"/>
                </a:solidFill>
              </a:rPr>
              <a:t>added 21 Oct, local lab only.</a:t>
            </a:r>
            <a:endParaRPr sz="1300"/>
          </a:p>
        </p:txBody>
      </p:sp>
      <p:sp>
        <p:nvSpPr>
          <p:cNvPr id="25" name="Slide Number Placeholder 0">
            <a:extLst xmlns:a="http://schemas.openxmlformats.org/drawingml/2006/main">
              <a:ext uri="{FF2B5EF4-FFF2-40B4-BE49-F238E27FC236}">
                <a16:creationId xmlns:a16="http://schemas.microsoft.com/office/drawing/2014/main" id="{97A2EE5E-F21D-4BE6-9357-A1DB1B373DE4}"/>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9</a:t>
            </a:fld>
            <a:endParaRPr/>
          </a:p>
        </p:txBody>
      </p:sp>
    </p:spTree>
    <p:extLst>
      <p:ext uri="{BB962C8B-B14F-4D97-AF65-F5344CB8AC3E}">
        <p14:creationId xmlns:p14="http://schemas.microsoft.com/office/powerpoint/2010/main" val="52003558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A91F3A7-5050-4B7D-9438-5E4C21AF0378}"/>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Physical architecture decisions</a:t>
            </a:r>
            <a:endParaRPr sz="2800"/>
          </a:p>
        </p:txBody>
      </p:sp>
      <p:sp>
        <p:nvSpPr>
          <p:cNvPr id="3" name="section pill">
            <a:extLst xmlns:a="http://schemas.openxmlformats.org/drawingml/2006/main">
              <a:ext uri="{FF2B5EF4-FFF2-40B4-BE49-F238E27FC236}">
                <a16:creationId xmlns:a16="http://schemas.microsoft.com/office/drawing/2014/main" id="{5F805346-AB25-4740-88CC-6C8C45F9CEAA}"/>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C3E1604A-5154-4ED9-93E1-542A54766F7D}"/>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4 · Physical Architecture</a:t>
            </a:r>
            <a:endParaRPr sz="1200"/>
          </a:p>
        </p:txBody>
      </p:sp>
      <p:graphicFrame>
        <p:nvGraphicFramePr>
          <p:cNvPr id="11" name="physical decisions">
            <a:extLst xmlns:a="http://schemas.openxmlformats.org/drawingml/2006/main">
              <a:ext uri="{FF2B5EF4-FFF2-40B4-BE49-F238E27FC236}">
                <a16:creationId xmlns:a16="http://schemas.microsoft.com/office/drawing/2014/main" id="{8A0023EB-ED9E-4853-A7C6-0BDA45ED147F}"/>
              </a:ext>
            </a:extLst>
          </p:cNvPr>
          <p:cNvGraphicFramePr/>
          <p:nvPr/>
        </p:nvGraphicFramePr>
        <p:xfrm>
          <a:off xmlns:a="http://schemas.openxmlformats.org/drawingml/2006/main" x="457200" y="1280160"/>
          <a:ext xmlns:a="http://schemas.openxmlformats.org/drawingml/2006/main" cx="11274552" cy="914400"/>
        </p:xfrm>
        <a:graphic xmlns:a="http://schemas.openxmlformats.org/drawingml/2006/main">
          <a:graphicData uri="http://schemas.openxmlformats.org/drawingml/2006/table">
            <a:tbl>
              <a:tblPr/>
              <a:tblGrid>
                <a:gridCol w="4023360"/>
                <a:gridCol w="3931920"/>
                <a:gridCol w="3319272"/>
              </a:tblGrid>
              <a:tr h="0">
                <a:tc>
                  <a:txBody>
                    <a:bodyPr/>
                    <a:lstStyle/>
                    <a:p>
                      <a:pPr marL="0" indent="0">
                        <a:buNone/>
                      </a:pPr>
                      <a:r>
                        <a:rPr sz="1400" b="1">
                          <a:solidFill>
                            <a:srgbClr val="FFFFFF"/>
                          </a:solidFill>
                          <a:latin typeface="Arial"/>
                          <a:ea typeface="Arial"/>
                          <a:cs typeface="Arial"/>
                        </a:rPr>
                        <a:t>Decision</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c>
                  <a:txBody>
                    <a:bodyPr/>
                    <a:lstStyle/>
                    <a:p>
                      <a:pPr marL="0" indent="0">
                        <a:buNone/>
                      </a:pPr>
                      <a:r>
                        <a:rPr sz="1400" b="1">
                          <a:solidFill>
                            <a:srgbClr val="FFFFFF"/>
                          </a:solidFill>
                          <a:latin typeface="Arial"/>
                          <a:ea typeface="Arial"/>
                          <a:cs typeface="Arial"/>
                        </a:rPr>
                        <a:t>Why</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c>
                  <a:txBody>
                    <a:bodyPr/>
                    <a:lstStyle/>
                    <a:p>
                      <a:pPr marL="0" indent="0">
                        <a:buNone/>
                      </a:pPr>
                      <a:r>
                        <a:rPr sz="1400" b="1">
                          <a:solidFill>
                            <a:srgbClr val="FFFFFF"/>
                          </a:solidFill>
                          <a:latin typeface="Arial"/>
                          <a:ea typeface="Arial"/>
                          <a:cs typeface="Arial"/>
                        </a:rPr>
                        <a:t>Trade-off</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r>
              <a:tr h="0">
                <a:tc>
                  <a:txBody>
                    <a:bodyPr/>
                    <a:lstStyle/>
                    <a:p>
                      <a:pPr marL="0" indent="0">
                        <a:buNone/>
                      </a:pPr>
                      <a:r>
                        <a:rPr sz="1500" b="1">
                          <a:solidFill>
                            <a:srgbClr val="1F2937"/>
                          </a:solidFill>
                          <a:latin typeface="Arial"/>
                          <a:ea typeface="Arial"/>
                          <a:cs typeface="Arial"/>
                        </a:rPr>
                        <a:t>GKE in asia-southeast1-a, 2 × e2-standard-2 nodes</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500">
                          <a:solidFill>
                            <a:srgbClr val="1F2937"/>
                          </a:solidFill>
                          <a:latin typeface="Arial"/>
                          <a:ea typeface="Arial"/>
                          <a:cs typeface="Arial"/>
                        </a:rPr>
                        <a:t>Fits the free trial; close to users in Singapore</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500">
                          <a:solidFill>
                            <a:srgbClr val="1F2937"/>
                          </a:solidFill>
                          <a:latin typeface="Arial"/>
                          <a:ea typeface="Arial"/>
                          <a:cs typeface="Arial"/>
                        </a:rPr>
                        <a:t>Single zone, no node redundancy</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500" b="1">
                          <a:solidFill>
                            <a:srgbClr val="1F2937"/>
                          </a:solidFill>
                          <a:latin typeface="Arial"/>
                          <a:ea typeface="Arial"/>
                          <a:cs typeface="Arial"/>
                        </a:rPr>
                        <a:t>PostgreSQL, RabbitMQ and Keycloak inside the cluster</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500">
                          <a:solidFill>
                            <a:srgbClr val="1F2937"/>
                          </a:solidFill>
                          <a:latin typeface="Arial"/>
                          <a:ea typeface="Arial"/>
                          <a:cs typeface="Arial"/>
                        </a:rPr>
                        <a:t>Low cost and full control of configuration</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500">
                          <a:solidFill>
                            <a:srgbClr val="1F2937"/>
                          </a:solidFill>
                          <a:latin typeface="Arial"/>
                          <a:ea typeface="Arial"/>
                          <a:cs typeface="Arial"/>
                        </a:rPr>
                        <a:t>No managed HA or managed backup</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500" b="1">
                          <a:solidFill>
                            <a:srgbClr val="1F2937"/>
                          </a:solidFill>
                          <a:latin typeface="Arial"/>
                          <a:ea typeface="Arial"/>
                          <a:cs typeface="Arial"/>
                        </a:rPr>
                        <a:t>KEDA scales workers on queue depth, not CPU</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500">
                          <a:solidFill>
                            <a:srgbClr val="1F2937"/>
                          </a:solidFill>
                          <a:latin typeface="Arial"/>
                          <a:ea typeface="Arial"/>
                          <a:cs typeface="Arial"/>
                        </a:rPr>
                        <a:t>Model calls are I/O-bound: CPU stays low while work piles up</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500">
                          <a:solidFill>
                            <a:srgbClr val="1F2937"/>
                          </a:solidFill>
                          <a:latin typeface="Arial"/>
                          <a:ea typeface="Arial"/>
                          <a:cs typeface="Arial"/>
                        </a:rPr>
                        <a:t>Cold-start delay; needs warm metrics</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500" b="1">
                          <a:solidFill>
                            <a:srgbClr val="1F2937"/>
                          </a:solidFill>
                          <a:latin typeface="Arial"/>
                          <a:ea typeface="Arial"/>
                          <a:cs typeface="Arial"/>
                        </a:rPr>
                        <a:t>Workload Identity Federation, digest-pinned images, TLS / AMQPS, NetworkPolicy</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500">
                          <a:solidFill>
                            <a:srgbClr val="1F2937"/>
                          </a:solidFill>
                          <a:latin typeface="Arial"/>
                          <a:ea typeface="Arial"/>
                          <a:cs typeface="Arial"/>
                        </a:rPr>
                        <a:t>No stored cloud keys; the deployed image is exactly the tested one</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500">
                          <a:solidFill>
                            <a:srgbClr val="1F2937"/>
                          </a:solidFill>
                          <a:latin typeface="Arial"/>
                          <a:ea typeface="Arial"/>
                          <a:cs typeface="Arial"/>
                        </a:rPr>
                        <a:t>More setup; egress not fully restricted</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bl>
          </a:graphicData>
        </a:graphic>
      </p:graphicFrame>
      <p:sp>
        <p:nvSpPr>
          <p:cNvPr id="6" name="cost note card">
            <a:extLst xmlns:a="http://schemas.openxmlformats.org/drawingml/2006/main">
              <a:ext uri="{FF2B5EF4-FFF2-40B4-BE49-F238E27FC236}">
                <a16:creationId xmlns:a16="http://schemas.microsoft.com/office/drawing/2014/main" id="{1A31ED8D-0F7D-45DA-8AFF-B83E6FE0EEA8}"/>
              </a:ext>
            </a:extLst>
          </p:cNvPr>
          <p:cNvSpPr>
            <a:spLocks xmlns:a="http://schemas.openxmlformats.org/drawingml/2006/main" noGrp="1"/>
          </p:cNvSpPr>
          <p:nvPr/>
        </p:nvSpPr>
        <p:spPr>
          <a:xfrm xmlns:a="http://schemas.openxmlformats.org/drawingml/2006/main">
            <a:off x="457200" y="4343400"/>
            <a:ext cx="11274552" cy="1325880"/>
          </a:xfrm>
          <a:prstGeom xmlns:a="http://schemas.openxmlformats.org/drawingml/2006/main" prst="roundRect">
            <a:avLst>
              <a:gd name="adj" fmla="val 5517"/>
            </a:avLst>
          </a:prstGeom>
          <a:solidFill xmlns:a="http://schemas.openxmlformats.org/drawingml/2006/main">
            <a:srgbClr val="FFF3C4"/>
          </a:solidFill>
          <a:ln xmlns:a="http://schemas.openxmlformats.org/drawingml/2006/main" w="12700">
            <a:solidFill>
              <a:srgbClr val="FFF3C4"/>
            </a:solidFill>
            <a:prstDash val="solid"/>
          </a:ln>
        </p:spPr>
      </p:sp>
      <p:sp>
        <p:nvSpPr>
          <p:cNvPr id="7" name="cost note">
            <a:extLst xmlns:a="http://schemas.openxmlformats.org/drawingml/2006/main">
              <a:ext uri="{FF2B5EF4-FFF2-40B4-BE49-F238E27FC236}">
                <a16:creationId xmlns:a16="http://schemas.microsoft.com/office/drawing/2014/main" id="{2F8F6CB3-0044-46F4-B25B-DDB237F3662C}"/>
              </a:ext>
            </a:extLst>
          </p:cNvPr>
          <p:cNvSpPr>
            <a:spLocks xmlns:a="http://schemas.openxmlformats.org/drawingml/2006/main" noGrp="1"/>
          </p:cNvSpPr>
          <p:nvPr/>
        </p:nvSpPr>
        <p:spPr>
          <a:xfrm xmlns:a="http://schemas.openxmlformats.org/drawingml/2006/main">
            <a:off x="640080" y="4407408"/>
            <a:ext cx="108813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00000"/>
                </a:solidFill>
              </a:rPr>
              <a:t>Budget guard: </a:t>
            </a:r>
            <a:r>
              <a:rPr sz="1400">
                <a:solidFill>
                  <a:srgbClr val="000000"/>
                </a:solidFill>
              </a:rPr>
              <a:t>free-trial account, S$40 budget alert, node pool scaled to zero after acceptance; persistent disks keep the data.</a:t>
            </a:r>
            <a:endParaRPr sz="1400"/>
          </a:p>
          <a:p xmlns:a="http://schemas.openxmlformats.org/drawingml/2006/main">
            <a:pPr marL="0" indent="0">
              <a:buNone/>
            </a:pPr>
            <a:r>
              <a:rPr sz="1400" b="1">
                <a:solidFill>
                  <a:srgbClr val="000000"/>
                </a:solidFill>
              </a:rPr>
              <a:t>Not on GKE yet: </a:t>
            </a:r>
            <a:r>
              <a:rPr sz="1400">
                <a:solidFill>
                  <a:srgbClr val="000000"/>
                </a:solidFill>
              </a:rPr>
              <a:t>the 21 Oct circuit breaker state store, tracing and log aggregation run in the local lab only.</a:t>
            </a:r>
            <a:endParaRPr sz="1400"/>
          </a:p>
        </p:txBody>
      </p:sp>
      <p:sp>
        <p:nvSpPr>
          <p:cNvPr id="25" name="Slide Number Placeholder 0">
            <a:extLst xmlns:a="http://schemas.openxmlformats.org/drawingml/2006/main">
              <a:ext uri="{FF2B5EF4-FFF2-40B4-BE49-F238E27FC236}">
                <a16:creationId xmlns:a16="http://schemas.microsoft.com/office/drawing/2014/main" id="{E8A4F708-0448-4638-B7C8-A79D3E44393D}"/>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10</a:t>
            </a:fld>
            <a:endParaRPr/>
          </a:p>
        </p:txBody>
      </p:sp>
    </p:spTree>
    <p:extLst>
      <p:ext uri="{BB962C8B-B14F-4D97-AF65-F5344CB8AC3E}">
        <p14:creationId xmlns:p14="http://schemas.microsoft.com/office/powerpoint/2010/main" val="79888157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B69602B-E84C-4374-9E9D-5998F50720E4}"/>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Physical deployment on Google Cloud</a:t>
            </a:r>
            <a:endParaRPr sz="2800"/>
          </a:p>
        </p:txBody>
      </p:sp>
      <p:sp>
        <p:nvSpPr>
          <p:cNvPr id="3" name="section pill">
            <a:extLst xmlns:a="http://schemas.openxmlformats.org/drawingml/2006/main">
              <a:ext uri="{FF2B5EF4-FFF2-40B4-BE49-F238E27FC236}">
                <a16:creationId xmlns:a16="http://schemas.microsoft.com/office/drawing/2014/main" id="{A56A76D1-0D72-4A8E-A787-42DBCFA4890C}"/>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34CCEE70-4444-4476-90EA-FC9EE6CFAE1E}"/>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4 · Physical Architecture</a:t>
            </a:r>
            <a:endParaRPr sz="1200"/>
          </a:p>
        </p:txBody>
      </p:sp>
      <p:pic>
        <p:nvPicPr>
          <p:cNvPr id="5" name="physical deployment diagram">
            <a:extLst xmlns:a="http://schemas.openxmlformats.org/drawingml/2006/main">
              <a:ext uri="{FF2B5EF4-FFF2-40B4-BE49-F238E27FC236}">
                <a16:creationId xmlns:a16="http://schemas.microsoft.com/office/drawing/2014/main" id="{D6118D55-F0D9-4238-9E3B-C4892C699C71}"/>
              </a:ext>
            </a:extLst>
          </p:cNvPr>
          <p:cNvPicPr>
            <a:picLocks xmlns:a="http://schemas.openxmlformats.org/drawingml/2006/main" noChangeAspect="1"/>
          </p:cNvPicPr>
          <p:nvPr/>
        </p:nvPicPr>
        <p:blipFill>
          <a:blip xmlns:r="http://schemas.openxmlformats.org/officeDocument/2006/relationships" xmlns:a="http://schemas.openxmlformats.org/drawingml/2006/main" r:embed="R5a2f13acfc404e43"/>
          <a:stretch xmlns:a="http://schemas.openxmlformats.org/drawingml/2006/main">
            <a:fillRect l="0" t="0" r="0" b="0"/>
          </a:stretch>
        </p:blipFill>
        <p:spPr>
          <a:xfrm xmlns:a="http://schemas.openxmlformats.org/drawingml/2006/main">
            <a:off x="365760" y="1188720"/>
            <a:ext cx="11457432" cy="4146499"/>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481B8314-70F8-4883-AB1C-BDC5A6C4A8D3}"/>
              </a:ext>
            </a:extLst>
          </p:cNvPr>
          <p:cNvSpPr>
            <a:spLocks xmlns:a="http://schemas.openxmlformats.org/drawingml/2006/main" noGrp="1"/>
          </p:cNvSpPr>
          <p:nvPr/>
        </p:nvSpPr>
        <p:spPr>
          <a:xfrm xmlns:a="http://schemas.openxmlformats.org/drawingml/2006/main">
            <a:off x="457200" y="6053328"/>
            <a:ext cx="1127455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B6472"/>
                </a:solidFill>
              </a:rPr>
              <a:t>GCP L4 TCP LoadBalancer, then Caddy TLS. PVCs: PostgreSQL 5Gi, RabbitMQ 2Gi, Caddy 1Gi.</a:t>
            </a:r>
            <a:endParaRPr sz="1200"/>
          </a:p>
        </p:txBody>
      </p:sp>
      <p:sp>
        <p:nvSpPr>
          <p:cNvPr id="25" name="Slide Number Placeholder 0">
            <a:extLst xmlns:a="http://schemas.openxmlformats.org/drawingml/2006/main">
              <a:ext uri="{FF2B5EF4-FFF2-40B4-BE49-F238E27FC236}">
                <a16:creationId xmlns:a16="http://schemas.microsoft.com/office/drawing/2014/main" id="{E9AB27AE-A961-482C-8A8F-8E5A5C5CF333}"/>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11</a:t>
            </a:fld>
            <a:endParaRPr/>
          </a:p>
        </p:txBody>
      </p:sp>
      <p:sp>
        <p:nvSpPr>
          <p:cNvPr id="26" name="verified-l4-label">
            <a:extLst xmlns:a="http://schemas.openxmlformats.org/drawingml/2006/main">
              <a:ext uri="{FF2B5EF4-FFF2-40B4-BE49-F238E27FC236}">
                <a16:creationId xmlns:a16="http://schemas.microsoft.com/office/drawing/2014/main" id="{1C3672B4-2690-4EF5-846A-8650E3E5F8A7}"/>
              </a:ext>
            </a:extLst>
          </p:cNvPr>
          <p:cNvSpPr>
            <a:spLocks xmlns:a="http://schemas.openxmlformats.org/drawingml/2006/main" noGrp="1"/>
          </p:cNvSpPr>
          <p:nvPr/>
        </p:nvSpPr>
        <p:spPr>
          <a:xfrm xmlns:a="http://schemas.openxmlformats.org/drawingml/2006/main">
            <a:off x="2700338" y="2907030"/>
            <a:ext cx="1057275" cy="340995"/>
          </a:xfrm>
          <a:prstGeom xmlns:a="http://schemas.openxmlformats.org/drawingml/2006/main" prst="rect">
            <a:avLst/>
          </a:prstGeom>
          <a:solidFill xmlns:a="http://schemas.openxmlformats.org/drawingml/2006/main">
            <a:srgbClr val="7ACFF5"/>
          </a:solidFill>
          <a:ln xmlns:a="http://schemas.openxmlformats.org/drawingml/2006/main" w="0">
            <a:noFill/>
          </a:ln>
        </p:spPr>
        <p:txBody>
          <a:bodyPr xmlns:a="http://schemas.openxmlformats.org/drawingml/2006/main" lIns="0" tIns="0" rIns="0" bIns="0"/>
          <a:lstStyle xmlns:a="http://schemas.openxmlformats.org/drawingml/2006/main">
            <a:defPPr>
              <a:defRPr sz="600" b="1">
                <a:solidFill>
                  <a:srgbClr val="000000"/>
                </a:solidFill>
              </a:defRPr>
            </a:defPPr>
            <a:lvl1pPr>
              <a:defRPr sz="600" b="1">
                <a:solidFill>
                  <a:srgbClr val="000000"/>
                </a:solidFill>
              </a:defRPr>
            </a:lvl1pPr>
            <a:lvl2pPr>
              <a:defRPr sz="600" b="1">
                <a:solidFill>
                  <a:srgbClr val="000000"/>
                </a:solidFill>
              </a:defRPr>
            </a:lvl2pPr>
            <a:lvl3pPr>
              <a:defRPr sz="600" b="1">
                <a:solidFill>
                  <a:srgbClr val="000000"/>
                </a:solidFill>
              </a:defRPr>
            </a:lvl3pPr>
            <a:lvl4pPr>
              <a:defRPr sz="600" b="1">
                <a:solidFill>
                  <a:srgbClr val="000000"/>
                </a:solidFill>
              </a:defRPr>
            </a:lvl4pPr>
            <a:lvl5pPr>
              <a:defRPr sz="600" b="1">
                <a:solidFill>
                  <a:srgbClr val="000000"/>
                </a:solidFill>
              </a:defRPr>
            </a:lvl5pPr>
            <a:lvl6pPr>
              <a:defRPr sz="600" b="1">
                <a:solidFill>
                  <a:srgbClr val="000000"/>
                </a:solidFill>
              </a:defRPr>
            </a:lvl6pPr>
            <a:lvl7pPr>
              <a:defRPr sz="600" b="1">
                <a:solidFill>
                  <a:srgbClr val="000000"/>
                </a:solidFill>
              </a:defRPr>
            </a:lvl7pPr>
            <a:lvl8pPr>
              <a:defRPr sz="600" b="1">
                <a:solidFill>
                  <a:srgbClr val="000000"/>
                </a:solidFill>
              </a:defRPr>
            </a:lvl8pPr>
            <a:lvl9pPr>
              <a:defRPr sz="600" b="1">
                <a:solidFill>
                  <a:srgbClr val="000000"/>
                </a:solidFill>
              </a:defRPr>
            </a:lvl9pPr>
          </a:lstStyle>
          <a:p xmlns:a="http://schemas.openxmlformats.org/drawingml/2006/main">
            <a:pPr>
              <a:defRPr sz="600" b="1">
                <a:solidFill>
                  <a:srgbClr val="000000"/>
                </a:solidFill>
              </a:defRPr>
            </a:pPr>
            <a:r>
              <a:rPr sz="600" b="1">
                <a:solidFill>
                  <a:srgbClr val="000000"/>
                </a:solidFill>
              </a:rPr>
              <a:t>L4 TCP Load</a:t>
            </a:r>
          </a:p>
          <a:p xmlns:a="http://schemas.openxmlformats.org/drawingml/2006/main">
            <a:pPr>
              <a:defRPr sz="600" b="1">
                <a:solidFill>
                  <a:srgbClr val="000000"/>
                </a:solidFill>
              </a:defRPr>
            </a:pPr>
            <a:r>
              <a:rPr sz="600" b="1">
                <a:solidFill>
                  <a:srgbClr val="000000"/>
                </a:solidFill>
              </a:rPr>
              <a:t>Balancer</a:t>
            </a:r>
          </a:p>
        </p:txBody>
      </p:sp>
      <p:sp>
        <p:nvSpPr>
          <p:cNvPr id="27" name="verified-pvc-label">
            <a:extLst xmlns:a="http://schemas.openxmlformats.org/drawingml/2006/main">
              <a:ext uri="{FF2B5EF4-FFF2-40B4-BE49-F238E27FC236}">
                <a16:creationId xmlns:a16="http://schemas.microsoft.com/office/drawing/2014/main" id="{E37736DA-1B92-45A7-ACFD-F55D430266BF}"/>
              </a:ext>
            </a:extLst>
          </p:cNvPr>
          <p:cNvSpPr>
            <a:spLocks xmlns:a="http://schemas.openxmlformats.org/drawingml/2006/main" noGrp="1"/>
          </p:cNvSpPr>
          <p:nvPr/>
        </p:nvSpPr>
        <p:spPr>
          <a:xfrm xmlns:a="http://schemas.openxmlformats.org/drawingml/2006/main">
            <a:off x="7991475" y="1543050"/>
            <a:ext cx="1285875" cy="338138"/>
          </a:xfrm>
          <a:prstGeom xmlns:a="http://schemas.openxmlformats.org/drawingml/2006/main" prst="rect">
            <a:avLst/>
          </a:prstGeom>
          <a:solidFill xmlns:a="http://schemas.openxmlformats.org/drawingml/2006/main">
            <a:srgbClr val="7ACFF5"/>
          </a:solidFill>
          <a:ln xmlns:a="http://schemas.openxmlformats.org/drawingml/2006/main" w="0">
            <a:noFill/>
          </a:ln>
        </p:spPr>
        <p:txBody>
          <a:bodyPr xmlns:a="http://schemas.openxmlformats.org/drawingml/2006/main" lIns="0" tIns="0" rIns="0" bIns="0"/>
          <a:lstStyle xmlns:a="http://schemas.openxmlformats.org/drawingml/2006/main">
            <a:defPPr>
              <a:defRPr sz="525" b="0">
                <a:solidFill>
                  <a:srgbClr val="000000"/>
                </a:solidFill>
              </a:defRPr>
            </a:defPPr>
            <a:lvl1pPr>
              <a:defRPr sz="525" b="0">
                <a:solidFill>
                  <a:srgbClr val="000000"/>
                </a:solidFill>
              </a:defRPr>
            </a:lvl1pPr>
            <a:lvl2pPr>
              <a:defRPr sz="525" b="0">
                <a:solidFill>
                  <a:srgbClr val="000000"/>
                </a:solidFill>
              </a:defRPr>
            </a:lvl2pPr>
            <a:lvl3pPr>
              <a:defRPr sz="525" b="0">
                <a:solidFill>
                  <a:srgbClr val="000000"/>
                </a:solidFill>
              </a:defRPr>
            </a:lvl3pPr>
            <a:lvl4pPr>
              <a:defRPr sz="525" b="0">
                <a:solidFill>
                  <a:srgbClr val="000000"/>
                </a:solidFill>
              </a:defRPr>
            </a:lvl4pPr>
            <a:lvl5pPr>
              <a:defRPr sz="525" b="0">
                <a:solidFill>
                  <a:srgbClr val="000000"/>
                </a:solidFill>
              </a:defRPr>
            </a:lvl5pPr>
            <a:lvl6pPr>
              <a:defRPr sz="525" b="0">
                <a:solidFill>
                  <a:srgbClr val="000000"/>
                </a:solidFill>
              </a:defRPr>
            </a:lvl6pPr>
            <a:lvl7pPr>
              <a:defRPr sz="525" b="0">
                <a:solidFill>
                  <a:srgbClr val="000000"/>
                </a:solidFill>
              </a:defRPr>
            </a:lvl7pPr>
            <a:lvl8pPr>
              <a:defRPr sz="525" b="0">
                <a:solidFill>
                  <a:srgbClr val="000000"/>
                </a:solidFill>
              </a:defRPr>
            </a:lvl8pPr>
            <a:lvl9pPr>
              <a:defRPr sz="525" b="0">
                <a:solidFill>
                  <a:srgbClr val="000000"/>
                </a:solidFill>
              </a:defRPr>
            </a:lvl9pPr>
          </a:lstStyle>
          <a:p xmlns:a="http://schemas.openxmlformats.org/drawingml/2006/main">
            <a:pPr>
              <a:defRPr sz="525" b="0">
                <a:solidFill>
                  <a:srgbClr val="000000"/>
                </a:solidFill>
              </a:defRPr>
            </a:pPr>
            <a:r>
              <a:rPr sz="525" b="0">
                <a:solidFill>
                  <a:srgbClr val="000000"/>
                </a:solidFill>
              </a:rPr>
              <a:t>3 PVCs: PostgreSQL 5Gi</a:t>
            </a:r>
          </a:p>
          <a:p xmlns:a="http://schemas.openxmlformats.org/drawingml/2006/main">
            <a:pPr>
              <a:defRPr sz="525" b="0">
                <a:solidFill>
                  <a:srgbClr val="000000"/>
                </a:solidFill>
              </a:defRPr>
            </a:pPr>
            <a:r>
              <a:rPr sz="525" b="0">
                <a:solidFill>
                  <a:srgbClr val="000000"/>
                </a:solidFill>
              </a:rPr>
              <a:t>RabbitMQ 2Gi; Caddy 1Gi</a:t>
            </a:r>
          </a:p>
          <a:p xmlns:a="http://schemas.openxmlformats.org/drawingml/2006/main">
            <a:pPr>
              <a:defRPr sz="525" b="0">
                <a:solidFill>
                  <a:srgbClr val="000000"/>
                </a:solidFill>
              </a:defRPr>
            </a:pPr>
            <a:r>
              <a:rPr sz="525" b="0">
                <a:solidFill>
                  <a:srgbClr val="000000"/>
                </a:solidFill>
              </a:rPr>
              <a:t>Keycloak uses PostgreSQL</a:t>
            </a:r>
          </a:p>
          <a:p xmlns:a="http://schemas.openxmlformats.org/drawingml/2006/main">
            <a:pPr>
              <a:defRPr sz="525" b="0">
                <a:solidFill>
                  <a:srgbClr val="000000"/>
                </a:solidFill>
              </a:defRPr>
            </a:pPr>
            <a:r>
              <a:rPr sz="525" b="0">
                <a:solidFill>
                  <a:srgbClr val="000000"/>
                </a:solidFill>
              </a:rPr>
              <a:t>(no separate Keycloak PVC)</a:t>
            </a:r>
          </a:p>
        </p:txBody>
      </p:sp>
    </p:spTree>
    <p:extLst>
      <p:ext uri="{BB962C8B-B14F-4D97-AF65-F5344CB8AC3E}">
        <p14:creationId xmlns:p14="http://schemas.microsoft.com/office/powerpoint/2010/main" val="19705918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8E6CA9B-300C-4412-8A61-F651D7B533DE}"/>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Persistence design</a:t>
            </a:r>
            <a:endParaRPr sz="2800"/>
          </a:p>
        </p:txBody>
      </p:sp>
      <p:sp>
        <p:nvSpPr>
          <p:cNvPr id="3" name="section pill">
            <a:extLst xmlns:a="http://schemas.openxmlformats.org/drawingml/2006/main">
              <a:ext uri="{FF2B5EF4-FFF2-40B4-BE49-F238E27FC236}">
                <a16:creationId xmlns:a16="http://schemas.microsoft.com/office/drawing/2014/main" id="{571B3064-EFB4-4B02-8B6D-8A272379A8DC}"/>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6DC2A8C1-2FF5-47A0-A27F-33D5ABBD523F}"/>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4 · Physical Architecture</a:t>
            </a:r>
            <a:endParaRPr sz="1200"/>
          </a:p>
        </p:txBody>
      </p:sp>
      <p:pic>
        <p:nvPicPr>
          <p:cNvPr id="5" name="persistence design">
            <a:extLst xmlns:a="http://schemas.openxmlformats.org/drawingml/2006/main">
              <a:ext uri="{FF2B5EF4-FFF2-40B4-BE49-F238E27FC236}">
                <a16:creationId xmlns:a16="http://schemas.microsoft.com/office/drawing/2014/main" id="{56E46FF6-0EE8-4520-9411-30BAA4F6EA1E}"/>
              </a:ext>
            </a:extLst>
          </p:cNvPr>
          <p:cNvPicPr>
            <a:picLocks xmlns:a="http://schemas.openxmlformats.org/drawingml/2006/main" noChangeAspect="1"/>
          </p:cNvPicPr>
          <p:nvPr/>
        </p:nvPicPr>
        <p:blipFill>
          <a:blip xmlns:r="http://schemas.openxmlformats.org/officeDocument/2006/relationships" xmlns:a="http://schemas.openxmlformats.org/drawingml/2006/main" r:embed="R550259bb031541b1"/>
          <a:stretch xmlns:a="http://schemas.openxmlformats.org/drawingml/2006/main">
            <a:fillRect l="0" t="0" r="0" b="0"/>
          </a:stretch>
        </p:blipFill>
        <p:spPr>
          <a:xfrm xmlns:a="http://schemas.openxmlformats.org/drawingml/2006/main">
            <a:off x="365760" y="1280160"/>
            <a:ext cx="11457432" cy="3193886"/>
          </a:xfrm>
          <a:prstGeom xmlns:a="http://schemas.openxmlformats.org/drawingml/2006/main" prst="rect">
            <a:avLst/>
          </a:prstGeom>
        </p:spPr>
      </p:pic>
      <p:sp>
        <p:nvSpPr>
          <p:cNvPr id="25" name="Slide Number Placeholder 0">
            <a:extLst xmlns:a="http://schemas.openxmlformats.org/drawingml/2006/main">
              <a:ext uri="{FF2B5EF4-FFF2-40B4-BE49-F238E27FC236}">
                <a16:creationId xmlns:a16="http://schemas.microsoft.com/office/drawing/2014/main" id="{263EDA55-4969-4EDA-AF40-0212D08A1838}"/>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12</a:t>
            </a:fld>
            <a:endParaRPr/>
          </a:p>
        </p:txBody>
      </p:sp>
    </p:spTree>
    <p:extLst>
      <p:ext uri="{BB962C8B-B14F-4D97-AF65-F5344CB8AC3E}">
        <p14:creationId xmlns:p14="http://schemas.microsoft.com/office/powerpoint/2010/main" val="82824452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0E9B146-1037-4044-A4D8-8118E7361AC7}"/>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Detailed design of a representative use case</a:t>
            </a:r>
            <a:endParaRPr sz="2800"/>
          </a:p>
        </p:txBody>
      </p:sp>
      <p:sp>
        <p:nvSpPr>
          <p:cNvPr id="3" name="section pill">
            <a:extLst xmlns:a="http://schemas.openxmlformats.org/drawingml/2006/main">
              <a:ext uri="{FF2B5EF4-FFF2-40B4-BE49-F238E27FC236}">
                <a16:creationId xmlns:a16="http://schemas.microsoft.com/office/drawing/2014/main" id="{140197C5-2A58-4102-BA03-822D71978E1F}"/>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C300DA9F-678B-4813-B8C9-688FDDAE54C6}"/>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4 · Physical Architecture</a:t>
            </a:r>
            <a:endParaRPr sz="1200"/>
          </a:p>
        </p:txBody>
      </p:sp>
      <p:pic>
        <p:nvPicPr>
          <p:cNvPr id="5" name="sequence diagram">
            <a:extLst xmlns:a="http://schemas.openxmlformats.org/drawingml/2006/main">
              <a:ext uri="{FF2B5EF4-FFF2-40B4-BE49-F238E27FC236}">
                <a16:creationId xmlns:a16="http://schemas.microsoft.com/office/drawing/2014/main" id="{80070A38-2CD5-4167-A8E9-B65CA450D8A5}"/>
              </a:ext>
            </a:extLst>
          </p:cNvPr>
          <p:cNvPicPr>
            <a:picLocks xmlns:a="http://schemas.openxmlformats.org/drawingml/2006/main" noChangeAspect="1"/>
          </p:cNvPicPr>
          <p:nvPr/>
        </p:nvPicPr>
        <p:blipFill>
          <a:blip xmlns:r="http://schemas.openxmlformats.org/officeDocument/2006/relationships" xmlns:a="http://schemas.openxmlformats.org/drawingml/2006/main" r:embed="R08a04f9bd6cc4e54"/>
          <a:stretch xmlns:a="http://schemas.openxmlformats.org/drawingml/2006/main">
            <a:fillRect l="0" t="0" r="0" b="0"/>
          </a:stretch>
        </p:blipFill>
        <p:spPr>
          <a:xfrm xmlns:a="http://schemas.openxmlformats.org/drawingml/2006/main">
            <a:off x="1692597" y="1097280"/>
            <a:ext cx="8803758" cy="5257800"/>
          </a:xfrm>
          <a:prstGeom xmlns:a="http://schemas.openxmlformats.org/drawingml/2006/main" prst="rect">
            <a:avLst/>
          </a:prstGeom>
        </p:spPr>
      </p:pic>
      <p:sp>
        <p:nvSpPr>
          <p:cNvPr id="25" name="Slide Number Placeholder 0">
            <a:extLst xmlns:a="http://schemas.openxmlformats.org/drawingml/2006/main">
              <a:ext uri="{FF2B5EF4-FFF2-40B4-BE49-F238E27FC236}">
                <a16:creationId xmlns:a16="http://schemas.microsoft.com/office/drawing/2014/main" id="{EF897283-5FF8-46F9-8E6B-1B0058BB105A}"/>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13</a:t>
            </a:fld>
            <a:endParaRPr/>
          </a:p>
        </p:txBody>
      </p:sp>
    </p:spTree>
    <p:extLst>
      <p:ext uri="{BB962C8B-B14F-4D97-AF65-F5344CB8AC3E}">
        <p14:creationId xmlns:p14="http://schemas.microsoft.com/office/powerpoint/2010/main" val="62998943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44C13EC-7044-40CC-ABAE-A3218B7BA078}"/>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Source code and artifact management</a:t>
            </a:r>
            <a:endParaRPr sz="2800"/>
          </a:p>
        </p:txBody>
      </p:sp>
      <p:sp>
        <p:nvSpPr>
          <p:cNvPr id="3" name="section pill">
            <a:extLst xmlns:a="http://schemas.openxmlformats.org/drawingml/2006/main">
              <a:ext uri="{FF2B5EF4-FFF2-40B4-BE49-F238E27FC236}">
                <a16:creationId xmlns:a16="http://schemas.microsoft.com/office/drawing/2014/main" id="{40917690-7828-4BEB-BF89-137533DBA267}"/>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AC9325DD-C37D-4750-9CAA-1B56E0C7573A}"/>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5 · DevOps</a:t>
            </a:r>
            <a:endParaRPr sz="1200"/>
          </a:p>
        </p:txBody>
      </p:sp>
      <p:sp>
        <p:nvSpPr>
          <p:cNvPr id="5" name="flow subtitle">
            <a:extLst xmlns:a="http://schemas.openxmlformats.org/drawingml/2006/main">
              <a:ext uri="{FF2B5EF4-FFF2-40B4-BE49-F238E27FC236}">
                <a16:creationId xmlns:a16="http://schemas.microsoft.com/office/drawing/2014/main" id="{AEE0657E-E075-4AA7-9C6A-E1B77B9B8632}"/>
              </a:ext>
            </a:extLst>
          </p:cNvPr>
          <p:cNvSpPr>
            <a:spLocks xmlns:a="http://schemas.openxmlformats.org/drawingml/2006/main" noGrp="1"/>
          </p:cNvSpPr>
          <p:nvPr/>
        </p:nvSpPr>
        <p:spPr>
          <a:xfrm xmlns:a="http://schemas.openxmlformats.org/drawingml/2006/main">
            <a:off x="457200" y="1115568"/>
            <a:ext cx="1127455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i="1">
                <a:solidFill>
                  <a:srgbClr val="2563B0"/>
                </a:solidFill>
              </a:rPr>
              <a:t>How a change flows from a member’s branch to a deployed, digest-pinned image</a:t>
            </a:r>
            <a:endParaRPr sz="1400"/>
          </a:p>
        </p:txBody>
      </p:sp>
      <p:sp>
        <p:nvSpPr>
          <p:cNvPr id="6" name="flow Developer">
            <a:extLst xmlns:a="http://schemas.openxmlformats.org/drawingml/2006/main">
              <a:ext uri="{FF2B5EF4-FFF2-40B4-BE49-F238E27FC236}">
                <a16:creationId xmlns:a16="http://schemas.microsoft.com/office/drawing/2014/main" id="{F5CA4C13-9E83-408A-AC91-1ACA97372E75}"/>
              </a:ext>
            </a:extLst>
          </p:cNvPr>
          <p:cNvSpPr>
            <a:spLocks xmlns:a="http://schemas.openxmlformats.org/drawingml/2006/main" noGrp="1"/>
          </p:cNvSpPr>
          <p:nvPr/>
        </p:nvSpPr>
        <p:spPr>
          <a:xfrm xmlns:a="http://schemas.openxmlformats.org/drawingml/2006/main">
            <a:off x="457200" y="1508760"/>
            <a:ext cx="2057400" cy="1600200"/>
          </a:xfrm>
          <a:prstGeom xmlns:a="http://schemas.openxmlformats.org/drawingml/2006/main" prst="rect">
            <a:avLst/>
          </a:prstGeom>
          <a:solidFill xmlns:a="http://schemas.openxmlformats.org/drawingml/2006/main">
            <a:srgbClr val="1E4E8C"/>
          </a:solidFill>
          <a:ln xmlns:a="http://schemas.openxmlformats.org/drawingml/2006/main" w="12700">
            <a:solidFill>
              <a:srgbClr val="1E4E8C"/>
            </a:solidFill>
            <a:prstDash val="solid"/>
          </a:ln>
        </p:spPr>
      </p:sp>
      <p:sp>
        <p:nvSpPr>
          <p:cNvPr id="7" name="flow text Developer">
            <a:extLst xmlns:a="http://schemas.openxmlformats.org/drawingml/2006/main">
              <a:ext uri="{FF2B5EF4-FFF2-40B4-BE49-F238E27FC236}">
                <a16:creationId xmlns:a16="http://schemas.microsoft.com/office/drawing/2014/main" id="{2DA32799-0E25-479D-B496-6FE52C43C32F}"/>
              </a:ext>
            </a:extLst>
          </p:cNvPr>
          <p:cNvSpPr>
            <a:spLocks xmlns:a="http://schemas.openxmlformats.org/drawingml/2006/main" noGrp="1"/>
          </p:cNvSpPr>
          <p:nvPr/>
        </p:nvSpPr>
        <p:spPr>
          <a:xfrm xmlns:a="http://schemas.openxmlformats.org/drawingml/2006/main">
            <a:off x="502920" y="1572768"/>
            <a:ext cx="1965960" cy="1481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spcAft>
                <a:spcPts val="400"/>
              </a:spcAft>
              <a:buNone/>
            </a:pPr>
            <a:r>
              <a:rPr sz="1500" b="1">
                <a:solidFill>
                  <a:srgbClr val="FFFFFF"/>
                </a:solidFill>
              </a:rPr>
              <a:t>Developer</a:t>
            </a:r>
            <a:endParaRPr sz="1500"/>
          </a:p>
          <a:p xmlns:a="http://schemas.openxmlformats.org/drawingml/2006/main">
            <a:pPr marL="0" indent="0" algn="ctr">
              <a:spcAft>
                <a:spcPts val="400"/>
              </a:spcAft>
              <a:buNone/>
            </a:pPr>
            <a:r>
              <a:rPr sz="1150">
                <a:solidFill>
                  <a:srgbClr val="FFFFFF"/>
                </a:solidFill>
              </a:rPr>
              <a:t>Feature branch per task</a:t>
            </a:r>
            <a:endParaRPr sz="1500"/>
          </a:p>
          <a:p xmlns:a="http://schemas.openxmlformats.org/drawingml/2006/main">
            <a:pPr marL="0" indent="0" algn="ctr">
              <a:spcAft>
                <a:spcPts val="400"/>
              </a:spcAft>
              <a:buNone/>
            </a:pPr>
            <a:r>
              <a:rPr sz="1150">
                <a:solidFill>
                  <a:srgbClr val="FFFFFF"/>
                </a:solidFill>
              </a:rPr>
              <a:t>pre-push hook: types,</a:t>
            </a:r>
            <a:endParaRPr sz="1500"/>
          </a:p>
          <a:p xmlns:a="http://schemas.openxmlformats.org/drawingml/2006/main">
            <a:pPr marL="0" indent="0" algn="ctr">
              <a:spcAft>
                <a:spcPts val="400"/>
              </a:spcAft>
              <a:buNone/>
            </a:pPr>
            <a:r>
              <a:rPr sz="1150">
                <a:solidFill>
                  <a:srgbClr val="FFFFFF"/>
                </a:solidFill>
              </a:rPr>
              <a:t>unit tests, secret scan</a:t>
            </a:r>
            <a:endParaRPr sz="1500"/>
          </a:p>
        </p:txBody>
      </p:sp>
      <p:sp>
        <p:nvSpPr>
          <p:cNvPr id="8" name="connector 0">
            <a:extLst xmlns:a="http://schemas.openxmlformats.org/drawingml/2006/main">
              <a:ext uri="{FF2B5EF4-FFF2-40B4-BE49-F238E27FC236}">
                <a16:creationId xmlns:a16="http://schemas.microsoft.com/office/drawing/2014/main" id="{470568B6-C9A9-4642-9C25-560F6C3C2B54}"/>
              </a:ext>
            </a:extLst>
          </p:cNvPr>
          <p:cNvSpPr>
            <a:spLocks xmlns:a="http://schemas.openxmlformats.org/drawingml/2006/main" noGrp="1"/>
          </p:cNvSpPr>
          <p:nvPr/>
        </p:nvSpPr>
        <p:spPr>
          <a:xfrm xmlns:a="http://schemas.openxmlformats.org/drawingml/2006/main">
            <a:off x="2514600" y="2212848"/>
            <a:ext cx="246888" cy="182880"/>
          </a:xfrm>
          <a:prstGeom xmlns:a="http://schemas.openxmlformats.org/drawingml/2006/main" prst="rect">
            <a:avLst/>
          </a:prstGeom>
          <a:solidFill xmlns:a="http://schemas.openxmlformats.org/drawingml/2006/main">
            <a:srgbClr val="F5B700"/>
          </a:solidFill>
          <a:ln xmlns:a="http://schemas.openxmlformats.org/drawingml/2006/main" w="12700">
            <a:solidFill>
              <a:srgbClr val="F5B700"/>
            </a:solidFill>
            <a:prstDash val="solid"/>
          </a:ln>
        </p:spPr>
      </p:sp>
      <p:sp>
        <p:nvSpPr>
          <p:cNvPr id="9" name="flow Source Control">
            <a:extLst xmlns:a="http://schemas.openxmlformats.org/drawingml/2006/main">
              <a:ext uri="{FF2B5EF4-FFF2-40B4-BE49-F238E27FC236}">
                <a16:creationId xmlns:a16="http://schemas.microsoft.com/office/drawing/2014/main" id="{9B44CD41-74F6-4C7D-8F2D-BBCF64836B7E}"/>
              </a:ext>
            </a:extLst>
          </p:cNvPr>
          <p:cNvSpPr>
            <a:spLocks xmlns:a="http://schemas.openxmlformats.org/drawingml/2006/main" noGrp="1"/>
          </p:cNvSpPr>
          <p:nvPr/>
        </p:nvSpPr>
        <p:spPr>
          <a:xfrm xmlns:a="http://schemas.openxmlformats.org/drawingml/2006/main">
            <a:off x="2761488" y="1508760"/>
            <a:ext cx="2057400" cy="1600200"/>
          </a:xfrm>
          <a:prstGeom xmlns:a="http://schemas.openxmlformats.org/drawingml/2006/main" prst="rect">
            <a:avLst/>
          </a:prstGeom>
          <a:solidFill xmlns:a="http://schemas.openxmlformats.org/drawingml/2006/main">
            <a:srgbClr val="2563B0"/>
          </a:solidFill>
          <a:ln xmlns:a="http://schemas.openxmlformats.org/drawingml/2006/main" w="12700">
            <a:solidFill>
              <a:srgbClr val="2563B0"/>
            </a:solidFill>
            <a:prstDash val="solid"/>
          </a:ln>
        </p:spPr>
      </p:sp>
      <p:sp>
        <p:nvSpPr>
          <p:cNvPr id="10" name="flow text Source Control">
            <a:extLst xmlns:a="http://schemas.openxmlformats.org/drawingml/2006/main">
              <a:ext uri="{FF2B5EF4-FFF2-40B4-BE49-F238E27FC236}">
                <a16:creationId xmlns:a16="http://schemas.microsoft.com/office/drawing/2014/main" id="{C0C848F6-90D3-4104-8AAD-701DC03EC9CD}"/>
              </a:ext>
            </a:extLst>
          </p:cNvPr>
          <p:cNvSpPr>
            <a:spLocks xmlns:a="http://schemas.openxmlformats.org/drawingml/2006/main" noGrp="1"/>
          </p:cNvSpPr>
          <p:nvPr/>
        </p:nvSpPr>
        <p:spPr>
          <a:xfrm xmlns:a="http://schemas.openxmlformats.org/drawingml/2006/main">
            <a:off x="2807208" y="1572768"/>
            <a:ext cx="1965960" cy="1481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spcAft>
                <a:spcPts val="400"/>
              </a:spcAft>
              <a:buNone/>
            </a:pPr>
            <a:r>
              <a:rPr sz="1500" b="1">
                <a:solidFill>
                  <a:srgbClr val="FFFFFF"/>
                </a:solidFill>
              </a:rPr>
              <a:t>Source Control</a:t>
            </a:r>
            <a:endParaRPr sz="1500"/>
          </a:p>
          <a:p xmlns:a="http://schemas.openxmlformats.org/drawingml/2006/main">
            <a:pPr marL="0" indent="0" algn="ctr">
              <a:spcAft>
                <a:spcPts val="400"/>
              </a:spcAft>
              <a:buNone/>
            </a:pPr>
            <a:r>
              <a:rPr sz="1150">
                <a:solidFill>
                  <a:srgbClr val="FFFFFF"/>
                </a:solidFill>
              </a:rPr>
              <a:t>GitHub repository</a:t>
            </a:r>
            <a:endParaRPr sz="1500"/>
          </a:p>
          <a:p xmlns:a="http://schemas.openxmlformats.org/drawingml/2006/main">
            <a:pPr marL="0" indent="0" algn="ctr">
              <a:spcAft>
                <a:spcPts val="400"/>
              </a:spcAft>
              <a:buNone/>
            </a:pPr>
            <a:r>
              <a:rPr sz="1150">
                <a:solidFill>
                  <a:srgbClr val="FFFFFF"/>
                </a:solidFill>
              </a:rPr>
              <a:t>PR with tests and AI-use note</a:t>
            </a:r>
            <a:endParaRPr sz="1500"/>
          </a:p>
          <a:p xmlns:a="http://schemas.openxmlformats.org/drawingml/2006/main">
            <a:pPr marL="0" indent="0" algn="ctr">
              <a:spcAft>
                <a:spcPts val="400"/>
              </a:spcAft>
              <a:buNone/>
            </a:pPr>
            <a:r>
              <a:rPr sz="1150">
                <a:solidFill>
                  <a:srgbClr val="FFFFFF"/>
                </a:solidFill>
              </a:rPr>
              <a:t>review by another member</a:t>
            </a:r>
            <a:endParaRPr sz="1500"/>
          </a:p>
          <a:p xmlns:a="http://schemas.openxmlformats.org/drawingml/2006/main">
            <a:pPr marL="0" indent="0" algn="ctr">
              <a:spcAft>
                <a:spcPts val="400"/>
              </a:spcAft>
              <a:buNone/>
            </a:pPr>
            <a:r>
              <a:rPr sz="1150">
                <a:solidFill>
                  <a:srgbClr val="FFFFFF"/>
                </a:solidFill>
              </a:rPr>
              <a:t>(draft PR #5 open)</a:t>
            </a:r>
            <a:endParaRPr sz="1500"/>
          </a:p>
        </p:txBody>
      </p:sp>
      <p:sp>
        <p:nvSpPr>
          <p:cNvPr id="11" name="connector 1">
            <a:extLst xmlns:a="http://schemas.openxmlformats.org/drawingml/2006/main">
              <a:ext uri="{FF2B5EF4-FFF2-40B4-BE49-F238E27FC236}">
                <a16:creationId xmlns:a16="http://schemas.microsoft.com/office/drawing/2014/main" id="{6914406F-C8C9-4865-9BAB-0CD80616D2F8}"/>
              </a:ext>
            </a:extLst>
          </p:cNvPr>
          <p:cNvSpPr>
            <a:spLocks xmlns:a="http://schemas.openxmlformats.org/drawingml/2006/main" noGrp="1"/>
          </p:cNvSpPr>
          <p:nvPr/>
        </p:nvSpPr>
        <p:spPr>
          <a:xfrm xmlns:a="http://schemas.openxmlformats.org/drawingml/2006/main">
            <a:off x="4818888" y="2212848"/>
            <a:ext cx="246888" cy="182880"/>
          </a:xfrm>
          <a:prstGeom xmlns:a="http://schemas.openxmlformats.org/drawingml/2006/main" prst="rect">
            <a:avLst/>
          </a:prstGeom>
          <a:solidFill xmlns:a="http://schemas.openxmlformats.org/drawingml/2006/main">
            <a:srgbClr val="F5B700"/>
          </a:solidFill>
          <a:ln xmlns:a="http://schemas.openxmlformats.org/drawingml/2006/main" w="12700">
            <a:solidFill>
              <a:srgbClr val="F5B700"/>
            </a:solidFill>
            <a:prstDash val="solid"/>
          </a:ln>
        </p:spPr>
      </p:sp>
      <p:sp>
        <p:nvSpPr>
          <p:cNvPr id="12" name="flow CI Pipeline">
            <a:extLst xmlns:a="http://schemas.openxmlformats.org/drawingml/2006/main">
              <a:ext uri="{FF2B5EF4-FFF2-40B4-BE49-F238E27FC236}">
                <a16:creationId xmlns:a16="http://schemas.microsoft.com/office/drawing/2014/main" id="{2914407E-1311-4415-BF90-3097DBB36B8C}"/>
              </a:ext>
            </a:extLst>
          </p:cNvPr>
          <p:cNvSpPr>
            <a:spLocks xmlns:a="http://schemas.openxmlformats.org/drawingml/2006/main" noGrp="1"/>
          </p:cNvSpPr>
          <p:nvPr/>
        </p:nvSpPr>
        <p:spPr>
          <a:xfrm xmlns:a="http://schemas.openxmlformats.org/drawingml/2006/main">
            <a:off x="5065776" y="1508760"/>
            <a:ext cx="2057400" cy="1600200"/>
          </a:xfrm>
          <a:prstGeom xmlns:a="http://schemas.openxmlformats.org/drawingml/2006/main" prst="rect">
            <a:avLst/>
          </a:prstGeom>
          <a:solidFill xmlns:a="http://schemas.openxmlformats.org/drawingml/2006/main">
            <a:srgbClr val="14325C"/>
          </a:solidFill>
          <a:ln xmlns:a="http://schemas.openxmlformats.org/drawingml/2006/main" w="12700">
            <a:solidFill>
              <a:srgbClr val="14325C"/>
            </a:solidFill>
            <a:prstDash val="solid"/>
          </a:ln>
        </p:spPr>
      </p:sp>
      <p:sp>
        <p:nvSpPr>
          <p:cNvPr id="13" name="flow text CI Pipeline">
            <a:extLst xmlns:a="http://schemas.openxmlformats.org/drawingml/2006/main">
              <a:ext uri="{FF2B5EF4-FFF2-40B4-BE49-F238E27FC236}">
                <a16:creationId xmlns:a16="http://schemas.microsoft.com/office/drawing/2014/main" id="{DA3A516F-C5E9-4A29-A262-E17030AC0118}"/>
              </a:ext>
            </a:extLst>
          </p:cNvPr>
          <p:cNvSpPr>
            <a:spLocks xmlns:a="http://schemas.openxmlformats.org/drawingml/2006/main" noGrp="1"/>
          </p:cNvSpPr>
          <p:nvPr/>
        </p:nvSpPr>
        <p:spPr>
          <a:xfrm xmlns:a="http://schemas.openxmlformats.org/drawingml/2006/main">
            <a:off x="5111496" y="1572768"/>
            <a:ext cx="1965960" cy="1481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spcAft>
                <a:spcPts val="400"/>
              </a:spcAft>
              <a:buNone/>
            </a:pPr>
            <a:r>
              <a:rPr sz="1500" b="1">
                <a:solidFill>
                  <a:srgbClr val="FFFFFF"/>
                </a:solidFill>
              </a:rPr>
              <a:t>CI Pipeline</a:t>
            </a:r>
            <a:endParaRPr sz="1500"/>
          </a:p>
          <a:p xmlns:a="http://schemas.openxmlformats.org/drawingml/2006/main">
            <a:pPr marL="0" indent="0" algn="ctr">
              <a:spcAft>
                <a:spcPts val="400"/>
              </a:spcAft>
              <a:buNone/>
            </a:pPr>
            <a:r>
              <a:rPr sz="1150">
                <a:solidFill>
                  <a:srgbClr val="FFFFFF"/>
                </a:solidFill>
              </a:rPr>
              <a:t>GitHub Actions</a:t>
            </a:r>
            <a:endParaRPr sz="1500"/>
          </a:p>
          <a:p xmlns:a="http://schemas.openxmlformats.org/drawingml/2006/main">
            <a:pPr marL="0" indent="0" algn="ctr">
              <a:spcAft>
                <a:spcPts val="400"/>
              </a:spcAft>
              <a:buNone/>
            </a:pPr>
            <a:r>
              <a:rPr sz="1150">
                <a:solidFill>
                  <a:srgbClr val="FFFFFF"/>
                </a:solidFill>
              </a:rPr>
              <a:t>locked install · tests</a:t>
            </a:r>
            <a:endParaRPr sz="1500"/>
          </a:p>
          <a:p xmlns:a="http://schemas.openxmlformats.org/drawingml/2006/main">
            <a:pPr marL="0" indent="0" algn="ctr">
              <a:spcAft>
                <a:spcPts val="400"/>
              </a:spcAft>
              <a:buNone/>
            </a:pPr>
            <a:r>
              <a:rPr sz="1150">
                <a:solidFill>
                  <a:srgbClr val="FFFFFF"/>
                </a:solidFill>
              </a:rPr>
              <a:t>npm audit · Trivy</a:t>
            </a:r>
            <a:endParaRPr sz="1500"/>
          </a:p>
          <a:p xmlns:a="http://schemas.openxmlformats.org/drawingml/2006/main">
            <a:pPr marL="0" indent="0" algn="ctr">
              <a:spcAft>
                <a:spcPts val="400"/>
              </a:spcAft>
              <a:buNone/>
            </a:pPr>
            <a:r>
              <a:rPr sz="1150">
                <a:solidFill>
                  <a:srgbClr val="FFFFFF"/>
                </a:solidFill>
              </a:rPr>
              <a:t>tested image + source SHA</a:t>
            </a:r>
            <a:endParaRPr sz="1500"/>
          </a:p>
        </p:txBody>
      </p:sp>
      <p:sp>
        <p:nvSpPr>
          <p:cNvPr id="14" name="connector 2">
            <a:extLst xmlns:a="http://schemas.openxmlformats.org/drawingml/2006/main">
              <a:ext uri="{FF2B5EF4-FFF2-40B4-BE49-F238E27FC236}">
                <a16:creationId xmlns:a16="http://schemas.microsoft.com/office/drawing/2014/main" id="{77CE2B0F-201A-4E5D-B9D2-266E084C43AF}"/>
              </a:ext>
            </a:extLst>
          </p:cNvPr>
          <p:cNvSpPr>
            <a:spLocks xmlns:a="http://schemas.openxmlformats.org/drawingml/2006/main" noGrp="1"/>
          </p:cNvSpPr>
          <p:nvPr/>
        </p:nvSpPr>
        <p:spPr>
          <a:xfrm xmlns:a="http://schemas.openxmlformats.org/drawingml/2006/main">
            <a:off x="7123176" y="2212848"/>
            <a:ext cx="246888" cy="182880"/>
          </a:xfrm>
          <a:prstGeom xmlns:a="http://schemas.openxmlformats.org/drawingml/2006/main" prst="rect">
            <a:avLst/>
          </a:prstGeom>
          <a:solidFill xmlns:a="http://schemas.openxmlformats.org/drawingml/2006/main">
            <a:srgbClr val="F5B700"/>
          </a:solidFill>
          <a:ln xmlns:a="http://schemas.openxmlformats.org/drawingml/2006/main" w="12700">
            <a:solidFill>
              <a:srgbClr val="F5B700"/>
            </a:solidFill>
            <a:prstDash val="solid"/>
          </a:ln>
        </p:spPr>
      </p:sp>
      <p:sp>
        <p:nvSpPr>
          <p:cNvPr id="15" name="flow Image Registry">
            <a:extLst xmlns:a="http://schemas.openxmlformats.org/drawingml/2006/main">
              <a:ext uri="{FF2B5EF4-FFF2-40B4-BE49-F238E27FC236}">
                <a16:creationId xmlns:a16="http://schemas.microsoft.com/office/drawing/2014/main" id="{A60BBF5D-4F1A-4D29-AB0A-3DE444E96F1E}"/>
              </a:ext>
            </a:extLst>
          </p:cNvPr>
          <p:cNvSpPr>
            <a:spLocks xmlns:a="http://schemas.openxmlformats.org/drawingml/2006/main" noGrp="1"/>
          </p:cNvSpPr>
          <p:nvPr/>
        </p:nvSpPr>
        <p:spPr>
          <a:xfrm xmlns:a="http://schemas.openxmlformats.org/drawingml/2006/main">
            <a:off x="7370064" y="1508760"/>
            <a:ext cx="2057400" cy="1600200"/>
          </a:xfrm>
          <a:prstGeom xmlns:a="http://schemas.openxmlformats.org/drawingml/2006/main" prst="rect">
            <a:avLst/>
          </a:prstGeom>
          <a:solidFill xmlns:a="http://schemas.openxmlformats.org/drawingml/2006/main">
            <a:srgbClr val="F5B700"/>
          </a:solidFill>
          <a:ln xmlns:a="http://schemas.openxmlformats.org/drawingml/2006/main" w="12700">
            <a:solidFill>
              <a:srgbClr val="F5B700"/>
            </a:solidFill>
            <a:prstDash val="solid"/>
          </a:ln>
        </p:spPr>
      </p:sp>
      <p:sp>
        <p:nvSpPr>
          <p:cNvPr id="16" name="flow text Image Registry">
            <a:extLst xmlns:a="http://schemas.openxmlformats.org/drawingml/2006/main">
              <a:ext uri="{FF2B5EF4-FFF2-40B4-BE49-F238E27FC236}">
                <a16:creationId xmlns:a16="http://schemas.microsoft.com/office/drawing/2014/main" id="{E09D8EAD-11DC-46B5-8F69-446A2942EE39}"/>
              </a:ext>
            </a:extLst>
          </p:cNvPr>
          <p:cNvSpPr>
            <a:spLocks xmlns:a="http://schemas.openxmlformats.org/drawingml/2006/main" noGrp="1"/>
          </p:cNvSpPr>
          <p:nvPr/>
        </p:nvSpPr>
        <p:spPr>
          <a:xfrm xmlns:a="http://schemas.openxmlformats.org/drawingml/2006/main">
            <a:off x="7415784" y="1572768"/>
            <a:ext cx="1965960" cy="1481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spcAft>
                <a:spcPts val="400"/>
              </a:spcAft>
              <a:buNone/>
            </a:pPr>
            <a:r>
              <a:rPr sz="1500" b="1">
                <a:solidFill>
                  <a:srgbClr val="14325C"/>
                </a:solidFill>
              </a:rPr>
              <a:t>Image Registry</a:t>
            </a:r>
            <a:endParaRPr sz="1500"/>
          </a:p>
          <a:p xmlns:a="http://schemas.openxmlformats.org/drawingml/2006/main">
            <a:pPr marL="0" indent="0" algn="ctr">
              <a:spcAft>
                <a:spcPts val="400"/>
              </a:spcAft>
              <a:buNone/>
            </a:pPr>
            <a:r>
              <a:rPr sz="1150">
                <a:solidFill>
                  <a:srgbClr val="14325C"/>
                </a:solidFill>
              </a:rPr>
              <a:t>GCP Artifact Registry</a:t>
            </a:r>
            <a:endParaRPr sz="1500"/>
          </a:p>
          <a:p xmlns:a="http://schemas.openxmlformats.org/drawingml/2006/main">
            <a:pPr marL="0" indent="0" algn="ctr">
              <a:spcAft>
                <a:spcPts val="400"/>
              </a:spcAft>
              <a:buNone/>
            </a:pPr>
            <a:r>
              <a:rPr sz="1150">
                <a:solidFill>
                  <a:srgbClr val="14325C"/>
                </a:solidFill>
              </a:rPr>
              <a:t>pushed via WIF</a:t>
            </a:r>
            <a:endParaRPr sz="1500"/>
          </a:p>
          <a:p xmlns:a="http://schemas.openxmlformats.org/drawingml/2006/main">
            <a:pPr marL="0" indent="0" algn="ctr">
              <a:spcAft>
                <a:spcPts val="400"/>
              </a:spcAft>
              <a:buNone/>
            </a:pPr>
            <a:r>
              <a:rPr sz="1150">
                <a:solidFill>
                  <a:srgbClr val="14325C"/>
                </a:solidFill>
              </a:rPr>
              <a:t>pinned by sha256 digest</a:t>
            </a:r>
            <a:endParaRPr sz="1500"/>
          </a:p>
        </p:txBody>
      </p:sp>
      <p:sp>
        <p:nvSpPr>
          <p:cNvPr id="17" name="connector 3">
            <a:extLst xmlns:a="http://schemas.openxmlformats.org/drawingml/2006/main">
              <a:ext uri="{FF2B5EF4-FFF2-40B4-BE49-F238E27FC236}">
                <a16:creationId xmlns:a16="http://schemas.microsoft.com/office/drawing/2014/main" id="{18C3E9B8-D2FC-41DC-A75C-F255FF4E104D}"/>
              </a:ext>
            </a:extLst>
          </p:cNvPr>
          <p:cNvSpPr>
            <a:spLocks xmlns:a="http://schemas.openxmlformats.org/drawingml/2006/main" noGrp="1"/>
          </p:cNvSpPr>
          <p:nvPr/>
        </p:nvSpPr>
        <p:spPr>
          <a:xfrm xmlns:a="http://schemas.openxmlformats.org/drawingml/2006/main">
            <a:off x="9427464" y="2212848"/>
            <a:ext cx="246888" cy="182880"/>
          </a:xfrm>
          <a:prstGeom xmlns:a="http://schemas.openxmlformats.org/drawingml/2006/main" prst="rect">
            <a:avLst/>
          </a:prstGeom>
          <a:solidFill xmlns:a="http://schemas.openxmlformats.org/drawingml/2006/main">
            <a:srgbClr val="F5B700"/>
          </a:solidFill>
          <a:ln xmlns:a="http://schemas.openxmlformats.org/drawingml/2006/main" w="12700">
            <a:solidFill>
              <a:srgbClr val="F5B700"/>
            </a:solidFill>
            <a:prstDash val="solid"/>
          </a:ln>
        </p:spPr>
      </p:sp>
      <p:sp>
        <p:nvSpPr>
          <p:cNvPr id="18" name="flow CD / Deploy">
            <a:extLst xmlns:a="http://schemas.openxmlformats.org/drawingml/2006/main">
              <a:ext uri="{FF2B5EF4-FFF2-40B4-BE49-F238E27FC236}">
                <a16:creationId xmlns:a16="http://schemas.microsoft.com/office/drawing/2014/main" id="{829C992A-A413-4E13-9109-113070CE777D}"/>
              </a:ext>
            </a:extLst>
          </p:cNvPr>
          <p:cNvSpPr>
            <a:spLocks xmlns:a="http://schemas.openxmlformats.org/drawingml/2006/main" noGrp="1"/>
          </p:cNvSpPr>
          <p:nvPr/>
        </p:nvSpPr>
        <p:spPr>
          <a:xfrm xmlns:a="http://schemas.openxmlformats.org/drawingml/2006/main">
            <a:off x="9674352" y="1508760"/>
            <a:ext cx="2057400" cy="1600200"/>
          </a:xfrm>
          <a:prstGeom xmlns:a="http://schemas.openxmlformats.org/drawingml/2006/main" prst="rect">
            <a:avLst/>
          </a:prstGeom>
          <a:solidFill xmlns:a="http://schemas.openxmlformats.org/drawingml/2006/main">
            <a:srgbClr val="0F2440"/>
          </a:solidFill>
          <a:ln xmlns:a="http://schemas.openxmlformats.org/drawingml/2006/main" w="12700">
            <a:solidFill>
              <a:srgbClr val="0F2440"/>
            </a:solidFill>
            <a:prstDash val="solid"/>
          </a:ln>
        </p:spPr>
      </p:sp>
      <p:sp>
        <p:nvSpPr>
          <p:cNvPr id="19" name="flow text CD / Deploy">
            <a:extLst xmlns:a="http://schemas.openxmlformats.org/drawingml/2006/main">
              <a:ext uri="{FF2B5EF4-FFF2-40B4-BE49-F238E27FC236}">
                <a16:creationId xmlns:a16="http://schemas.microsoft.com/office/drawing/2014/main" id="{A24D6938-6EA2-4C8F-A9EE-52CF0D5100D5}"/>
              </a:ext>
            </a:extLst>
          </p:cNvPr>
          <p:cNvSpPr>
            <a:spLocks xmlns:a="http://schemas.openxmlformats.org/drawingml/2006/main" noGrp="1"/>
          </p:cNvSpPr>
          <p:nvPr/>
        </p:nvSpPr>
        <p:spPr>
          <a:xfrm xmlns:a="http://schemas.openxmlformats.org/drawingml/2006/main">
            <a:off x="9720072" y="1572768"/>
            <a:ext cx="1965960" cy="1481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spcAft>
                <a:spcPts val="400"/>
              </a:spcAft>
              <a:buNone/>
            </a:pPr>
            <a:r>
              <a:rPr sz="1500" b="1">
                <a:solidFill>
                  <a:srgbClr val="FFFFFF"/>
                </a:solidFill>
              </a:rPr>
              <a:t>CD / Deploy</a:t>
            </a:r>
            <a:endParaRPr sz="1500"/>
          </a:p>
          <a:p xmlns:a="http://schemas.openxmlformats.org/drawingml/2006/main">
            <a:pPr marL="0" indent="0" algn="ctr">
              <a:spcAft>
                <a:spcPts val="400"/>
              </a:spcAft>
              <a:buNone/>
            </a:pPr>
            <a:r>
              <a:rPr sz="1150">
                <a:solidFill>
                  <a:srgbClr val="FFFFFF"/>
                </a:solidFill>
              </a:rPr>
              <a:t>Manual workflow</a:t>
            </a:r>
            <a:endParaRPr sz="1500"/>
          </a:p>
          <a:p xmlns:a="http://schemas.openxmlformats.org/drawingml/2006/main">
            <a:pPr marL="0" indent="0" algn="ctr">
              <a:spcAft>
                <a:spcPts val="400"/>
              </a:spcAft>
              <a:buNone/>
            </a:pPr>
            <a:r>
              <a:rPr sz="1150">
                <a:solidFill>
                  <a:srgbClr val="FFFFFF"/>
                </a:solidFill>
              </a:rPr>
              <a:t>needs a successful CI run</a:t>
            </a:r>
            <a:endParaRPr sz="1500"/>
          </a:p>
          <a:p xmlns:a="http://schemas.openxmlformats.org/drawingml/2006/main">
            <a:pPr marL="0" indent="0" algn="ctr">
              <a:spcAft>
                <a:spcPts val="400"/>
              </a:spcAft>
              <a:buNone/>
            </a:pPr>
            <a:r>
              <a:rPr sz="1150">
                <a:solidFill>
                  <a:srgbClr val="FFFFFF"/>
                </a:solidFill>
              </a:rPr>
              <a:t>of the same commit</a:t>
            </a:r>
            <a:endParaRPr sz="1500"/>
          </a:p>
          <a:p xmlns:a="http://schemas.openxmlformats.org/drawingml/2006/main">
            <a:pPr marL="0" indent="0" algn="ctr">
              <a:spcAft>
                <a:spcPts val="400"/>
              </a:spcAft>
              <a:buNone/>
            </a:pPr>
            <a:r>
              <a:rPr sz="1150">
                <a:solidFill>
                  <a:srgbClr val="FFFFFF"/>
                </a:solidFill>
              </a:rPr>
              <a:t>smoke · rollback · redeploy</a:t>
            </a:r>
            <a:endParaRPr sz="1500"/>
          </a:p>
        </p:txBody>
      </p:sp>
      <p:sp>
        <p:nvSpPr>
          <p:cNvPr id="20" name="planes heading">
            <a:extLst xmlns:a="http://schemas.openxmlformats.org/drawingml/2006/main">
              <a:ext uri="{FF2B5EF4-FFF2-40B4-BE49-F238E27FC236}">
                <a16:creationId xmlns:a16="http://schemas.microsoft.com/office/drawing/2014/main" id="{25A4F7B3-66F3-44D3-84F3-79CF7EF41599}"/>
              </a:ext>
            </a:extLst>
          </p:cNvPr>
          <p:cNvSpPr>
            <a:spLocks xmlns:a="http://schemas.openxmlformats.org/drawingml/2006/main" noGrp="1"/>
          </p:cNvSpPr>
          <p:nvPr/>
        </p:nvSpPr>
        <p:spPr>
          <a:xfrm xmlns:a="http://schemas.openxmlformats.org/drawingml/2006/main">
            <a:off x="457200" y="3246120"/>
            <a:ext cx="1127455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F2937"/>
                </a:solidFill>
              </a:rPr>
              <a:t>Mapped to the 5-Plane Reference Model</a:t>
            </a:r>
            <a:r>
              <a:rPr sz="1200">
                <a:solidFill>
                  <a:srgbClr val="5B6472"/>
                </a:solidFill>
              </a:rPr>
              <a:t>  · 21 Oct: tracing and log aggregation verified locally, not yet deployed to GKE</a:t>
            </a:r>
            <a:endParaRPr sz="1500"/>
          </a:p>
        </p:txBody>
      </p:sp>
      <p:sp>
        <p:nvSpPr>
          <p:cNvPr id="21" name="plane 01">
            <a:extLst xmlns:a="http://schemas.openxmlformats.org/drawingml/2006/main">
              <a:ext uri="{FF2B5EF4-FFF2-40B4-BE49-F238E27FC236}">
                <a16:creationId xmlns:a16="http://schemas.microsoft.com/office/drawing/2014/main" id="{A5E77F10-6BCA-49D4-B0C0-8D81A3312C80}"/>
              </a:ext>
            </a:extLst>
          </p:cNvPr>
          <p:cNvSpPr>
            <a:spLocks xmlns:a="http://schemas.openxmlformats.org/drawingml/2006/main" noGrp="1"/>
          </p:cNvSpPr>
          <p:nvPr/>
        </p:nvSpPr>
        <p:spPr>
          <a:xfrm xmlns:a="http://schemas.openxmlformats.org/drawingml/2006/main">
            <a:off x="457200" y="3639312"/>
            <a:ext cx="11274552" cy="438912"/>
          </a:xfrm>
          <a:prstGeom xmlns:a="http://schemas.openxmlformats.org/drawingml/2006/main" prst="rect">
            <a:avLst/>
          </a:prstGeom>
          <a:solidFill xmlns:a="http://schemas.openxmlformats.org/drawingml/2006/main">
            <a:srgbClr val="2563B0"/>
          </a:solidFill>
          <a:ln xmlns:a="http://schemas.openxmlformats.org/drawingml/2006/main" w="12700">
            <a:solidFill>
              <a:srgbClr val="2563B0"/>
            </a:solidFill>
            <a:prstDash val="solid"/>
          </a:ln>
        </p:spPr>
      </p:sp>
      <p:sp>
        <p:nvSpPr>
          <p:cNvPr id="22" name="plane num 01">
            <a:extLst xmlns:a="http://schemas.openxmlformats.org/drawingml/2006/main">
              <a:ext uri="{FF2B5EF4-FFF2-40B4-BE49-F238E27FC236}">
                <a16:creationId xmlns:a16="http://schemas.microsoft.com/office/drawing/2014/main" id="{D95D341D-B0B8-4241-8502-E4EA80205B68}"/>
              </a:ext>
            </a:extLst>
          </p:cNvPr>
          <p:cNvSpPr>
            <a:spLocks xmlns:a="http://schemas.openxmlformats.org/drawingml/2006/main" noGrp="1"/>
          </p:cNvSpPr>
          <p:nvPr/>
        </p:nvSpPr>
        <p:spPr>
          <a:xfrm xmlns:a="http://schemas.openxmlformats.org/drawingml/2006/main">
            <a:off x="548640" y="3639312"/>
            <a:ext cx="4114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rPr>
              <a:t>01</a:t>
            </a:r>
            <a:endParaRPr sz="1500"/>
          </a:p>
        </p:txBody>
      </p:sp>
      <p:sp>
        <p:nvSpPr>
          <p:cNvPr id="23" name="plane name 01">
            <a:extLst xmlns:a="http://schemas.openxmlformats.org/drawingml/2006/main">
              <a:ext uri="{FF2B5EF4-FFF2-40B4-BE49-F238E27FC236}">
                <a16:creationId xmlns:a16="http://schemas.microsoft.com/office/drawing/2014/main" id="{52D46E64-6297-44B1-9A94-99CB5BF871C2}"/>
              </a:ext>
            </a:extLst>
          </p:cNvPr>
          <p:cNvSpPr>
            <a:spLocks xmlns:a="http://schemas.openxmlformats.org/drawingml/2006/main" noGrp="1"/>
          </p:cNvSpPr>
          <p:nvPr/>
        </p:nvSpPr>
        <p:spPr>
          <a:xfrm xmlns:a="http://schemas.openxmlformats.org/drawingml/2006/main">
            <a:off x="1005840" y="3639312"/>
            <a:ext cx="2743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rPr>
              <a:t>Developer Control Plane</a:t>
            </a:r>
            <a:endParaRPr sz="1300"/>
          </a:p>
          <a:p xmlns:a="http://schemas.openxmlformats.org/drawingml/2006/main">
            <a:pPr marL="0" indent="0">
              <a:buNone/>
            </a:pPr>
            <a:r>
              <a:rPr sz="950">
                <a:solidFill>
                  <a:srgbClr val="FFFFFF"/>
                </a:solidFill>
              </a:rPr>
              <a:t>Repo, branches, CLI, local stack</a:t>
            </a:r>
            <a:endParaRPr sz="1300"/>
          </a:p>
        </p:txBody>
      </p:sp>
      <p:sp>
        <p:nvSpPr>
          <p:cNvPr id="24" name="plane tools 01">
            <a:extLst xmlns:a="http://schemas.openxmlformats.org/drawingml/2006/main">
              <a:ext uri="{FF2B5EF4-FFF2-40B4-BE49-F238E27FC236}">
                <a16:creationId xmlns:a16="http://schemas.microsoft.com/office/drawing/2014/main" id="{6AF63902-7D59-479B-8EE9-2618CFD3920F}"/>
              </a:ext>
            </a:extLst>
          </p:cNvPr>
          <p:cNvSpPr>
            <a:spLocks xmlns:a="http://schemas.openxmlformats.org/drawingml/2006/main" noGrp="1"/>
          </p:cNvSpPr>
          <p:nvPr/>
        </p:nvSpPr>
        <p:spPr>
          <a:xfrm xmlns:a="http://schemas.openxmlformats.org/drawingml/2006/main">
            <a:off x="3749040" y="3639312"/>
            <a:ext cx="7863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FFFFFF"/>
                </a:solidFill>
              </a:rPr>
              <a:t>GitHub · feature branches · releaseguard CLI · Docker Compose · observability-lab script</a:t>
            </a:r>
            <a:endParaRPr sz="1100"/>
          </a:p>
        </p:txBody>
      </p:sp>
      <p:sp>
        <p:nvSpPr>
          <p:cNvPr id="25" name="plane 02">
            <a:extLst xmlns:a="http://schemas.openxmlformats.org/drawingml/2006/main">
              <a:ext uri="{FF2B5EF4-FFF2-40B4-BE49-F238E27FC236}">
                <a16:creationId xmlns:a16="http://schemas.microsoft.com/office/drawing/2014/main" id="{82502382-826C-4E99-9851-541A3D866987}"/>
              </a:ext>
            </a:extLst>
          </p:cNvPr>
          <p:cNvSpPr>
            <a:spLocks xmlns:a="http://schemas.openxmlformats.org/drawingml/2006/main" noGrp="1"/>
          </p:cNvSpPr>
          <p:nvPr/>
        </p:nvSpPr>
        <p:spPr>
          <a:xfrm xmlns:a="http://schemas.openxmlformats.org/drawingml/2006/main">
            <a:off x="457200" y="4133088"/>
            <a:ext cx="11274552" cy="438912"/>
          </a:xfrm>
          <a:prstGeom xmlns:a="http://schemas.openxmlformats.org/drawingml/2006/main" prst="rect">
            <a:avLst/>
          </a:prstGeom>
          <a:solidFill xmlns:a="http://schemas.openxmlformats.org/drawingml/2006/main">
            <a:srgbClr val="3B7DD8"/>
          </a:solidFill>
          <a:ln xmlns:a="http://schemas.openxmlformats.org/drawingml/2006/main" w="12700">
            <a:solidFill>
              <a:srgbClr val="3B7DD8"/>
            </a:solidFill>
            <a:prstDash val="solid"/>
          </a:ln>
        </p:spPr>
      </p:sp>
      <p:sp>
        <p:nvSpPr>
          <p:cNvPr id="26" name="plane num 02">
            <a:extLst xmlns:a="http://schemas.openxmlformats.org/drawingml/2006/main">
              <a:ext uri="{FF2B5EF4-FFF2-40B4-BE49-F238E27FC236}">
                <a16:creationId xmlns:a16="http://schemas.microsoft.com/office/drawing/2014/main" id="{27B56F51-2BC2-49A8-80E2-98901975D116}"/>
              </a:ext>
            </a:extLst>
          </p:cNvPr>
          <p:cNvSpPr>
            <a:spLocks xmlns:a="http://schemas.openxmlformats.org/drawingml/2006/main" noGrp="1"/>
          </p:cNvSpPr>
          <p:nvPr/>
        </p:nvSpPr>
        <p:spPr>
          <a:xfrm xmlns:a="http://schemas.openxmlformats.org/drawingml/2006/main">
            <a:off x="548640" y="4133088"/>
            <a:ext cx="4114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rPr>
              <a:t>02</a:t>
            </a:r>
            <a:endParaRPr sz="1500"/>
          </a:p>
        </p:txBody>
      </p:sp>
      <p:sp>
        <p:nvSpPr>
          <p:cNvPr id="27" name="plane name 02">
            <a:extLst xmlns:a="http://schemas.openxmlformats.org/drawingml/2006/main">
              <a:ext uri="{FF2B5EF4-FFF2-40B4-BE49-F238E27FC236}">
                <a16:creationId xmlns:a16="http://schemas.microsoft.com/office/drawing/2014/main" id="{FC5DECCF-B336-404B-89CA-AED216A738BA}"/>
              </a:ext>
            </a:extLst>
          </p:cNvPr>
          <p:cNvSpPr>
            <a:spLocks xmlns:a="http://schemas.openxmlformats.org/drawingml/2006/main" noGrp="1"/>
          </p:cNvSpPr>
          <p:nvPr/>
        </p:nvSpPr>
        <p:spPr>
          <a:xfrm xmlns:a="http://schemas.openxmlformats.org/drawingml/2006/main">
            <a:off x="1005840" y="4133088"/>
            <a:ext cx="2743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rPr>
              <a:t>Integration &amp; Delivery Plane</a:t>
            </a:r>
            <a:endParaRPr sz="1300"/>
          </a:p>
          <a:p xmlns:a="http://schemas.openxmlformats.org/drawingml/2006/main">
            <a:pPr marL="0" indent="0">
              <a:buNone/>
            </a:pPr>
            <a:r>
              <a:rPr sz="950">
                <a:solidFill>
                  <a:srgbClr val="FFFFFF"/>
                </a:solidFill>
              </a:rPr>
              <a:t>Build, store, deploy artifacts</a:t>
            </a:r>
            <a:endParaRPr sz="1300"/>
          </a:p>
        </p:txBody>
      </p:sp>
      <p:sp>
        <p:nvSpPr>
          <p:cNvPr id="28" name="plane tools 02">
            <a:extLst xmlns:a="http://schemas.openxmlformats.org/drawingml/2006/main">
              <a:ext uri="{FF2B5EF4-FFF2-40B4-BE49-F238E27FC236}">
                <a16:creationId xmlns:a16="http://schemas.microsoft.com/office/drawing/2014/main" id="{BBCB6C61-142F-4B14-9E07-FBCAC1B08E96}"/>
              </a:ext>
            </a:extLst>
          </p:cNvPr>
          <p:cNvSpPr>
            <a:spLocks xmlns:a="http://schemas.openxmlformats.org/drawingml/2006/main" noGrp="1"/>
          </p:cNvSpPr>
          <p:nvPr/>
        </p:nvSpPr>
        <p:spPr>
          <a:xfrm xmlns:a="http://schemas.openxmlformats.org/drawingml/2006/main">
            <a:off x="3749040" y="4133088"/>
            <a:ext cx="7863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FFFFFF"/>
                </a:solidFill>
              </a:rPr>
              <a:t>GitHub Actions CI · Artifact Registry · manual CD · evidence JSON in docs/evidence/</a:t>
            </a:r>
            <a:endParaRPr sz="1100"/>
          </a:p>
        </p:txBody>
      </p:sp>
      <p:sp>
        <p:nvSpPr>
          <p:cNvPr id="29" name="plane 03">
            <a:extLst xmlns:a="http://schemas.openxmlformats.org/drawingml/2006/main">
              <a:ext uri="{FF2B5EF4-FFF2-40B4-BE49-F238E27FC236}">
                <a16:creationId xmlns:a16="http://schemas.microsoft.com/office/drawing/2014/main" id="{10F47AC2-D376-4060-B6EC-78D73783D0BB}"/>
              </a:ext>
            </a:extLst>
          </p:cNvPr>
          <p:cNvSpPr>
            <a:spLocks xmlns:a="http://schemas.openxmlformats.org/drawingml/2006/main" noGrp="1"/>
          </p:cNvSpPr>
          <p:nvPr/>
        </p:nvSpPr>
        <p:spPr>
          <a:xfrm xmlns:a="http://schemas.openxmlformats.org/drawingml/2006/main">
            <a:off x="457200" y="4626864"/>
            <a:ext cx="11274552" cy="438912"/>
          </a:xfrm>
          <a:prstGeom xmlns:a="http://schemas.openxmlformats.org/drawingml/2006/main" prst="rect">
            <a:avLst/>
          </a:prstGeom>
          <a:solidFill xmlns:a="http://schemas.openxmlformats.org/drawingml/2006/main">
            <a:srgbClr val="F5B700"/>
          </a:solidFill>
          <a:ln xmlns:a="http://schemas.openxmlformats.org/drawingml/2006/main" w="12700">
            <a:solidFill>
              <a:srgbClr val="F5B700"/>
            </a:solidFill>
            <a:prstDash val="solid"/>
          </a:ln>
        </p:spPr>
      </p:sp>
      <p:sp>
        <p:nvSpPr>
          <p:cNvPr id="30" name="plane num 03">
            <a:extLst xmlns:a="http://schemas.openxmlformats.org/drawingml/2006/main">
              <a:ext uri="{FF2B5EF4-FFF2-40B4-BE49-F238E27FC236}">
                <a16:creationId xmlns:a16="http://schemas.microsoft.com/office/drawing/2014/main" id="{8DB2320B-AB53-414C-8AE9-5F9E4A1C7B27}"/>
              </a:ext>
            </a:extLst>
          </p:cNvPr>
          <p:cNvSpPr>
            <a:spLocks xmlns:a="http://schemas.openxmlformats.org/drawingml/2006/main" noGrp="1"/>
          </p:cNvSpPr>
          <p:nvPr/>
        </p:nvSpPr>
        <p:spPr>
          <a:xfrm xmlns:a="http://schemas.openxmlformats.org/drawingml/2006/main">
            <a:off x="548640" y="4626864"/>
            <a:ext cx="4114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4325C"/>
                </a:solidFill>
              </a:rPr>
              <a:t>03</a:t>
            </a:r>
            <a:endParaRPr sz="1500"/>
          </a:p>
        </p:txBody>
      </p:sp>
      <p:sp>
        <p:nvSpPr>
          <p:cNvPr id="31" name="plane name 03">
            <a:extLst xmlns:a="http://schemas.openxmlformats.org/drawingml/2006/main">
              <a:ext uri="{FF2B5EF4-FFF2-40B4-BE49-F238E27FC236}">
                <a16:creationId xmlns:a16="http://schemas.microsoft.com/office/drawing/2014/main" id="{EFAC0675-1D79-49EA-A944-3036101F5F88}"/>
              </a:ext>
            </a:extLst>
          </p:cNvPr>
          <p:cNvSpPr>
            <a:spLocks xmlns:a="http://schemas.openxmlformats.org/drawingml/2006/main" noGrp="1"/>
          </p:cNvSpPr>
          <p:nvPr/>
        </p:nvSpPr>
        <p:spPr>
          <a:xfrm xmlns:a="http://schemas.openxmlformats.org/drawingml/2006/main">
            <a:off x="1005840" y="4626864"/>
            <a:ext cx="2743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4325C"/>
                </a:solidFill>
              </a:rPr>
              <a:t>Resource Plane</a:t>
            </a:r>
            <a:endParaRPr sz="1300"/>
          </a:p>
          <a:p xmlns:a="http://schemas.openxmlformats.org/drawingml/2006/main">
            <a:pPr marL="0" indent="0">
              <a:buNone/>
            </a:pPr>
            <a:r>
              <a:rPr sz="950">
                <a:solidFill>
                  <a:srgbClr val="14325C"/>
                </a:solidFill>
              </a:rPr>
              <a:t>Where the services run</a:t>
            </a:r>
            <a:endParaRPr sz="1300"/>
          </a:p>
        </p:txBody>
      </p:sp>
      <p:sp>
        <p:nvSpPr>
          <p:cNvPr id="32" name="plane tools 03">
            <a:extLst xmlns:a="http://schemas.openxmlformats.org/drawingml/2006/main">
              <a:ext uri="{FF2B5EF4-FFF2-40B4-BE49-F238E27FC236}">
                <a16:creationId xmlns:a16="http://schemas.microsoft.com/office/drawing/2014/main" id="{F9447353-4788-4B29-B184-FFD9E39DFA3B}"/>
              </a:ext>
            </a:extLst>
          </p:cNvPr>
          <p:cNvSpPr>
            <a:spLocks xmlns:a="http://schemas.openxmlformats.org/drawingml/2006/main" noGrp="1"/>
          </p:cNvSpPr>
          <p:nvPr/>
        </p:nvSpPr>
        <p:spPr>
          <a:xfrm xmlns:a="http://schemas.openxmlformats.org/drawingml/2006/main">
            <a:off x="3749040" y="4626864"/>
            <a:ext cx="7863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14325C"/>
                </a:solidFill>
              </a:rPr>
              <a:t>GKE asia-southeast1-a · PostgreSQL · RabbitMQ · persistent disks · circuit state table (local)</a:t>
            </a:r>
            <a:endParaRPr sz="1100"/>
          </a:p>
        </p:txBody>
      </p:sp>
      <p:sp>
        <p:nvSpPr>
          <p:cNvPr id="33" name="plane 04">
            <a:extLst xmlns:a="http://schemas.openxmlformats.org/drawingml/2006/main">
              <a:ext uri="{FF2B5EF4-FFF2-40B4-BE49-F238E27FC236}">
                <a16:creationId xmlns:a16="http://schemas.microsoft.com/office/drawing/2014/main" id="{1E5D9FBE-DB2C-41A9-BAA9-99DBCF93B7A5}"/>
              </a:ext>
            </a:extLst>
          </p:cNvPr>
          <p:cNvSpPr>
            <a:spLocks xmlns:a="http://schemas.openxmlformats.org/drawingml/2006/main" noGrp="1"/>
          </p:cNvSpPr>
          <p:nvPr/>
        </p:nvSpPr>
        <p:spPr>
          <a:xfrm xmlns:a="http://schemas.openxmlformats.org/drawingml/2006/main">
            <a:off x="457200" y="5120640"/>
            <a:ext cx="11274552" cy="438912"/>
          </a:xfrm>
          <a:prstGeom xmlns:a="http://schemas.openxmlformats.org/drawingml/2006/main" prst="rect">
            <a:avLst/>
          </a:prstGeom>
          <a:solidFill xmlns:a="http://schemas.openxmlformats.org/drawingml/2006/main">
            <a:srgbClr val="14325C"/>
          </a:solidFill>
          <a:ln xmlns:a="http://schemas.openxmlformats.org/drawingml/2006/main" w="12700">
            <a:solidFill>
              <a:srgbClr val="14325C"/>
            </a:solidFill>
            <a:prstDash val="solid"/>
          </a:ln>
        </p:spPr>
      </p:sp>
      <p:sp>
        <p:nvSpPr>
          <p:cNvPr id="34" name="plane num 04">
            <a:extLst xmlns:a="http://schemas.openxmlformats.org/drawingml/2006/main">
              <a:ext uri="{FF2B5EF4-FFF2-40B4-BE49-F238E27FC236}">
                <a16:creationId xmlns:a16="http://schemas.microsoft.com/office/drawing/2014/main" id="{15B6B05C-3AB5-4A95-9D6D-0936AA566AA0}"/>
              </a:ext>
            </a:extLst>
          </p:cNvPr>
          <p:cNvSpPr>
            <a:spLocks xmlns:a="http://schemas.openxmlformats.org/drawingml/2006/main" noGrp="1"/>
          </p:cNvSpPr>
          <p:nvPr/>
        </p:nvSpPr>
        <p:spPr>
          <a:xfrm xmlns:a="http://schemas.openxmlformats.org/drawingml/2006/main">
            <a:off x="548640" y="5120640"/>
            <a:ext cx="4114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rPr>
              <a:t>04</a:t>
            </a:r>
            <a:endParaRPr sz="1500"/>
          </a:p>
        </p:txBody>
      </p:sp>
      <p:sp>
        <p:nvSpPr>
          <p:cNvPr id="35" name="plane name 04">
            <a:extLst xmlns:a="http://schemas.openxmlformats.org/drawingml/2006/main">
              <a:ext uri="{FF2B5EF4-FFF2-40B4-BE49-F238E27FC236}">
                <a16:creationId xmlns:a16="http://schemas.microsoft.com/office/drawing/2014/main" id="{0FD5C5C8-FA88-4B5C-9193-48AE961D4620}"/>
              </a:ext>
            </a:extLst>
          </p:cNvPr>
          <p:cNvSpPr>
            <a:spLocks xmlns:a="http://schemas.openxmlformats.org/drawingml/2006/main" noGrp="1"/>
          </p:cNvSpPr>
          <p:nvPr/>
        </p:nvSpPr>
        <p:spPr>
          <a:xfrm xmlns:a="http://schemas.openxmlformats.org/drawingml/2006/main">
            <a:off x="1005840" y="5120640"/>
            <a:ext cx="2743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rPr>
              <a:t>Monitoring &amp; Logging Plane</a:t>
            </a:r>
            <a:endParaRPr sz="1300"/>
          </a:p>
          <a:p xmlns:a="http://schemas.openxmlformats.org/drawingml/2006/main">
            <a:pPr marL="0" indent="0">
              <a:buNone/>
            </a:pPr>
            <a:r>
              <a:rPr sz="950">
                <a:solidFill>
                  <a:srgbClr val="FFFFFF"/>
                </a:solidFill>
              </a:rPr>
              <a:t>Metrics, traces and logs</a:t>
            </a:r>
            <a:endParaRPr sz="1300"/>
          </a:p>
        </p:txBody>
      </p:sp>
      <p:sp>
        <p:nvSpPr>
          <p:cNvPr id="36" name="plane tools 04">
            <a:extLst xmlns:a="http://schemas.openxmlformats.org/drawingml/2006/main">
              <a:ext uri="{FF2B5EF4-FFF2-40B4-BE49-F238E27FC236}">
                <a16:creationId xmlns:a16="http://schemas.microsoft.com/office/drawing/2014/main" id="{79D03C86-1D56-4F9D-BF8F-C6028B562BF1}"/>
              </a:ext>
            </a:extLst>
          </p:cNvPr>
          <p:cNvSpPr>
            <a:spLocks xmlns:a="http://schemas.openxmlformats.org/drawingml/2006/main" noGrp="1"/>
          </p:cNvSpPr>
          <p:nvPr/>
        </p:nvSpPr>
        <p:spPr>
          <a:xfrm xmlns:a="http://schemas.openxmlformats.org/drawingml/2006/main">
            <a:off x="3749040" y="5120640"/>
            <a:ext cx="69494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FFFFFF"/>
                </a:solidFill>
              </a:rPr>
              <a:t>/metrics · health probes · KEDA queue depth · OpenTelemetry → Jaeger · Alloy → Loki → Grafana</a:t>
            </a:r>
            <a:endParaRPr sz="1100"/>
          </a:p>
        </p:txBody>
      </p:sp>
      <p:sp>
        <p:nvSpPr>
          <p:cNvPr id="37" name="local tag">
            <a:extLst xmlns:a="http://schemas.openxmlformats.org/drawingml/2006/main">
              <a:ext uri="{FF2B5EF4-FFF2-40B4-BE49-F238E27FC236}">
                <a16:creationId xmlns:a16="http://schemas.microsoft.com/office/drawing/2014/main" id="{AD5F813D-7113-4C90-AF05-5391B761A934}"/>
              </a:ext>
            </a:extLst>
          </p:cNvPr>
          <p:cNvSpPr>
            <a:spLocks xmlns:a="http://schemas.openxmlformats.org/drawingml/2006/main" noGrp="1"/>
          </p:cNvSpPr>
          <p:nvPr/>
        </p:nvSpPr>
        <p:spPr>
          <a:xfrm xmlns:a="http://schemas.openxmlformats.org/drawingml/2006/main">
            <a:off x="10789920" y="5221224"/>
            <a:ext cx="822960" cy="237744"/>
          </a:xfrm>
          <a:prstGeom xmlns:a="http://schemas.openxmlformats.org/drawingml/2006/main" prst="roundRect">
            <a:avLst>
              <a:gd name="adj" fmla="val 23077"/>
            </a:avLst>
          </a:prstGeom>
          <a:solidFill xmlns:a="http://schemas.openxmlformats.org/drawingml/2006/main">
            <a:srgbClr val="F5B700"/>
          </a:solidFill>
          <a:ln xmlns:a="http://schemas.openxmlformats.org/drawingml/2006/main" w="12700">
            <a:solidFill>
              <a:srgbClr val="F5B700"/>
            </a:solidFill>
            <a:prstDash val="solid"/>
          </a:ln>
        </p:spPr>
      </p:sp>
      <p:sp>
        <p:nvSpPr>
          <p:cNvPr id="38" name="local tag text">
            <a:extLst xmlns:a="http://schemas.openxmlformats.org/drawingml/2006/main">
              <a:ext uri="{FF2B5EF4-FFF2-40B4-BE49-F238E27FC236}">
                <a16:creationId xmlns:a16="http://schemas.microsoft.com/office/drawing/2014/main" id="{7608CA0D-41FD-4375-9AA9-19EC9AA36ED5}"/>
              </a:ext>
            </a:extLst>
          </p:cNvPr>
          <p:cNvSpPr>
            <a:spLocks xmlns:a="http://schemas.openxmlformats.org/drawingml/2006/main" noGrp="1"/>
          </p:cNvSpPr>
          <p:nvPr/>
        </p:nvSpPr>
        <p:spPr>
          <a:xfrm xmlns:a="http://schemas.openxmlformats.org/drawingml/2006/main">
            <a:off x="10789920" y="5221224"/>
            <a:ext cx="8229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14325C"/>
                </a:solidFill>
              </a:rPr>
              <a:t>local lab</a:t>
            </a:r>
            <a:endParaRPr sz="1000"/>
          </a:p>
        </p:txBody>
      </p:sp>
      <p:sp>
        <p:nvSpPr>
          <p:cNvPr id="39" name="plane 05">
            <a:extLst xmlns:a="http://schemas.openxmlformats.org/drawingml/2006/main">
              <a:ext uri="{FF2B5EF4-FFF2-40B4-BE49-F238E27FC236}">
                <a16:creationId xmlns:a16="http://schemas.microsoft.com/office/drawing/2014/main" id="{B92D03FC-E1D7-4B0D-A3CE-0F0E9B1CF2E0}"/>
              </a:ext>
            </a:extLst>
          </p:cNvPr>
          <p:cNvSpPr>
            <a:spLocks xmlns:a="http://schemas.openxmlformats.org/drawingml/2006/main" noGrp="1"/>
          </p:cNvSpPr>
          <p:nvPr/>
        </p:nvSpPr>
        <p:spPr>
          <a:xfrm xmlns:a="http://schemas.openxmlformats.org/drawingml/2006/main">
            <a:off x="457200" y="5614416"/>
            <a:ext cx="11274552" cy="438912"/>
          </a:xfrm>
          <a:prstGeom xmlns:a="http://schemas.openxmlformats.org/drawingml/2006/main" prst="rect">
            <a:avLst/>
          </a:prstGeom>
          <a:solidFill xmlns:a="http://schemas.openxmlformats.org/drawingml/2006/main">
            <a:srgbClr val="0F2440"/>
          </a:solidFill>
          <a:ln xmlns:a="http://schemas.openxmlformats.org/drawingml/2006/main" w="12700">
            <a:solidFill>
              <a:srgbClr val="0F2440"/>
            </a:solidFill>
            <a:prstDash val="solid"/>
          </a:ln>
        </p:spPr>
      </p:sp>
      <p:sp>
        <p:nvSpPr>
          <p:cNvPr id="40" name="plane num 05">
            <a:extLst xmlns:a="http://schemas.openxmlformats.org/drawingml/2006/main">
              <a:ext uri="{FF2B5EF4-FFF2-40B4-BE49-F238E27FC236}">
                <a16:creationId xmlns:a16="http://schemas.microsoft.com/office/drawing/2014/main" id="{EB184B2A-5401-4712-AF47-6D1F5A9C8FA1}"/>
              </a:ext>
            </a:extLst>
          </p:cNvPr>
          <p:cNvSpPr>
            <a:spLocks xmlns:a="http://schemas.openxmlformats.org/drawingml/2006/main" noGrp="1"/>
          </p:cNvSpPr>
          <p:nvPr/>
        </p:nvSpPr>
        <p:spPr>
          <a:xfrm xmlns:a="http://schemas.openxmlformats.org/drawingml/2006/main">
            <a:off x="548640" y="5614416"/>
            <a:ext cx="41148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rPr>
              <a:t>05</a:t>
            </a:r>
            <a:endParaRPr sz="1500"/>
          </a:p>
        </p:txBody>
      </p:sp>
      <p:sp>
        <p:nvSpPr>
          <p:cNvPr id="41" name="plane name 05">
            <a:extLst xmlns:a="http://schemas.openxmlformats.org/drawingml/2006/main">
              <a:ext uri="{FF2B5EF4-FFF2-40B4-BE49-F238E27FC236}">
                <a16:creationId xmlns:a16="http://schemas.microsoft.com/office/drawing/2014/main" id="{A78B237B-C9DE-4242-9DA8-782F2D916026}"/>
              </a:ext>
            </a:extLst>
          </p:cNvPr>
          <p:cNvSpPr>
            <a:spLocks xmlns:a="http://schemas.openxmlformats.org/drawingml/2006/main" noGrp="1"/>
          </p:cNvSpPr>
          <p:nvPr/>
        </p:nvSpPr>
        <p:spPr>
          <a:xfrm xmlns:a="http://schemas.openxmlformats.org/drawingml/2006/main">
            <a:off x="1005840" y="5614416"/>
            <a:ext cx="2743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rPr>
              <a:t>Security Plane</a:t>
            </a:r>
            <a:endParaRPr sz="1300"/>
          </a:p>
          <a:p xmlns:a="http://schemas.openxmlformats.org/drawingml/2006/main">
            <a:pPr marL="0" indent="0">
              <a:buNone/>
            </a:pPr>
            <a:r>
              <a:rPr sz="950">
                <a:solidFill>
                  <a:srgbClr val="FFFFFF"/>
                </a:solidFill>
              </a:rPr>
              <a:t>Identity, secrets, scanning</a:t>
            </a:r>
            <a:endParaRPr sz="1300"/>
          </a:p>
        </p:txBody>
      </p:sp>
      <p:sp>
        <p:nvSpPr>
          <p:cNvPr id="42" name="plane tools 05">
            <a:extLst xmlns:a="http://schemas.openxmlformats.org/drawingml/2006/main">
              <a:ext uri="{FF2B5EF4-FFF2-40B4-BE49-F238E27FC236}">
                <a16:creationId xmlns:a16="http://schemas.microsoft.com/office/drawing/2014/main" id="{F3A97E30-7075-418F-9B38-F541FF7BD2A8}"/>
              </a:ext>
            </a:extLst>
          </p:cNvPr>
          <p:cNvSpPr>
            <a:spLocks xmlns:a="http://schemas.openxmlformats.org/drawingml/2006/main" noGrp="1"/>
          </p:cNvSpPr>
          <p:nvPr/>
        </p:nvSpPr>
        <p:spPr>
          <a:xfrm xmlns:a="http://schemas.openxmlformats.org/drawingml/2006/main">
            <a:off x="3749040" y="5614416"/>
            <a:ext cx="786384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FFFFFF"/>
                </a:solidFill>
              </a:rPr>
              <a:t>Workload Identity Federation · OIDC · .env never committed · auth/cookie/query kept out of logs (local check)</a:t>
            </a:r>
            <a:endParaRPr sz="1100"/>
          </a:p>
        </p:txBody>
      </p:sp>
      <p:sp>
        <p:nvSpPr>
          <p:cNvPr id="43" name="caption">
            <a:extLst xmlns:a="http://schemas.openxmlformats.org/drawingml/2006/main">
              <a:ext uri="{FF2B5EF4-FFF2-40B4-BE49-F238E27FC236}">
                <a16:creationId xmlns:a16="http://schemas.microsoft.com/office/drawing/2014/main" id="{F8FA51DF-C82F-4CCD-8463-03CA545AB8A7}"/>
              </a:ext>
            </a:extLst>
          </p:cNvPr>
          <p:cNvSpPr>
            <a:spLocks xmlns:a="http://schemas.openxmlformats.org/drawingml/2006/main" noGrp="1"/>
          </p:cNvSpPr>
          <p:nvPr/>
        </p:nvSpPr>
        <p:spPr>
          <a:xfrm xmlns:a="http://schemas.openxmlformats.org/drawingml/2006/main">
            <a:off x="457200" y="6126480"/>
            <a:ext cx="1127455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B6472"/>
                </a:solidFill>
              </a:rPr>
              <a:t>Draft PR #5 remains unmerged. New handoff and personal-login tools do not deploy a new image.</a:t>
            </a:r>
            <a:endParaRPr sz="1200"/>
          </a:p>
        </p:txBody>
      </p:sp>
      <p:sp>
        <p:nvSpPr>
          <p:cNvPr id="44" name="Slide Number Placeholder 0">
            <a:extLst xmlns:a="http://schemas.openxmlformats.org/drawingml/2006/main">
              <a:ext uri="{FF2B5EF4-FFF2-40B4-BE49-F238E27FC236}">
                <a16:creationId xmlns:a16="http://schemas.microsoft.com/office/drawing/2014/main" id="{620845EA-D094-4501-9500-BB3A5A91B457}"/>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14</a:t>
            </a:fld>
            <a:endParaRPr/>
          </a:p>
        </p:txBody>
      </p:sp>
    </p:spTree>
    <p:extLst>
      <p:ext uri="{BB962C8B-B14F-4D97-AF65-F5344CB8AC3E}">
        <p14:creationId xmlns:p14="http://schemas.microsoft.com/office/powerpoint/2010/main" val="29724289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5F5BA6F-B6E9-451D-B968-D82C413B1192}"/>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CI/CD pipeline as fitness functions</a:t>
            </a:r>
            <a:endParaRPr sz="2800"/>
          </a:p>
        </p:txBody>
      </p:sp>
      <p:sp>
        <p:nvSpPr>
          <p:cNvPr id="3" name="section pill">
            <a:extLst xmlns:a="http://schemas.openxmlformats.org/drawingml/2006/main">
              <a:ext uri="{FF2B5EF4-FFF2-40B4-BE49-F238E27FC236}">
                <a16:creationId xmlns:a16="http://schemas.microsoft.com/office/drawing/2014/main" id="{020FDF0B-5619-4556-8950-DD4A7A1C4E5C}"/>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ABE9F0BC-3248-4103-8824-8DD4D6566EDD}"/>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5 · DevOps</a:t>
            </a:r>
            <a:endParaRPr sz="1200"/>
          </a:p>
        </p:txBody>
      </p:sp>
      <p:pic>
        <p:nvPicPr>
          <p:cNvPr id="5" name="pipeline diagram">
            <a:extLst xmlns:a="http://schemas.openxmlformats.org/drawingml/2006/main">
              <a:ext uri="{FF2B5EF4-FFF2-40B4-BE49-F238E27FC236}">
                <a16:creationId xmlns:a16="http://schemas.microsoft.com/office/drawing/2014/main" id="{EC5FE85C-24A5-4A72-9193-6D494C4086EF}"/>
              </a:ext>
            </a:extLst>
          </p:cNvPr>
          <p:cNvPicPr>
            <a:picLocks xmlns:a="http://schemas.openxmlformats.org/drawingml/2006/main" noChangeAspect="1"/>
          </p:cNvPicPr>
          <p:nvPr/>
        </p:nvPicPr>
        <p:blipFill>
          <a:blip xmlns:r="http://schemas.openxmlformats.org/officeDocument/2006/relationships" xmlns:a="http://schemas.openxmlformats.org/drawingml/2006/main" r:embed="Ra7585841aa4341e7"/>
          <a:stretch xmlns:a="http://schemas.openxmlformats.org/drawingml/2006/main">
            <a:fillRect l="0" t="0" r="0" b="0"/>
          </a:stretch>
        </p:blipFill>
        <p:spPr>
          <a:xfrm xmlns:a="http://schemas.openxmlformats.org/drawingml/2006/main">
            <a:off x="365760" y="1097280"/>
            <a:ext cx="8595360" cy="4996053"/>
          </a:xfrm>
          <a:prstGeom xmlns:a="http://schemas.openxmlformats.org/drawingml/2006/main" prst="rect">
            <a:avLst/>
          </a:prstGeom>
        </p:spPr>
      </p:pic>
      <p:pic>
        <p:nvPicPr>
          <p:cNvPr id="6" name="CD run screenshot">
            <a:extLst xmlns:a="http://schemas.openxmlformats.org/drawingml/2006/main">
              <a:ext uri="{FF2B5EF4-FFF2-40B4-BE49-F238E27FC236}">
                <a16:creationId xmlns:a16="http://schemas.microsoft.com/office/drawing/2014/main" id="{522EAF56-5913-42CD-9711-77DD73ACC679}"/>
              </a:ext>
            </a:extLst>
          </p:cNvPr>
          <p:cNvPicPr>
            <a:picLocks xmlns:a="http://schemas.openxmlformats.org/drawingml/2006/main" noChangeAspect="1"/>
          </p:cNvPicPr>
          <p:nvPr/>
        </p:nvPicPr>
        <p:blipFill>
          <a:blip xmlns:r="http://schemas.openxmlformats.org/officeDocument/2006/relationships" xmlns:a="http://schemas.openxmlformats.org/drawingml/2006/main" r:embed="Ra4620fc763284c5c"/>
          <a:stretch xmlns:a="http://schemas.openxmlformats.org/drawingml/2006/main">
            <a:fillRect l="0" t="0" r="0" b="0"/>
          </a:stretch>
        </p:blipFill>
        <p:spPr>
          <a:xfrm xmlns:a="http://schemas.openxmlformats.org/drawingml/2006/main">
            <a:off x="9144000" y="1371600"/>
            <a:ext cx="2606040" cy="896257"/>
          </a:xfrm>
          <a:prstGeom xmlns:a="http://schemas.openxmlformats.org/drawingml/2006/main" prst="rect">
            <a:avLst/>
          </a:prstGeom>
        </p:spPr>
      </p:pic>
      <p:sp>
        <p:nvSpPr>
          <p:cNvPr id="7" name="CD run screenshot frame">
            <a:extLst xmlns:a="http://schemas.openxmlformats.org/drawingml/2006/main">
              <a:ext uri="{FF2B5EF4-FFF2-40B4-BE49-F238E27FC236}">
                <a16:creationId xmlns:a16="http://schemas.microsoft.com/office/drawing/2014/main" id="{3EE8AEA2-D25C-41E7-B4AD-1E0A1C62EF89}"/>
              </a:ext>
            </a:extLst>
          </p:cNvPr>
          <p:cNvSpPr>
            <a:spLocks xmlns:a="http://schemas.openxmlformats.org/drawingml/2006/main" noGrp="1"/>
          </p:cNvSpPr>
          <p:nvPr/>
        </p:nvSpPr>
        <p:spPr>
          <a:xfrm xmlns:a="http://schemas.openxmlformats.org/drawingml/2006/main">
            <a:off x="9144000" y="1371600"/>
            <a:ext cx="2606040" cy="896257"/>
          </a:xfrm>
          <a:prstGeom xmlns:a="http://schemas.openxmlformats.org/drawingml/2006/main" prst="rect">
            <a:avLst/>
          </a:prstGeom>
          <a:ln xmlns:a="http://schemas.openxmlformats.org/drawingml/2006/main" w="12700">
            <a:solidFill>
              <a:srgbClr val="C9D6E8"/>
            </a:solidFill>
            <a:prstDash val="solid"/>
          </a:ln>
        </p:spPr>
      </p:sp>
      <p:sp>
        <p:nvSpPr>
          <p:cNvPr id="8" name="run notes">
            <a:extLst xmlns:a="http://schemas.openxmlformats.org/drawingml/2006/main">
              <a:ext uri="{FF2B5EF4-FFF2-40B4-BE49-F238E27FC236}">
                <a16:creationId xmlns:a16="http://schemas.microsoft.com/office/drawing/2014/main" id="{04C8CC9B-DE96-44C9-97CE-CB4BD04ABB63}"/>
              </a:ext>
            </a:extLst>
          </p:cNvPr>
          <p:cNvSpPr>
            <a:spLocks xmlns:a="http://schemas.openxmlformats.org/drawingml/2006/main" noGrp="1"/>
          </p:cNvSpPr>
          <p:nvPr/>
        </p:nvSpPr>
        <p:spPr>
          <a:xfrm xmlns:a="http://schemas.openxmlformats.org/drawingml/2006/main">
            <a:off x="9144000" y="2468880"/>
            <a:ext cx="260604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4325C"/>
                </a:solidFill>
              </a:rPr>
              <a:t>Matched historical runs</a:t>
            </a:r>
            <a:endParaRPr sz="1200"/>
          </a:p>
          <a:p xmlns:a="http://schemas.openxmlformats.org/drawingml/2006/main">
            <a:pPr marL="0" indent="0">
              <a:buNone/>
            </a:pPr>
            <a:r>
              <a:rPr sz="1200">
                <a:solidFill>
                  <a:srgbClr val="000000"/>
                </a:solidFill>
              </a:rPr>
              <a:t>CI 38148253863 and CD 38148479735 on commit 362e8dd: candidate, rollback and redeploy passed smoke tests.</a:t>
            </a:r>
            <a:endParaRPr sz="1200"/>
          </a:p>
          <a:p xmlns:a="http://schemas.openxmlformats.org/drawingml/2006/main">
            <a:pPr marL="0" indent="0">
              <a:buNone/>
            </a:pPr>
            <a:r>
              <a:rPr sz="600">
                <a:solidFill>
                  <a:srgbClr val="000000"/>
                </a:solidFill>
              </a:rPr>
              <a:t> </a:t>
            </a:r>
            <a:endParaRPr sz="1200"/>
          </a:p>
          <a:p xmlns:a="http://schemas.openxmlformats.org/drawingml/2006/main">
            <a:pPr marL="0" indent="0">
              <a:buNone/>
            </a:pPr>
            <a:r>
              <a:rPr sz="1200" b="1">
                <a:solidFill>
                  <a:srgbClr val="14325C"/>
                </a:solidFill>
              </a:rPr>
              <a:t>Blocked example</a:t>
            </a:r>
            <a:endParaRPr sz="1200"/>
          </a:p>
          <a:p xmlns:a="http://schemas.openxmlformats.org/drawingml/2006/main">
            <a:pPr marL="0" indent="0">
              <a:buNone/>
            </a:pPr>
            <a:r>
              <a:rPr sz="1200">
                <a:solidFill>
                  <a:srgbClr val="000000"/>
                </a:solidFill>
              </a:rPr>
              <a:t>CD 38136628114 refused a failed CI run.</a:t>
            </a:r>
            <a:endParaRPr sz="1200"/>
          </a:p>
          <a:p xmlns:a="http://schemas.openxmlformats.org/drawingml/2006/main">
            <a:pPr marL="0" indent="0">
              <a:buNone/>
            </a:pPr>
            <a:r>
              <a:rPr sz="600">
                <a:solidFill>
                  <a:srgbClr val="000000"/>
                </a:solidFill>
              </a:rPr>
              <a:t> </a:t>
            </a:r>
            <a:endParaRPr sz="1200"/>
          </a:p>
          <a:p xmlns:a="http://schemas.openxmlformats.org/drawingml/2006/main">
            <a:pPr marL="0" indent="0">
              <a:buNone/>
            </a:pPr>
            <a:r>
              <a:rPr sz="1200" b="1">
                <a:solidFill>
                  <a:srgbClr val="8A6300"/>
                </a:solidFill>
              </a:rPr>
              <a:t>21 Oct CI fix</a:t>
            </a:r>
            <a:endParaRPr sz="1200"/>
          </a:p>
          <a:p xmlns:a="http://schemas.openxmlformats.org/drawingml/2006/main">
            <a:pPr marL="0" indent="0">
              <a:buNone/>
            </a:pPr>
            <a:r>
              <a:rPr sz="1200">
                <a:solidFill>
                  <a:srgbClr val="000000"/>
                </a:solidFill>
              </a:rPr>
              <a:t>Stop containers only after local setup succeeded; the full test gate is unchanged.</a:t>
            </a:r>
            <a:endParaRPr sz="1200"/>
          </a:p>
        </p:txBody>
      </p:sp>
      <p:sp>
        <p:nvSpPr>
          <p:cNvPr id="25" name="Slide Number Placeholder 0">
            <a:extLst xmlns:a="http://schemas.openxmlformats.org/drawingml/2006/main">
              <a:ext uri="{FF2B5EF4-FFF2-40B4-BE49-F238E27FC236}">
                <a16:creationId xmlns:a16="http://schemas.microsoft.com/office/drawing/2014/main" id="{7F231BC2-E3BD-46C3-80D6-7D1C06A02EC8}"/>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15</a:t>
            </a:fld>
            <a:endParaRPr/>
          </a:p>
        </p:txBody>
      </p:sp>
    </p:spTree>
    <p:extLst>
      <p:ext uri="{BB962C8B-B14F-4D97-AF65-F5344CB8AC3E}">
        <p14:creationId xmlns:p14="http://schemas.microsoft.com/office/powerpoint/2010/main" val="9817103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0DB69C5-39E2-4FBE-AEAB-3C7ABE661F19}"/>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Technical findings and issues</a:t>
            </a:r>
            <a:endParaRPr sz="2800"/>
          </a:p>
        </p:txBody>
      </p:sp>
      <p:sp>
        <p:nvSpPr>
          <p:cNvPr id="3" name="section pill">
            <a:extLst xmlns:a="http://schemas.openxmlformats.org/drawingml/2006/main">
              <a:ext uri="{FF2B5EF4-FFF2-40B4-BE49-F238E27FC236}">
                <a16:creationId xmlns:a16="http://schemas.microsoft.com/office/drawing/2014/main" id="{1C412EE7-45D6-456C-BC7E-B2C87EDF73E9}"/>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7C6E5507-74FD-4F21-AD50-2D0D16BE8711}"/>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5 · DevOps</a:t>
            </a:r>
            <a:endParaRPr sz="1200"/>
          </a:p>
        </p:txBody>
      </p:sp>
      <p:graphicFrame>
        <p:nvGraphicFramePr>
          <p:cNvPr id="17" name="findings">
            <a:extLst xmlns:a="http://schemas.openxmlformats.org/drawingml/2006/main">
              <a:ext uri="{FF2B5EF4-FFF2-40B4-BE49-F238E27FC236}">
                <a16:creationId xmlns:a16="http://schemas.microsoft.com/office/drawing/2014/main" id="{10C260E3-ECFD-4249-9CEF-C89FEE5E52C8}"/>
              </a:ext>
            </a:extLst>
          </p:cNvPr>
          <p:cNvGraphicFramePr/>
          <p:nvPr/>
        </p:nvGraphicFramePr>
        <p:xfrm>
          <a:off xmlns:a="http://schemas.openxmlformats.org/drawingml/2006/main" x="457200" y="1234440"/>
          <a:ext xmlns:a="http://schemas.openxmlformats.org/drawingml/2006/main" cx="11274552" cy="914400"/>
        </p:xfrm>
        <a:graphic xmlns:a="http://schemas.openxmlformats.org/drawingml/2006/main">
          <a:graphicData uri="http://schemas.openxmlformats.org/drawingml/2006/table">
            <a:tbl>
              <a:tblPr/>
              <a:tblGrid>
                <a:gridCol w="3749040"/>
                <a:gridCol w="3657600"/>
                <a:gridCol w="3867912"/>
              </a:tblGrid>
              <a:tr h="0">
                <a:tc>
                  <a:txBody>
                    <a:bodyPr/>
                    <a:lstStyle/>
                    <a:p>
                      <a:pPr marL="0" indent="0">
                        <a:buNone/>
                      </a:pPr>
                      <a:r>
                        <a:rPr sz="1400" b="1">
                          <a:solidFill>
                            <a:srgbClr val="FFFFFF"/>
                          </a:solidFill>
                          <a:latin typeface="Arial"/>
                          <a:ea typeface="Arial"/>
                          <a:cs typeface="Arial"/>
                        </a:rPr>
                        <a:t>Problem</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c>
                  <a:txBody>
                    <a:bodyPr/>
                    <a:lstStyle/>
                    <a:p>
                      <a:pPr marL="0" indent="0">
                        <a:buNone/>
                      </a:pPr>
                      <a:r>
                        <a:rPr sz="1400" b="1">
                          <a:solidFill>
                            <a:srgbClr val="FFFFFF"/>
                          </a:solidFill>
                          <a:latin typeface="Arial"/>
                          <a:ea typeface="Arial"/>
                          <a:cs typeface="Arial"/>
                        </a:rPr>
                        <a:t>Root cause</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c>
                  <a:txBody>
                    <a:bodyPr/>
                    <a:lstStyle/>
                    <a:p>
                      <a:pPr marL="0" indent="0">
                        <a:buNone/>
                      </a:pPr>
                      <a:r>
                        <a:rPr sz="1400" b="1">
                          <a:solidFill>
                            <a:srgbClr val="FFFFFF"/>
                          </a:solidFill>
                          <a:latin typeface="Arial"/>
                          <a:ea typeface="Arial"/>
                          <a:cs typeface="Arial"/>
                        </a:rPr>
                        <a:t>Resolution</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r>
              <a:tr h="0">
                <a:tc>
                  <a:txBody>
                    <a:bodyPr/>
                    <a:lstStyle/>
                    <a:p>
                      <a:pPr marL="0" indent="0">
                        <a:buNone/>
                      </a:pPr>
                      <a:r>
                        <a:rPr sz="1300">
                          <a:solidFill>
                            <a:srgbClr val="1F2937"/>
                          </a:solidFill>
                          <a:latin typeface="Arial"/>
                          <a:ea typeface="Arial"/>
                          <a:cs typeface="Arial"/>
                        </a:rPr>
                        <a:t>Redeploy step of the first CD failed</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Kubernetes field-manager conflict on full apply</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Update only the image fields; the fixed CD passed</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300">
                          <a:solidFill>
                            <a:srgbClr val="1F2937"/>
                          </a:solidFill>
                          <a:latin typeface="Arial"/>
                          <a:ea typeface="Arial"/>
                          <a:cs typeface="Arial"/>
                        </a:rPr>
                        <a:t>A container build failed in CI</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300">
                          <a:solidFill>
                            <a:srgbClr val="1F2937"/>
                          </a:solidFill>
                          <a:latin typeface="Arial"/>
                          <a:ea typeface="Arial"/>
                          <a:cs typeface="Arial"/>
                        </a:rPr>
                        <a:t>Fixture files missing from the build stage</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300">
                          <a:solidFill>
                            <a:srgbClr val="1F2937"/>
                          </a:solidFill>
                          <a:latin typeface="Arial"/>
                          <a:ea typeface="Arial"/>
                          <a:cs typeface="Arial"/>
                        </a:rPr>
                        <a:t>Added the fixtures to the image build</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300">
                          <a:solidFill>
                            <a:srgbClr val="1F2937"/>
                          </a:solidFill>
                          <a:latin typeface="Arial"/>
                          <a:ea typeface="Arial"/>
                          <a:cs typeface="Arial"/>
                        </a:rPr>
                        <a:t>First 3 autoscaling attempts missed 3 Ready replicas</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CPU request too high; HPA metrics not ready on cold start</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Request 250m → 150m, warm the HPA; 4th run scaled 1 → 3 → 1</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300">
                          <a:solidFill>
                            <a:srgbClr val="1F2937"/>
                          </a:solidFill>
                          <a:latin typeface="Arial"/>
                          <a:ea typeface="Arial"/>
                          <a:cs typeface="Arial"/>
                        </a:rPr>
                        <a:t>Phrase-matching evaluator blocked valid answers, missed violations</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300">
                          <a:solidFill>
                            <a:srgbClr val="1F2937"/>
                          </a:solidFill>
                          <a:latin typeface="Arial"/>
                          <a:ea typeface="Arial"/>
                          <a:cs typeface="Arial"/>
                        </a:rPr>
                        <a:t>Phrase rules cannot handle negation or extra claims</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300">
                          <a:solidFill>
                            <a:srgbClr val="1F2937"/>
                          </a:solidFill>
                          <a:latin typeface="Arial"/>
                          <a:ea typeface="Arial"/>
                          <a:cs typeface="Arial"/>
                        </a:rPr>
                        <a:t>Deterministic contracts; semantic reviewer kept in shadow mode</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300">
                          <a:solidFill>
                            <a:srgbClr val="1F2937"/>
                          </a:solidFill>
                          <a:latin typeface="Arial"/>
                          <a:ea typeface="Arial"/>
                          <a:cs typeface="Arial"/>
                        </a:rPr>
                        <a:t>JSON mode returned incomplete fields</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JSON mode guarantees syntax, not the schema</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Strict schema and raw capture verified. r14 remains an unvalidated, inactive candidate.</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300">
                          <a:solidFill>
                            <a:srgbClr val="1F2937"/>
                          </a:solidFill>
                          <a:latin typeface="Arial"/>
                          <a:ea typeface="Arial"/>
                          <a:cs typeface="Arial"/>
                        </a:rPr>
                        <a:t>First local log check failed (21 Oct)</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FF3C4"/>
                    </a:solidFill>
                  </a:tcPr>
                </a:tc>
                <a:tc>
                  <a:txBody>
                    <a:bodyPr/>
                    <a:lstStyle/>
                    <a:p>
                      <a:pPr marL="0" indent="0">
                        <a:buNone/>
                      </a:pPr>
                      <a:r>
                        <a:rPr sz="1300">
                          <a:solidFill>
                            <a:srgbClr val="1F2937"/>
                          </a:solidFill>
                          <a:latin typeface="Arial"/>
                          <a:ea typeface="Arial"/>
                          <a:cs typeface="Arial"/>
                        </a:rPr>
                        <a:t>Loki’s default data directory was not writable</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FF3C4"/>
                    </a:solidFill>
                  </a:tcPr>
                </a:tc>
                <a:tc>
                  <a:txBody>
                    <a:bodyPr/>
                    <a:lstStyle/>
                    <a:p>
                      <a:pPr marL="0" indent="0">
                        <a:buNone/>
                      </a:pPr>
                      <a:r>
                        <a:rPr sz="1300">
                          <a:solidFill>
                            <a:srgbClr val="1F2937"/>
                          </a:solidFill>
                          <a:latin typeface="Arial"/>
                          <a:ea typeface="Arial"/>
                          <a:cs typeface="Arial"/>
                        </a:rPr>
                        <a:t>Configured a writable directory; failure record retained</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FF3C4"/>
                    </a:solidFill>
                  </a:tcPr>
                </a:tc>
              </a:tr>
            </a:tbl>
          </a:graphicData>
        </a:graphic>
      </p:graphicFrame>
      <p:sp>
        <p:nvSpPr>
          <p:cNvPr id="6" name="regression card">
            <a:extLst xmlns:a="http://schemas.openxmlformats.org/drawingml/2006/main">
              <a:ext uri="{FF2B5EF4-FFF2-40B4-BE49-F238E27FC236}">
                <a16:creationId xmlns:a16="http://schemas.microsoft.com/office/drawing/2014/main" id="{90166DD2-1FB3-49E9-8844-3DD65666A029}"/>
              </a:ext>
            </a:extLst>
          </p:cNvPr>
          <p:cNvSpPr>
            <a:spLocks xmlns:a="http://schemas.openxmlformats.org/drawingml/2006/main" noGrp="1"/>
          </p:cNvSpPr>
          <p:nvPr/>
        </p:nvSpPr>
        <p:spPr>
          <a:xfrm xmlns:a="http://schemas.openxmlformats.org/drawingml/2006/main">
            <a:off x="457200" y="5257800"/>
            <a:ext cx="11274552" cy="777240"/>
          </a:xfrm>
          <a:prstGeom xmlns:a="http://schemas.openxmlformats.org/drawingml/2006/main" prst="roundRect">
            <a:avLst>
              <a:gd name="adj" fmla="val 9412"/>
            </a:avLst>
          </a:prstGeom>
          <a:solidFill xmlns:a="http://schemas.openxmlformats.org/drawingml/2006/main">
            <a:srgbClr val="DCE8F7"/>
          </a:solidFill>
          <a:ln xmlns:a="http://schemas.openxmlformats.org/drawingml/2006/main" w="12700">
            <a:solidFill>
              <a:srgbClr val="DCE8F7"/>
            </a:solidFill>
            <a:prstDash val="solid"/>
          </a:ln>
        </p:spPr>
      </p:sp>
      <p:sp>
        <p:nvSpPr>
          <p:cNvPr id="7" name="regression note">
            <a:extLst xmlns:a="http://schemas.openxmlformats.org/drawingml/2006/main">
              <a:ext uri="{FF2B5EF4-FFF2-40B4-BE49-F238E27FC236}">
                <a16:creationId xmlns:a16="http://schemas.microsoft.com/office/drawing/2014/main" id="{9E2F0EB7-3367-4800-9AD8-1B38B134805A}"/>
              </a:ext>
            </a:extLst>
          </p:cNvPr>
          <p:cNvSpPr>
            <a:spLocks xmlns:a="http://schemas.openxmlformats.org/drawingml/2006/main" noGrp="1"/>
          </p:cNvSpPr>
          <p:nvPr/>
        </p:nvSpPr>
        <p:spPr>
          <a:xfrm xmlns:a="http://schemas.openxmlformats.org/drawingml/2006/main">
            <a:off x="640080" y="5303520"/>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4325C"/>
                </a:solidFill>
              </a:rPr>
              <a:t>Full regression: </a:t>
            </a:r>
            <a:r>
              <a:rPr sz="1400">
                <a:solidFill>
                  <a:srgbClr val="000000"/>
                </a:solidFill>
              </a:rPr>
              <a:t>776 / 777 on the 19 Oct frozen commit · 782 / 783 on the 21 Oct resilience package — the same rejected evaluator test is kept visible, not deleted.</a:t>
            </a:r>
            <a:endParaRPr sz="1400"/>
          </a:p>
        </p:txBody>
      </p:sp>
      <p:sp>
        <p:nvSpPr>
          <p:cNvPr id="25" name="Slide Number Placeholder 0">
            <a:extLst xmlns:a="http://schemas.openxmlformats.org/drawingml/2006/main">
              <a:ext uri="{FF2B5EF4-FFF2-40B4-BE49-F238E27FC236}">
                <a16:creationId xmlns:a16="http://schemas.microsoft.com/office/drawing/2014/main" id="{5A0BFF25-38BA-4E3E-94F3-F36D4DD08656}"/>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16</a:t>
            </a:fld>
            <a:endParaRPr/>
          </a:p>
        </p:txBody>
      </p:sp>
    </p:spTree>
    <p:extLst>
      <p:ext uri="{BB962C8B-B14F-4D97-AF65-F5344CB8AC3E}">
        <p14:creationId xmlns:p14="http://schemas.microsoft.com/office/powerpoint/2010/main" val="141069441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F906976-93AE-462D-9597-011423EA8397}"/>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Demo 1–2: evaluation and independent review</a:t>
            </a:r>
            <a:endParaRPr sz="2800"/>
          </a:p>
        </p:txBody>
      </p:sp>
      <p:sp>
        <p:nvSpPr>
          <p:cNvPr id="3" name="section pill">
            <a:extLst xmlns:a="http://schemas.openxmlformats.org/drawingml/2006/main">
              <a:ext uri="{FF2B5EF4-FFF2-40B4-BE49-F238E27FC236}">
                <a16:creationId xmlns:a16="http://schemas.microsoft.com/office/drawing/2014/main" id="{01208109-49ED-4C66-A51A-8829FF969219}"/>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DDFA6F7B-E69C-4047-B75F-06EE5E871872}"/>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6 · Demo</a:t>
            </a:r>
            <a:endParaRPr sz="1200"/>
          </a:p>
        </p:txBody>
      </p:sp>
      <p:sp>
        <p:nvSpPr>
          <p:cNvPr id="5" name="live banner">
            <a:extLst xmlns:a="http://schemas.openxmlformats.org/drawingml/2006/main">
              <a:ext uri="{FF2B5EF4-FFF2-40B4-BE49-F238E27FC236}">
                <a16:creationId xmlns:a16="http://schemas.microsoft.com/office/drawing/2014/main" id="{8F99C37F-1073-44A4-8675-06C6086F5A9D}"/>
              </a:ext>
            </a:extLst>
          </p:cNvPr>
          <p:cNvSpPr>
            <a:spLocks xmlns:a="http://schemas.openxmlformats.org/drawingml/2006/main" noGrp="1"/>
          </p:cNvSpPr>
          <p:nvPr/>
        </p:nvSpPr>
        <p:spPr>
          <a:xfrm xmlns:a="http://schemas.openxmlformats.org/drawingml/2006/main">
            <a:off x="457200" y="1188720"/>
            <a:ext cx="11274552" cy="411480"/>
          </a:xfrm>
          <a:prstGeom xmlns:a="http://schemas.openxmlformats.org/drawingml/2006/main" prst="roundRect">
            <a:avLst>
              <a:gd name="adj" fmla="val 17778"/>
            </a:avLst>
          </a:prstGeom>
          <a:solidFill xmlns:a="http://schemas.openxmlformats.org/drawingml/2006/main">
            <a:srgbClr val="14325C"/>
          </a:solidFill>
          <a:ln xmlns:a="http://schemas.openxmlformats.org/drawingml/2006/main" w="12700">
            <a:solidFill>
              <a:srgbClr val="14325C"/>
            </a:solidFill>
            <a:prstDash val="solid"/>
          </a:ln>
        </p:spPr>
      </p:sp>
      <p:sp>
        <p:nvSpPr>
          <p:cNvPr id="6" name="live banner text">
            <a:extLst xmlns:a="http://schemas.openxmlformats.org/drawingml/2006/main">
              <a:ext uri="{FF2B5EF4-FFF2-40B4-BE49-F238E27FC236}">
                <a16:creationId xmlns:a16="http://schemas.microsoft.com/office/drawing/2014/main" id="{0A4AF2E9-1564-4396-A0E8-13A47CB59430}"/>
              </a:ext>
            </a:extLst>
          </p:cNvPr>
          <p:cNvSpPr>
            <a:spLocks xmlns:a="http://schemas.openxmlformats.org/drawingml/2006/main" noGrp="1"/>
          </p:cNvSpPr>
          <p:nvPr/>
        </p:nvSpPr>
        <p:spPr>
          <a:xfrm xmlns:a="http://schemas.openxmlformats.org/drawingml/2006/main">
            <a:off x="457200" y="1188720"/>
            <a:ext cx="1127455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5B700"/>
                </a:solidFill>
              </a:rPr>
              <a:t>REPLAY ONLY · live access scheduled · screenshots show historical runs</a:t>
            </a:r>
            <a:endParaRPr sz="1400"/>
          </a:p>
        </p:txBody>
      </p:sp>
      <p:sp>
        <p:nvSpPr>
          <p:cNvPr id="7" name="Demo 1 · A · 1.5 min">
            <a:extLst xmlns:a="http://schemas.openxmlformats.org/drawingml/2006/main">
              <a:ext uri="{FF2B5EF4-FFF2-40B4-BE49-F238E27FC236}">
                <a16:creationId xmlns:a16="http://schemas.microsoft.com/office/drawing/2014/main" id="{1EEAFA9C-EB40-4962-9B55-C95CD708717B}"/>
              </a:ext>
            </a:extLst>
          </p:cNvPr>
          <p:cNvSpPr>
            <a:spLocks xmlns:a="http://schemas.openxmlformats.org/drawingml/2006/main" noGrp="1"/>
          </p:cNvSpPr>
          <p:nvPr/>
        </p:nvSpPr>
        <p:spPr>
          <a:xfrm xmlns:a="http://schemas.openxmlformats.org/drawingml/2006/main">
            <a:off x="457200" y="1783080"/>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4325C"/>
                </a:solidFill>
              </a:rPr>
              <a:t>Demo 1 · A · 1.5 min</a:t>
            </a:r>
            <a:endParaRPr sz="1800"/>
          </a:p>
        </p:txBody>
      </p:sp>
      <p:sp>
        <p:nvSpPr>
          <p:cNvPr id="8" name="Demo 1 · A · 1.5 min steps">
            <a:extLst xmlns:a="http://schemas.openxmlformats.org/drawingml/2006/main">
              <a:ext uri="{FF2B5EF4-FFF2-40B4-BE49-F238E27FC236}">
                <a16:creationId xmlns:a16="http://schemas.microsoft.com/office/drawing/2014/main" id="{69EAB7E6-C57A-4AA4-8AA1-E0FF637BD1B6}"/>
              </a:ext>
            </a:extLst>
          </p:cNvPr>
          <p:cNvSpPr>
            <a:spLocks xmlns:a="http://schemas.openxmlformats.org/drawingml/2006/main" noGrp="1"/>
          </p:cNvSpPr>
          <p:nvPr/>
        </p:nvSpPr>
        <p:spPr>
          <a:xfrm xmlns:a="http://schemas.openxmlformats.org/drawingml/2006/main">
            <a:off x="457200" y="2194560"/>
            <a:ext cx="548640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300"/>
              </a:spcAft>
              <a:buSzPct val="100000"/>
              <a:buFont typeface="+mj-lt"/>
              <a:buAutoNum type="arabicPeriod" startAt="1"/>
            </a:pPr>
            <a:r>
              <a:rPr sz="1400">
                <a:solidFill>
                  <a:srgbClr val="000000"/>
                </a:solidFill>
              </a:rPr>
              <a:t>Register an application and an immutable suite</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Submit a passing and a failing candidate</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Inspect per-case evidence and original output</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The failing one is Blocked and cannot request review</a:t>
            </a:r>
            <a:endParaRPr sz="1400"/>
          </a:p>
        </p:txBody>
      </p:sp>
      <p:pic>
        <p:nvPicPr>
          <p:cNvPr id="9" name="Demo 1 · A · 1.5 min screenshot">
            <a:extLst xmlns:a="http://schemas.openxmlformats.org/drawingml/2006/main">
              <a:ext uri="{FF2B5EF4-FFF2-40B4-BE49-F238E27FC236}">
                <a16:creationId xmlns:a16="http://schemas.microsoft.com/office/drawing/2014/main" id="{F0FFA963-5A0A-4C8B-8E7C-5DB8AA2C43AF}"/>
              </a:ext>
            </a:extLst>
          </p:cNvPr>
          <p:cNvPicPr>
            <a:picLocks xmlns:a="http://schemas.openxmlformats.org/drawingml/2006/main" noChangeAspect="1"/>
          </p:cNvPicPr>
          <p:nvPr/>
        </p:nvPicPr>
        <p:blipFill>
          <a:blip xmlns:r="http://schemas.openxmlformats.org/officeDocument/2006/relationships" xmlns:a="http://schemas.openxmlformats.org/drawingml/2006/main" r:embed="Rd08d5244994e48ee"/>
          <a:stretch xmlns:a="http://schemas.openxmlformats.org/drawingml/2006/main">
            <a:fillRect l="0" t="0" r="0" b="0"/>
          </a:stretch>
        </p:blipFill>
        <p:spPr>
          <a:xfrm xmlns:a="http://schemas.openxmlformats.org/drawingml/2006/main">
            <a:off x="1050235" y="3703320"/>
            <a:ext cx="4300330" cy="2514600"/>
          </a:xfrm>
          <a:prstGeom xmlns:a="http://schemas.openxmlformats.org/drawingml/2006/main" prst="rect">
            <a:avLst/>
          </a:prstGeom>
        </p:spPr>
      </p:pic>
      <p:sp>
        <p:nvSpPr>
          <p:cNvPr id="10" name="Demo 1 · A · 1.5 min screenshot frame">
            <a:extLst xmlns:a="http://schemas.openxmlformats.org/drawingml/2006/main">
              <a:ext uri="{FF2B5EF4-FFF2-40B4-BE49-F238E27FC236}">
                <a16:creationId xmlns:a16="http://schemas.microsoft.com/office/drawing/2014/main" id="{55228304-D6DB-41C8-9C09-ECCD8ED34F21}"/>
              </a:ext>
            </a:extLst>
          </p:cNvPr>
          <p:cNvSpPr>
            <a:spLocks xmlns:a="http://schemas.openxmlformats.org/drawingml/2006/main" noGrp="1"/>
          </p:cNvSpPr>
          <p:nvPr/>
        </p:nvSpPr>
        <p:spPr>
          <a:xfrm xmlns:a="http://schemas.openxmlformats.org/drawingml/2006/main">
            <a:off x="1050235" y="3703320"/>
            <a:ext cx="4300330" cy="2514600"/>
          </a:xfrm>
          <a:prstGeom xmlns:a="http://schemas.openxmlformats.org/drawingml/2006/main" prst="rect">
            <a:avLst/>
          </a:prstGeom>
          <a:ln xmlns:a="http://schemas.openxmlformats.org/drawingml/2006/main" w="12700">
            <a:solidFill>
              <a:srgbClr val="C9D6E8"/>
            </a:solidFill>
            <a:prstDash val="solid"/>
          </a:ln>
        </p:spPr>
      </p:sp>
      <p:sp>
        <p:nvSpPr>
          <p:cNvPr id="11" name="Demo 2 · B · 1 min">
            <a:extLst xmlns:a="http://schemas.openxmlformats.org/drawingml/2006/main">
              <a:ext uri="{FF2B5EF4-FFF2-40B4-BE49-F238E27FC236}">
                <a16:creationId xmlns:a16="http://schemas.microsoft.com/office/drawing/2014/main" id="{07D7C302-B3FE-4576-929F-989C14A7C10C}"/>
              </a:ext>
            </a:extLst>
          </p:cNvPr>
          <p:cNvSpPr>
            <a:spLocks xmlns:a="http://schemas.openxmlformats.org/drawingml/2006/main" noGrp="1"/>
          </p:cNvSpPr>
          <p:nvPr/>
        </p:nvSpPr>
        <p:spPr>
          <a:xfrm xmlns:a="http://schemas.openxmlformats.org/drawingml/2006/main">
            <a:off x="6172200" y="1783080"/>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4325C"/>
                </a:solidFill>
              </a:rPr>
              <a:t>Demo 2 · B · 1 min</a:t>
            </a:r>
            <a:endParaRPr sz="1800"/>
          </a:p>
        </p:txBody>
      </p:sp>
      <p:sp>
        <p:nvSpPr>
          <p:cNvPr id="12" name="Demo 2 · B · 1 min steps">
            <a:extLst xmlns:a="http://schemas.openxmlformats.org/drawingml/2006/main">
              <a:ext uri="{FF2B5EF4-FFF2-40B4-BE49-F238E27FC236}">
                <a16:creationId xmlns:a16="http://schemas.microsoft.com/office/drawing/2014/main" id="{32D20E01-E182-4C1A-B58B-9CDC6779563E}"/>
              </a:ext>
            </a:extLst>
          </p:cNvPr>
          <p:cNvSpPr>
            <a:spLocks xmlns:a="http://schemas.openxmlformats.org/drawingml/2006/main" noGrp="1"/>
          </p:cNvSpPr>
          <p:nvPr/>
        </p:nvSpPr>
        <p:spPr>
          <a:xfrm xmlns:a="http://schemas.openxmlformats.org/drawingml/2006/main">
            <a:off x="6172200" y="2194560"/>
            <a:ext cx="548640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300"/>
              </a:spcAft>
              <a:buSzPct val="100000"/>
              <a:buFont typeface="+mj-lt"/>
              <a:buAutoNum type="arabicPeriod" startAt="1"/>
            </a:pPr>
            <a:r>
              <a:rPr sz="1400">
                <a:solidFill>
                  <a:srgbClr val="000000"/>
                </a:solidFill>
              </a:rPr>
              <a:t>Inspect saved self-review rejection</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Teammate signs in and reads the evidence</a:t>
            </a:r>
          </a:p>
          <a:p xmlns:a="http://schemas.openxmlformats.org/drawingml/2006/main">
            <a:pPr marL="342900" indent="-342900">
              <a:spcAft>
                <a:spcPts val="300"/>
              </a:spcAft>
              <a:buSzPct val="100000"/>
              <a:buFont typeface="+mj-lt"/>
              <a:buAutoNum type="arabicPeriod" startAt="1"/>
            </a:pPr>
            <a:r>
              <a:rPr sz="1400">
                <a:solidFill>
                  <a:srgbClr val="000000"/>
                </a:solidFill>
              </a:rPr>
              <a:t>Reviewer decides with their own reason</a:t>
            </a:r>
          </a:p>
          <a:p xmlns:a="http://schemas.openxmlformats.org/drawingml/2006/main">
            <a:pPr marL="342900" indent="-342900">
              <a:spcAft>
                <a:spcPts val="300"/>
              </a:spcAft>
              <a:buSzPct val="100000"/>
              <a:buFont typeface="+mj-lt"/>
              <a:buAutoNum type="arabicPeriod" startAt="1"/>
            </a:pPr>
            <a:r>
              <a:rPr sz="1400">
                <a:solidFill>
                  <a:srgbClr val="000000"/>
                </a:solidFill>
              </a:rPr>
              <a:t>Export terminal decision and audit</a:t>
            </a:r>
          </a:p>
        </p:txBody>
      </p:sp>
      <p:pic>
        <p:nvPicPr>
          <p:cNvPr id="13" name="Demo 2 · B · 1 min screenshot">
            <a:extLst xmlns:a="http://schemas.openxmlformats.org/drawingml/2006/main">
              <a:ext uri="{FF2B5EF4-FFF2-40B4-BE49-F238E27FC236}">
                <a16:creationId xmlns:a16="http://schemas.microsoft.com/office/drawing/2014/main" id="{3B213A67-A601-4CA1-A7A7-9F7C3FE74288}"/>
              </a:ext>
            </a:extLst>
          </p:cNvPr>
          <p:cNvPicPr>
            <a:picLocks xmlns:a="http://schemas.openxmlformats.org/drawingml/2006/main" noChangeAspect="1"/>
          </p:cNvPicPr>
          <p:nvPr/>
        </p:nvPicPr>
        <p:blipFill>
          <a:blip xmlns:r="http://schemas.openxmlformats.org/officeDocument/2006/relationships" xmlns:a="http://schemas.openxmlformats.org/drawingml/2006/main" r:embed="Re6fd474517804abc"/>
          <a:stretch xmlns:a="http://schemas.openxmlformats.org/drawingml/2006/main">
            <a:fillRect l="0" t="0" r="0" b="0"/>
          </a:stretch>
        </p:blipFill>
        <p:spPr>
          <a:xfrm xmlns:a="http://schemas.openxmlformats.org/drawingml/2006/main">
            <a:off x="6172200" y="3703320"/>
            <a:ext cx="5486400" cy="2387387"/>
          </a:xfrm>
          <a:prstGeom xmlns:a="http://schemas.openxmlformats.org/drawingml/2006/main" prst="rect">
            <a:avLst/>
          </a:prstGeom>
        </p:spPr>
      </p:pic>
      <p:sp>
        <p:nvSpPr>
          <p:cNvPr id="14" name="Demo 2 · B · 1 min screenshot frame">
            <a:extLst xmlns:a="http://schemas.openxmlformats.org/drawingml/2006/main">
              <a:ext uri="{FF2B5EF4-FFF2-40B4-BE49-F238E27FC236}">
                <a16:creationId xmlns:a16="http://schemas.microsoft.com/office/drawing/2014/main" id="{8DAC0EB2-63FC-4142-8B4A-57527EAD3B4B}"/>
              </a:ext>
            </a:extLst>
          </p:cNvPr>
          <p:cNvSpPr>
            <a:spLocks xmlns:a="http://schemas.openxmlformats.org/drawingml/2006/main" noGrp="1"/>
          </p:cNvSpPr>
          <p:nvPr/>
        </p:nvSpPr>
        <p:spPr>
          <a:xfrm xmlns:a="http://schemas.openxmlformats.org/drawingml/2006/main">
            <a:off x="6172200" y="3703320"/>
            <a:ext cx="5486400" cy="2387387"/>
          </a:xfrm>
          <a:prstGeom xmlns:a="http://schemas.openxmlformats.org/drawingml/2006/main" prst="rect">
            <a:avLst/>
          </a:prstGeom>
          <a:ln xmlns:a="http://schemas.openxmlformats.org/drawingml/2006/main" w="12700">
            <a:solidFill>
              <a:srgbClr val="C9D6E8"/>
            </a:solidFill>
            <a:prstDash val="solid"/>
          </a:ln>
        </p:spPr>
      </p:sp>
      <p:sp>
        <p:nvSpPr>
          <p:cNvPr id="25" name="Slide Number Placeholder 0">
            <a:extLst xmlns:a="http://schemas.openxmlformats.org/drawingml/2006/main">
              <a:ext uri="{FF2B5EF4-FFF2-40B4-BE49-F238E27FC236}">
                <a16:creationId xmlns:a16="http://schemas.microsoft.com/office/drawing/2014/main" id="{E4DDCE23-8902-44E8-820A-E4EB26060C1A}"/>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17</a:t>
            </a:fld>
            <a:endParaRPr/>
          </a:p>
        </p:txBody>
      </p:sp>
    </p:spTree>
    <p:extLst>
      <p:ext uri="{BB962C8B-B14F-4D97-AF65-F5344CB8AC3E}">
        <p14:creationId xmlns:p14="http://schemas.microsoft.com/office/powerpoint/2010/main" val="208544328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8883597-E97F-482B-9138-4286F7968993}"/>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Availability: provider circuit breaker</a:t>
            </a:r>
            <a:endParaRPr sz="2800"/>
          </a:p>
        </p:txBody>
      </p:sp>
      <p:sp>
        <p:nvSpPr>
          <p:cNvPr id="3" name="section pill">
            <a:extLst xmlns:a="http://schemas.openxmlformats.org/drawingml/2006/main">
              <a:ext uri="{FF2B5EF4-FFF2-40B4-BE49-F238E27FC236}">
                <a16:creationId xmlns:a16="http://schemas.microsoft.com/office/drawing/2014/main" id="{D42DD373-0F7F-45CE-92DD-752B3A8EF219}"/>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DDDFF56D-810E-438A-96DF-2B0EE37138F8}"/>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6 · Demo</a:t>
            </a:r>
            <a:endParaRPr sz="1200"/>
          </a:p>
        </p:txBody>
      </p:sp>
      <p:sp>
        <p:nvSpPr>
          <p:cNvPr id="5" name="state CLOSED">
            <a:extLst xmlns:a="http://schemas.openxmlformats.org/drawingml/2006/main">
              <a:ext uri="{FF2B5EF4-FFF2-40B4-BE49-F238E27FC236}">
                <a16:creationId xmlns:a16="http://schemas.microsoft.com/office/drawing/2014/main" id="{912E650F-2A26-4DB0-ABBA-029D7CF0F5D3}"/>
              </a:ext>
            </a:extLst>
          </p:cNvPr>
          <p:cNvSpPr>
            <a:spLocks xmlns:a="http://schemas.openxmlformats.org/drawingml/2006/main" noGrp="1"/>
          </p:cNvSpPr>
          <p:nvPr/>
        </p:nvSpPr>
        <p:spPr>
          <a:xfrm xmlns:a="http://schemas.openxmlformats.org/drawingml/2006/main">
            <a:off x="758952" y="1719072"/>
            <a:ext cx="1316736" cy="1316736"/>
          </a:xfrm>
          <a:prstGeom xmlns:a="http://schemas.openxmlformats.org/drawingml/2006/main" prst="ellipse">
            <a:avLst/>
          </a:prstGeom>
          <a:solidFill xmlns:a="http://schemas.openxmlformats.org/drawingml/2006/main">
            <a:srgbClr val="2563B0"/>
          </a:solidFill>
          <a:ln xmlns:a="http://schemas.openxmlformats.org/drawingml/2006/main" w="25400">
            <a:solidFill>
              <a:srgbClr val="14325C"/>
            </a:solidFill>
            <a:prstDash val="solid"/>
          </a:ln>
        </p:spPr>
      </p:sp>
      <p:sp>
        <p:nvSpPr>
          <p:cNvPr id="6" name="state label CLOSED">
            <a:extLst xmlns:a="http://schemas.openxmlformats.org/drawingml/2006/main">
              <a:ext uri="{FF2B5EF4-FFF2-40B4-BE49-F238E27FC236}">
                <a16:creationId xmlns:a16="http://schemas.microsoft.com/office/drawing/2014/main" id="{CFC9B998-5246-44C5-8074-109E6111FBC8}"/>
              </a:ext>
            </a:extLst>
          </p:cNvPr>
          <p:cNvSpPr>
            <a:spLocks xmlns:a="http://schemas.openxmlformats.org/drawingml/2006/main" noGrp="1"/>
          </p:cNvSpPr>
          <p:nvPr/>
        </p:nvSpPr>
        <p:spPr>
          <a:xfrm xmlns:a="http://schemas.openxmlformats.org/drawingml/2006/main">
            <a:off x="758952" y="1719072"/>
            <a:ext cx="1316736"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rPr>
              <a:t>CLOSED</a:t>
            </a:r>
            <a:endParaRPr sz="1400"/>
          </a:p>
        </p:txBody>
      </p:sp>
      <p:sp>
        <p:nvSpPr>
          <p:cNvPr id="7" name="state OPEN">
            <a:extLst xmlns:a="http://schemas.openxmlformats.org/drawingml/2006/main">
              <a:ext uri="{FF2B5EF4-FFF2-40B4-BE49-F238E27FC236}">
                <a16:creationId xmlns:a16="http://schemas.microsoft.com/office/drawing/2014/main" id="{282B91BA-0A5E-4233-B952-E08B1412DDD6}"/>
              </a:ext>
            </a:extLst>
          </p:cNvPr>
          <p:cNvSpPr>
            <a:spLocks xmlns:a="http://schemas.openxmlformats.org/drawingml/2006/main" noGrp="1"/>
          </p:cNvSpPr>
          <p:nvPr/>
        </p:nvSpPr>
        <p:spPr>
          <a:xfrm xmlns:a="http://schemas.openxmlformats.org/drawingml/2006/main">
            <a:off x="4462272" y="1719072"/>
            <a:ext cx="1316736" cy="1316736"/>
          </a:xfrm>
          <a:prstGeom xmlns:a="http://schemas.openxmlformats.org/drawingml/2006/main" prst="ellipse">
            <a:avLst/>
          </a:prstGeom>
          <a:solidFill xmlns:a="http://schemas.openxmlformats.org/drawingml/2006/main">
            <a:srgbClr val="F5B700"/>
          </a:solidFill>
          <a:ln xmlns:a="http://schemas.openxmlformats.org/drawingml/2006/main" w="25400">
            <a:solidFill>
              <a:srgbClr val="14325C"/>
            </a:solidFill>
            <a:prstDash val="solid"/>
          </a:ln>
        </p:spPr>
      </p:sp>
      <p:sp>
        <p:nvSpPr>
          <p:cNvPr id="8" name="state label OPEN">
            <a:extLst xmlns:a="http://schemas.openxmlformats.org/drawingml/2006/main">
              <a:ext uri="{FF2B5EF4-FFF2-40B4-BE49-F238E27FC236}">
                <a16:creationId xmlns:a16="http://schemas.microsoft.com/office/drawing/2014/main" id="{05A1FACC-315E-4B70-BB30-D934395073F4}"/>
              </a:ext>
            </a:extLst>
          </p:cNvPr>
          <p:cNvSpPr>
            <a:spLocks xmlns:a="http://schemas.openxmlformats.org/drawingml/2006/main" noGrp="1"/>
          </p:cNvSpPr>
          <p:nvPr/>
        </p:nvSpPr>
        <p:spPr>
          <a:xfrm xmlns:a="http://schemas.openxmlformats.org/drawingml/2006/main">
            <a:off x="4462272" y="1719072"/>
            <a:ext cx="1316736"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4325C"/>
                </a:solidFill>
              </a:rPr>
              <a:t>OPEN</a:t>
            </a:r>
            <a:endParaRPr sz="1400"/>
          </a:p>
        </p:txBody>
      </p:sp>
      <p:sp>
        <p:nvSpPr>
          <p:cNvPr id="9" name="state HALF-OPEN">
            <a:extLst xmlns:a="http://schemas.openxmlformats.org/drawingml/2006/main">
              <a:ext uri="{FF2B5EF4-FFF2-40B4-BE49-F238E27FC236}">
                <a16:creationId xmlns:a16="http://schemas.microsoft.com/office/drawing/2014/main" id="{C194A364-3B74-422A-B056-1309CACB2E2C}"/>
              </a:ext>
            </a:extLst>
          </p:cNvPr>
          <p:cNvSpPr>
            <a:spLocks xmlns:a="http://schemas.openxmlformats.org/drawingml/2006/main" noGrp="1"/>
          </p:cNvSpPr>
          <p:nvPr/>
        </p:nvSpPr>
        <p:spPr>
          <a:xfrm xmlns:a="http://schemas.openxmlformats.org/drawingml/2006/main">
            <a:off x="2615184" y="4233672"/>
            <a:ext cx="1316736" cy="1316736"/>
          </a:xfrm>
          <a:prstGeom xmlns:a="http://schemas.openxmlformats.org/drawingml/2006/main" prst="ellipse">
            <a:avLst/>
          </a:prstGeom>
          <a:solidFill xmlns:a="http://schemas.openxmlformats.org/drawingml/2006/main">
            <a:srgbClr val="DCE8F7"/>
          </a:solidFill>
          <a:ln xmlns:a="http://schemas.openxmlformats.org/drawingml/2006/main" w="25400">
            <a:solidFill>
              <a:srgbClr val="14325C"/>
            </a:solidFill>
            <a:prstDash val="solid"/>
          </a:ln>
        </p:spPr>
      </p:sp>
      <p:sp>
        <p:nvSpPr>
          <p:cNvPr id="10" name="state label HALF-OPEN">
            <a:extLst xmlns:a="http://schemas.openxmlformats.org/drawingml/2006/main">
              <a:ext uri="{FF2B5EF4-FFF2-40B4-BE49-F238E27FC236}">
                <a16:creationId xmlns:a16="http://schemas.microsoft.com/office/drawing/2014/main" id="{B567AA00-D6B9-4F07-B62A-217F49D77AA6}"/>
              </a:ext>
            </a:extLst>
          </p:cNvPr>
          <p:cNvSpPr>
            <a:spLocks xmlns:a="http://schemas.openxmlformats.org/drawingml/2006/main" noGrp="1"/>
          </p:cNvSpPr>
          <p:nvPr/>
        </p:nvSpPr>
        <p:spPr>
          <a:xfrm xmlns:a="http://schemas.openxmlformats.org/drawingml/2006/main">
            <a:off x="2615184" y="4233672"/>
            <a:ext cx="1316736"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14325C"/>
                </a:solidFill>
              </a:rPr>
              <a:t>HALF-OPEN</a:t>
            </a:r>
            <a:endParaRPr sz="1400"/>
          </a:p>
        </p:txBody>
      </p:sp>
      <p:sp>
        <p:nvSpPr>
          <p:cNvPr id="11" name="closed to open">
            <a:extLst xmlns:a="http://schemas.openxmlformats.org/drawingml/2006/main">
              <a:ext uri="{FF2B5EF4-FFF2-40B4-BE49-F238E27FC236}">
                <a16:creationId xmlns:a16="http://schemas.microsoft.com/office/drawing/2014/main" id="{D8C7EAB3-D915-45BD-96A6-DD0DFAA285E4}"/>
              </a:ext>
            </a:extLst>
          </p:cNvPr>
          <p:cNvSpPr>
            <a:spLocks xmlns:a="http://schemas.openxmlformats.org/drawingml/2006/main" noGrp="1"/>
          </p:cNvSpPr>
          <p:nvPr/>
        </p:nvSpPr>
        <p:spPr>
          <a:xfrm xmlns:a="http://schemas.openxmlformats.org/drawingml/2006/main">
            <a:off x="2103120" y="2240280"/>
            <a:ext cx="2331720" cy="0"/>
          </a:xfrm>
          <a:prstGeom xmlns:a="http://schemas.openxmlformats.org/drawingml/2006/main" prst="line">
            <a:avLst/>
          </a:prstGeom>
          <a:noFill xmlns:a="http://schemas.openxmlformats.org/drawingml/2006/main"/>
          <a:ln xmlns:a="http://schemas.openxmlformats.org/drawingml/2006/main" w="25400">
            <a:solidFill>
              <a:srgbClr val="14325C"/>
            </a:solidFill>
            <a:prstDash val="solid"/>
            <a:tailEnd type="triangle"/>
          </a:ln>
        </p:spPr>
      </p:sp>
      <p:sp>
        <p:nvSpPr>
          <p:cNvPr id="12" name="label c-o">
            <a:extLst xmlns:a="http://schemas.openxmlformats.org/drawingml/2006/main">
              <a:ext uri="{FF2B5EF4-FFF2-40B4-BE49-F238E27FC236}">
                <a16:creationId xmlns:a16="http://schemas.microsoft.com/office/drawing/2014/main" id="{755B0EF2-8503-4F5D-A73F-DDF5BD78D667}"/>
              </a:ext>
            </a:extLst>
          </p:cNvPr>
          <p:cNvSpPr>
            <a:spLocks xmlns:a="http://schemas.openxmlformats.org/drawingml/2006/main" noGrp="1"/>
          </p:cNvSpPr>
          <p:nvPr/>
        </p:nvSpPr>
        <p:spPr>
          <a:xfrm xmlns:a="http://schemas.openxmlformats.org/drawingml/2006/main">
            <a:off x="2103120" y="1783080"/>
            <a:ext cx="2331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a:solidFill>
                  <a:srgbClr val="1F2937"/>
                </a:solidFill>
              </a:rPr>
              <a:t>3 consecutive availability errors</a:t>
            </a:r>
            <a:endParaRPr sz="1150"/>
          </a:p>
        </p:txBody>
      </p:sp>
      <p:sp>
        <p:nvSpPr>
          <p:cNvPr id="13" name="open to half-open">
            <a:extLst xmlns:a="http://schemas.openxmlformats.org/drawingml/2006/main">
              <a:ext uri="{FF2B5EF4-FFF2-40B4-BE49-F238E27FC236}">
                <a16:creationId xmlns:a16="http://schemas.microsoft.com/office/drawing/2014/main" id="{3F3D3BCF-0264-4FE1-918B-67D0D39DBAE9}"/>
              </a:ext>
            </a:extLst>
          </p:cNvPr>
          <p:cNvSpPr>
            <a:spLocks xmlns:a="http://schemas.openxmlformats.org/drawingml/2006/main" noGrp="1"/>
          </p:cNvSpPr>
          <p:nvPr/>
        </p:nvSpPr>
        <p:spPr>
          <a:xfrm xmlns:a="http://schemas.openxmlformats.org/drawingml/2006/main" flipH="1">
            <a:off x="3794760" y="2971800"/>
            <a:ext cx="914400" cy="1371600"/>
          </a:xfrm>
          <a:prstGeom xmlns:a="http://schemas.openxmlformats.org/drawingml/2006/main" prst="line">
            <a:avLst/>
          </a:prstGeom>
          <a:noFill xmlns:a="http://schemas.openxmlformats.org/drawingml/2006/main"/>
          <a:ln xmlns:a="http://schemas.openxmlformats.org/drawingml/2006/main" w="25400">
            <a:solidFill>
              <a:srgbClr val="14325C"/>
            </a:solidFill>
            <a:prstDash val="solid"/>
            <a:tailEnd type="triangle"/>
          </a:ln>
        </p:spPr>
      </p:sp>
      <p:sp>
        <p:nvSpPr>
          <p:cNvPr id="14" name="label o-h">
            <a:extLst xmlns:a="http://schemas.openxmlformats.org/drawingml/2006/main">
              <a:ext uri="{FF2B5EF4-FFF2-40B4-BE49-F238E27FC236}">
                <a16:creationId xmlns:a16="http://schemas.microsoft.com/office/drawing/2014/main" id="{E980AF02-8668-4FF8-8FE8-426DE98DE6A6}"/>
              </a:ext>
            </a:extLst>
          </p:cNvPr>
          <p:cNvSpPr>
            <a:spLocks xmlns:a="http://schemas.openxmlformats.org/drawingml/2006/main" noGrp="1"/>
          </p:cNvSpPr>
          <p:nvPr/>
        </p:nvSpPr>
        <p:spPr>
          <a:xfrm xmlns:a="http://schemas.openxmlformats.org/drawingml/2006/main">
            <a:off x="5303520" y="3154680"/>
            <a:ext cx="1371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1F2937"/>
                </a:solidFill>
              </a:rPr>
              <a:t>30 s cooldown,</a:t>
            </a:r>
            <a:endParaRPr sz="1150"/>
          </a:p>
          <a:p xmlns:a="http://schemas.openxmlformats.org/drawingml/2006/main">
            <a:pPr marL="0" indent="0">
              <a:buNone/>
            </a:pPr>
            <a:r>
              <a:rPr sz="1150">
                <a:solidFill>
                  <a:srgbClr val="1F2937"/>
                </a:solidFill>
              </a:rPr>
              <a:t>admit 1 probe</a:t>
            </a:r>
            <a:endParaRPr sz="1150"/>
          </a:p>
        </p:txBody>
      </p:sp>
      <p:sp>
        <p:nvSpPr>
          <p:cNvPr id="15" name="half-open to closed">
            <a:extLst xmlns:a="http://schemas.openxmlformats.org/drawingml/2006/main">
              <a:ext uri="{FF2B5EF4-FFF2-40B4-BE49-F238E27FC236}">
                <a16:creationId xmlns:a16="http://schemas.microsoft.com/office/drawing/2014/main" id="{96469856-7A2C-4BB7-93DA-7F7083F0886E}"/>
              </a:ext>
            </a:extLst>
          </p:cNvPr>
          <p:cNvSpPr>
            <a:spLocks xmlns:a="http://schemas.openxmlformats.org/drawingml/2006/main" noGrp="1"/>
          </p:cNvSpPr>
          <p:nvPr/>
        </p:nvSpPr>
        <p:spPr>
          <a:xfrm xmlns:a="http://schemas.openxmlformats.org/drawingml/2006/main" flipH="1" flipV="1">
            <a:off x="1874520" y="2971800"/>
            <a:ext cx="914400" cy="1371600"/>
          </a:xfrm>
          <a:prstGeom xmlns:a="http://schemas.openxmlformats.org/drawingml/2006/main" prst="line">
            <a:avLst/>
          </a:prstGeom>
          <a:noFill xmlns:a="http://schemas.openxmlformats.org/drawingml/2006/main"/>
          <a:ln xmlns:a="http://schemas.openxmlformats.org/drawingml/2006/main" w="25400">
            <a:solidFill>
              <a:srgbClr val="14325C"/>
            </a:solidFill>
            <a:prstDash val="solid"/>
            <a:tailEnd type="triangle"/>
          </a:ln>
        </p:spPr>
      </p:sp>
      <p:sp>
        <p:nvSpPr>
          <p:cNvPr id="16" name="label h-c">
            <a:extLst xmlns:a="http://schemas.openxmlformats.org/drawingml/2006/main">
              <a:ext uri="{FF2B5EF4-FFF2-40B4-BE49-F238E27FC236}">
                <a16:creationId xmlns:a16="http://schemas.microsoft.com/office/drawing/2014/main" id="{3A24AB5F-E54E-4F63-8B6C-7C6C8C160915}"/>
              </a:ext>
            </a:extLst>
          </p:cNvPr>
          <p:cNvSpPr>
            <a:spLocks xmlns:a="http://schemas.openxmlformats.org/drawingml/2006/main" noGrp="1"/>
          </p:cNvSpPr>
          <p:nvPr/>
        </p:nvSpPr>
        <p:spPr>
          <a:xfrm xmlns:a="http://schemas.openxmlformats.org/drawingml/2006/main">
            <a:off x="1188720" y="3520440"/>
            <a:ext cx="10058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50">
                <a:solidFill>
                  <a:srgbClr val="1F2937"/>
                </a:solidFill>
              </a:rPr>
              <a:t>probe</a:t>
            </a:r>
            <a:endParaRPr sz="1150"/>
          </a:p>
          <a:p xmlns:a="http://schemas.openxmlformats.org/drawingml/2006/main">
            <a:pPr marL="0" indent="0" algn="r">
              <a:buNone/>
            </a:pPr>
            <a:r>
              <a:rPr sz="1150">
                <a:solidFill>
                  <a:srgbClr val="1F2937"/>
                </a:solidFill>
              </a:rPr>
              <a:t>succeeds</a:t>
            </a:r>
            <a:endParaRPr sz="1150"/>
          </a:p>
        </p:txBody>
      </p:sp>
      <p:sp>
        <p:nvSpPr>
          <p:cNvPr id="17" name="half-open to open">
            <a:extLst xmlns:a="http://schemas.openxmlformats.org/drawingml/2006/main">
              <a:ext uri="{FF2B5EF4-FFF2-40B4-BE49-F238E27FC236}">
                <a16:creationId xmlns:a16="http://schemas.microsoft.com/office/drawing/2014/main" id="{48A6FC24-EEDD-42C2-8EA2-7A6AC98DAAC4}"/>
              </a:ext>
            </a:extLst>
          </p:cNvPr>
          <p:cNvSpPr>
            <a:spLocks xmlns:a="http://schemas.openxmlformats.org/drawingml/2006/main" noGrp="1"/>
          </p:cNvSpPr>
          <p:nvPr/>
        </p:nvSpPr>
        <p:spPr>
          <a:xfrm xmlns:a="http://schemas.openxmlformats.org/drawingml/2006/main" flipV="1">
            <a:off x="3931920" y="3063240"/>
            <a:ext cx="1143000" cy="1737360"/>
          </a:xfrm>
          <a:prstGeom xmlns:a="http://schemas.openxmlformats.org/drawingml/2006/main" prst="line">
            <a:avLst/>
          </a:prstGeom>
          <a:noFill xmlns:a="http://schemas.openxmlformats.org/drawingml/2006/main"/>
          <a:ln xmlns:a="http://schemas.openxmlformats.org/drawingml/2006/main" w="25400">
            <a:solidFill>
              <a:srgbClr val="14325C"/>
            </a:solidFill>
            <a:prstDash val="solid"/>
            <a:tailEnd type="triangle"/>
          </a:ln>
        </p:spPr>
      </p:sp>
      <p:sp>
        <p:nvSpPr>
          <p:cNvPr id="18" name="label h-o">
            <a:extLst xmlns:a="http://schemas.openxmlformats.org/drawingml/2006/main">
              <a:ext uri="{FF2B5EF4-FFF2-40B4-BE49-F238E27FC236}">
                <a16:creationId xmlns:a16="http://schemas.microsoft.com/office/drawing/2014/main" id="{ED74CCDA-639E-4FB2-831A-6A9374CDFFC6}"/>
              </a:ext>
            </a:extLst>
          </p:cNvPr>
          <p:cNvSpPr>
            <a:spLocks xmlns:a="http://schemas.openxmlformats.org/drawingml/2006/main" noGrp="1"/>
          </p:cNvSpPr>
          <p:nvPr/>
        </p:nvSpPr>
        <p:spPr>
          <a:xfrm xmlns:a="http://schemas.openxmlformats.org/drawingml/2006/main">
            <a:off x="4663440" y="4434840"/>
            <a:ext cx="1371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1F2937"/>
                </a:solidFill>
              </a:rPr>
              <a:t>probe fails or</a:t>
            </a:r>
            <a:endParaRPr sz="1150"/>
          </a:p>
          <a:p xmlns:a="http://schemas.openxmlformats.org/drawingml/2006/main">
            <a:pPr marL="0" indent="0">
              <a:buNone/>
            </a:pPr>
            <a:r>
              <a:rPr sz="1150">
                <a:solidFill>
                  <a:srgbClr val="1F2937"/>
                </a:solidFill>
              </a:rPr>
              <a:t>lease expires</a:t>
            </a:r>
            <a:endParaRPr sz="1150"/>
          </a:p>
        </p:txBody>
      </p:sp>
      <p:sp>
        <p:nvSpPr>
          <p:cNvPr id="19" name="course ref">
            <a:extLst xmlns:a="http://schemas.openxmlformats.org/drawingml/2006/main">
              <a:ext uri="{FF2B5EF4-FFF2-40B4-BE49-F238E27FC236}">
                <a16:creationId xmlns:a16="http://schemas.microsoft.com/office/drawing/2014/main" id="{AF6D6D8E-4CB2-488A-B702-490B7D2C1A68}"/>
              </a:ext>
            </a:extLst>
          </p:cNvPr>
          <p:cNvSpPr>
            <a:spLocks xmlns:a="http://schemas.openxmlformats.org/drawingml/2006/main" noGrp="1"/>
          </p:cNvSpPr>
          <p:nvPr/>
        </p:nvSpPr>
        <p:spPr>
          <a:xfrm xmlns:a="http://schemas.openxmlformats.org/drawingml/2006/main">
            <a:off x="457200" y="5806440"/>
            <a:ext cx="6035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5B6472"/>
                </a:solidFill>
              </a:rPr>
              <a:t>Follows the course model: “circuit breaker is a state machine” (PE 05)</a:t>
            </a:r>
            <a:endParaRPr sz="1100"/>
          </a:p>
        </p:txBody>
      </p:sp>
      <p:graphicFrame>
        <p:nvGraphicFramePr>
          <p:cNvPr id="26" name="breaker results">
            <a:extLst xmlns:a="http://schemas.openxmlformats.org/drawingml/2006/main">
              <a:ext uri="{FF2B5EF4-FFF2-40B4-BE49-F238E27FC236}">
                <a16:creationId xmlns:a16="http://schemas.microsoft.com/office/drawing/2014/main" id="{6F4B2748-43DA-4127-A7E1-047B4961929D}"/>
              </a:ext>
            </a:extLst>
          </p:cNvPr>
          <p:cNvGraphicFramePr/>
          <p:nvPr/>
        </p:nvGraphicFramePr>
        <p:xfrm>
          <a:off xmlns:a="http://schemas.openxmlformats.org/drawingml/2006/main" x="6720840" y="1280160"/>
          <a:ext xmlns:a="http://schemas.openxmlformats.org/drawingml/2006/main" cx="5010912" cy="914400"/>
        </p:xfrm>
        <a:graphic xmlns:a="http://schemas.openxmlformats.org/drawingml/2006/main">
          <a:graphicData uri="http://schemas.openxmlformats.org/drawingml/2006/table">
            <a:tbl>
              <a:tblPr/>
              <a:tblGrid>
                <a:gridCol w="2514600"/>
                <a:gridCol w="2496312"/>
              </a:tblGrid>
              <a:tr h="0">
                <a:tc>
                  <a:txBody>
                    <a:bodyPr/>
                    <a:lstStyle/>
                    <a:p>
                      <a:pPr marL="0" indent="0">
                        <a:buNone/>
                      </a:pPr>
                      <a:r>
                        <a:rPr sz="1400" b="1">
                          <a:solidFill>
                            <a:srgbClr val="FFFFFF"/>
                          </a:solidFill>
                          <a:latin typeface="Arial"/>
                          <a:ea typeface="Arial"/>
                          <a:cs typeface="Arial"/>
                        </a:rPr>
                        <a:t>Local fault fixture</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c>
                  <a:txBody>
                    <a:bodyPr/>
                    <a:lstStyle/>
                    <a:p>
                      <a:pPr marL="0" indent="0">
                        <a:buNone/>
                      </a:pPr>
                      <a:r>
                        <a:rPr sz="1400" b="1">
                          <a:solidFill>
                            <a:srgbClr val="FFFFFF"/>
                          </a:solidFill>
                          <a:latin typeface="Arial"/>
                          <a:ea typeface="Arial"/>
                          <a:cs typeface="Arial"/>
                        </a:rPr>
                        <a:t>Observed result</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r>
              <a:tr h="0">
                <a:tc>
                  <a:txBody>
                    <a:bodyPr/>
                    <a:lstStyle/>
                    <a:p>
                      <a:pPr marL="0" indent="0">
                        <a:buNone/>
                      </a:pPr>
                      <a:r>
                        <a:rPr sz="1300">
                          <a:solidFill>
                            <a:srgbClr val="1F2937"/>
                          </a:solidFill>
                          <a:latin typeface="Arial"/>
                          <a:ea typeface="Arial"/>
                          <a:cs typeface="Arial"/>
                        </a:rPr>
                        <a:t>3 consecutive HTTP 503 responses</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Circuit opens</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300">
                          <a:solidFill>
                            <a:srgbClr val="1F2937"/>
                          </a:solidFill>
                          <a:latin typeface="Arial"/>
                          <a:ea typeface="Arial"/>
                          <a:cs typeface="Arial"/>
                        </a:rPr>
                        <a:t>20 concurrent calls across 2 adapters</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300">
                          <a:solidFill>
                            <a:srgbClr val="1F2937"/>
                          </a:solidFill>
                          <a:latin typeface="Arial"/>
                          <a:ea typeface="Arial"/>
                          <a:cs typeface="Arial"/>
                        </a:rPr>
                        <a:t>20 rejected, 0 extra HTTP requests</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300">
                          <a:solidFill>
                            <a:srgbClr val="1F2937"/>
                          </a:solidFill>
                          <a:latin typeface="Arial"/>
                          <a:ea typeface="Arial"/>
                          <a:cs typeface="Arial"/>
                        </a:rPr>
                        <a:t>Cooldown ends, two adapters race</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Exactly 1 half-open probe</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300">
                          <a:solidFill>
                            <a:srgbClr val="1F2937"/>
                          </a:solidFill>
                          <a:latin typeface="Arial"/>
                          <a:ea typeface="Arial"/>
                          <a:cs typeface="Arial"/>
                        </a:rPr>
                        <a:t>Probe succeeds</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300">
                          <a:solidFill>
                            <a:srgbClr val="1F2937"/>
                          </a:solidFill>
                          <a:latin typeface="Arial"/>
                          <a:ea typeface="Arial"/>
                          <a:cs typeface="Arial"/>
                        </a:rPr>
                        <a:t>Circuit closes · 5 HTTP requests in total</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bl>
          </a:graphicData>
        </a:graphic>
      </p:graphicFrame>
      <p:sp>
        <p:nvSpPr>
          <p:cNvPr id="21" name="breaker limits card">
            <a:extLst xmlns:a="http://schemas.openxmlformats.org/drawingml/2006/main">
              <a:ext uri="{FF2B5EF4-FFF2-40B4-BE49-F238E27FC236}">
                <a16:creationId xmlns:a16="http://schemas.microsoft.com/office/drawing/2014/main" id="{037ED9F2-056A-4395-BEEB-2F2DDC0867CB}"/>
              </a:ext>
            </a:extLst>
          </p:cNvPr>
          <p:cNvSpPr>
            <a:spLocks xmlns:a="http://schemas.openxmlformats.org/drawingml/2006/main" noGrp="1"/>
          </p:cNvSpPr>
          <p:nvPr/>
        </p:nvSpPr>
        <p:spPr>
          <a:xfrm xmlns:a="http://schemas.openxmlformats.org/drawingml/2006/main">
            <a:off x="6720840" y="3794760"/>
            <a:ext cx="5010912" cy="2011680"/>
          </a:xfrm>
          <a:prstGeom xmlns:a="http://schemas.openxmlformats.org/drawingml/2006/main" prst="roundRect">
            <a:avLst>
              <a:gd name="adj" fmla="val 3636"/>
            </a:avLst>
          </a:prstGeom>
          <a:solidFill xmlns:a="http://schemas.openxmlformats.org/drawingml/2006/main">
            <a:srgbClr val="FFF3C4"/>
          </a:solidFill>
          <a:ln xmlns:a="http://schemas.openxmlformats.org/drawingml/2006/main" w="12700">
            <a:solidFill>
              <a:srgbClr val="FFF3C4"/>
            </a:solidFill>
            <a:prstDash val="solid"/>
          </a:ln>
        </p:spPr>
      </p:sp>
      <p:sp>
        <p:nvSpPr>
          <p:cNvPr id="22" name="breaker limits">
            <a:extLst xmlns:a="http://schemas.openxmlformats.org/drawingml/2006/main">
              <a:ext uri="{FF2B5EF4-FFF2-40B4-BE49-F238E27FC236}">
                <a16:creationId xmlns:a16="http://schemas.microsoft.com/office/drawing/2014/main" id="{91A184D2-EDB9-4D7E-9862-E29E9A9ECD00}"/>
              </a:ext>
            </a:extLst>
          </p:cNvPr>
          <p:cNvSpPr>
            <a:spLocks xmlns:a="http://schemas.openxmlformats.org/drawingml/2006/main" noGrp="1"/>
          </p:cNvSpPr>
          <p:nvPr/>
        </p:nvSpPr>
        <p:spPr>
          <a:xfrm xmlns:a="http://schemas.openxmlformats.org/drawingml/2006/main">
            <a:off x="6858000" y="3858768"/>
            <a:ext cx="4754880" cy="18836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4325C"/>
                </a:solidFill>
              </a:rPr>
              <a:t>Scope</a:t>
            </a:r>
            <a:endParaRPr sz="1250"/>
          </a:p>
          <a:p xmlns:a="http://schemas.openxmlformats.org/drawingml/2006/main">
            <a:pPr marL="342900" indent="-342900">
              <a:buSzPct val="100000"/>
              <a:buChar char="•"/>
            </a:pPr>
            <a:r>
              <a:rPr sz="1250">
                <a:solidFill>
                  <a:srgbClr val="000000"/>
                </a:solidFill>
              </a:rPr>
              <a:t>Shared state lives in the Support DB when SUPPORT_DATABASE_URL is set; otherwise one process only.</a:t>
            </a:r>
            <a:endParaRPr sz="1250"/>
          </a:p>
          <a:p xmlns:a="http://schemas.openxmlformats.org/drawingml/2006/main">
            <a:pPr marL="342900" indent="-342900">
              <a:buSzPct val="100000"/>
              <a:buChar char="•"/>
            </a:pPr>
            <a:r>
              <a:rPr sz="1250">
                <a:solidFill>
                  <a:srgbClr val="000000"/>
                </a:solidFill>
              </a:rPr>
              <a:t>Local HTTP fixture, no Groq call. Test cooldown 300 ms, not the 30 s default.</a:t>
            </a:r>
            <a:endParaRPr sz="1250"/>
          </a:p>
          <a:p xmlns:a="http://schemas.openxmlformats.org/drawingml/2006/main">
            <a:pPr marL="342900" indent="-342900">
              <a:buSzPct val="100000"/>
              <a:buChar char="•"/>
            </a:pPr>
            <a:r>
              <a:rPr sz="1250">
                <a:solidFill>
                  <a:srgbClr val="000000"/>
                </a:solidFill>
              </a:rPr>
              <a:t>Verified locally on 21 Oct; not deployed to GKE.</a:t>
            </a:r>
            <a:endParaRPr sz="1250"/>
          </a:p>
        </p:txBody>
      </p:sp>
      <p:sp>
        <p:nvSpPr>
          <p:cNvPr id="25" name="Slide Number Placeholder 0">
            <a:extLst xmlns:a="http://schemas.openxmlformats.org/drawingml/2006/main">
              <a:ext uri="{FF2B5EF4-FFF2-40B4-BE49-F238E27FC236}">
                <a16:creationId xmlns:a16="http://schemas.microsoft.com/office/drawing/2014/main" id="{4B2C32D2-A066-41FF-90CA-B2A9913E610C}"/>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18</a:t>
            </a:fld>
            <a:endParaRPr/>
          </a:p>
        </p:txBody>
      </p:sp>
    </p:spTree>
    <p:extLst>
      <p:ext uri="{BB962C8B-B14F-4D97-AF65-F5344CB8AC3E}">
        <p14:creationId xmlns:p14="http://schemas.microsoft.com/office/powerpoint/2010/main" val="45767280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0A2CD73-6D6A-42EE-ABAC-B0919FACCDC6}"/>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Observability: distributed tracing</a:t>
            </a:r>
            <a:endParaRPr sz="2800"/>
          </a:p>
        </p:txBody>
      </p:sp>
      <p:sp>
        <p:nvSpPr>
          <p:cNvPr id="3" name="section pill">
            <a:extLst xmlns:a="http://schemas.openxmlformats.org/drawingml/2006/main">
              <a:ext uri="{FF2B5EF4-FFF2-40B4-BE49-F238E27FC236}">
                <a16:creationId xmlns:a16="http://schemas.microsoft.com/office/drawing/2014/main" id="{0329FD53-9B08-4F2B-AA5D-00DCF84BD6AC}"/>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B5720D25-2EA2-4667-9514-9B6A428A49E0}"/>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6 · Demo</a:t>
            </a:r>
            <a:endParaRPr sz="1200"/>
          </a:p>
        </p:txBody>
      </p:sp>
      <p:sp>
        <p:nvSpPr>
          <p:cNvPr id="5" name="point card 0">
            <a:extLst xmlns:a="http://schemas.openxmlformats.org/drawingml/2006/main">
              <a:ext uri="{FF2B5EF4-FFF2-40B4-BE49-F238E27FC236}">
                <a16:creationId xmlns:a16="http://schemas.microsoft.com/office/drawing/2014/main" id="{3CF268D9-010A-4ADF-9C5D-2016D4005283}"/>
              </a:ext>
            </a:extLst>
          </p:cNvPr>
          <p:cNvSpPr>
            <a:spLocks xmlns:a="http://schemas.openxmlformats.org/drawingml/2006/main" noGrp="1"/>
          </p:cNvSpPr>
          <p:nvPr/>
        </p:nvSpPr>
        <p:spPr>
          <a:xfrm xmlns:a="http://schemas.openxmlformats.org/drawingml/2006/main">
            <a:off x="457200" y="1234440"/>
            <a:ext cx="2697480" cy="1005840"/>
          </a:xfrm>
          <a:prstGeom xmlns:a="http://schemas.openxmlformats.org/drawingml/2006/main" prst="roundRect">
            <a:avLst>
              <a:gd name="adj" fmla="val 7273"/>
            </a:avLst>
          </a:prstGeom>
          <a:solidFill xmlns:a="http://schemas.openxmlformats.org/drawingml/2006/main">
            <a:srgbClr val="DCE8F7"/>
          </a:solidFill>
          <a:ln xmlns:a="http://schemas.openxmlformats.org/drawingml/2006/main" w="12700">
            <a:solidFill>
              <a:srgbClr val="DCE8F7"/>
            </a:solidFill>
            <a:prstDash val="solid"/>
          </a:ln>
        </p:spPr>
      </p:sp>
      <p:sp>
        <p:nvSpPr>
          <p:cNvPr id="6" name="point 0">
            <a:extLst xmlns:a="http://schemas.openxmlformats.org/drawingml/2006/main">
              <a:ext uri="{FF2B5EF4-FFF2-40B4-BE49-F238E27FC236}">
                <a16:creationId xmlns:a16="http://schemas.microsoft.com/office/drawing/2014/main" id="{6F0DEFB1-8DF2-4389-9D9E-F275B6BBC4B4}"/>
              </a:ext>
            </a:extLst>
          </p:cNvPr>
          <p:cNvSpPr>
            <a:spLocks xmlns:a="http://schemas.openxmlformats.org/drawingml/2006/main" noGrp="1"/>
          </p:cNvSpPr>
          <p:nvPr/>
        </p:nvSpPr>
        <p:spPr>
          <a:xfrm xmlns:a="http://schemas.openxmlformats.org/drawingml/2006/main">
            <a:off x="566928" y="1280160"/>
            <a:ext cx="2478024"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4325C"/>
                </a:solidFill>
              </a:rPr>
              <a:t>5 services · 9 spans</a:t>
            </a:r>
            <a:endParaRPr sz="1400"/>
          </a:p>
          <a:p xmlns:a="http://schemas.openxmlformats.org/drawingml/2006/main">
            <a:pPr marL="0" indent="0">
              <a:buNone/>
            </a:pPr>
            <a:r>
              <a:rPr sz="1200">
                <a:solidFill>
                  <a:srgbClr val="1F2937"/>
                </a:solidFill>
              </a:rPr>
              <a:t>Gateway, Evaluation, Registry, Worker, Support</a:t>
            </a:r>
            <a:endParaRPr sz="1400"/>
          </a:p>
        </p:txBody>
      </p:sp>
      <p:sp>
        <p:nvSpPr>
          <p:cNvPr id="7" name="point card 1">
            <a:extLst xmlns:a="http://schemas.openxmlformats.org/drawingml/2006/main">
              <a:ext uri="{FF2B5EF4-FFF2-40B4-BE49-F238E27FC236}">
                <a16:creationId xmlns:a16="http://schemas.microsoft.com/office/drawing/2014/main" id="{D0C96857-716E-4E38-909E-587A0772D492}"/>
              </a:ext>
            </a:extLst>
          </p:cNvPr>
          <p:cNvSpPr>
            <a:spLocks xmlns:a="http://schemas.openxmlformats.org/drawingml/2006/main" noGrp="1"/>
          </p:cNvSpPr>
          <p:nvPr/>
        </p:nvSpPr>
        <p:spPr>
          <a:xfrm xmlns:a="http://schemas.openxmlformats.org/drawingml/2006/main">
            <a:off x="3319272" y="1234440"/>
            <a:ext cx="2697480" cy="1005840"/>
          </a:xfrm>
          <a:prstGeom xmlns:a="http://schemas.openxmlformats.org/drawingml/2006/main" prst="roundRect">
            <a:avLst>
              <a:gd name="adj" fmla="val 7273"/>
            </a:avLst>
          </a:prstGeom>
          <a:solidFill xmlns:a="http://schemas.openxmlformats.org/drawingml/2006/main">
            <a:srgbClr val="FFF3C4"/>
          </a:solidFill>
          <a:ln xmlns:a="http://schemas.openxmlformats.org/drawingml/2006/main" w="12700">
            <a:solidFill>
              <a:srgbClr val="FFF3C4"/>
            </a:solidFill>
            <a:prstDash val="solid"/>
          </a:ln>
        </p:spPr>
      </p:sp>
      <p:sp>
        <p:nvSpPr>
          <p:cNvPr id="8" name="point 1">
            <a:extLst xmlns:a="http://schemas.openxmlformats.org/drawingml/2006/main">
              <a:ext uri="{FF2B5EF4-FFF2-40B4-BE49-F238E27FC236}">
                <a16:creationId xmlns:a16="http://schemas.microsoft.com/office/drawing/2014/main" id="{A84B9DB0-32F0-400F-B367-E1570181DD5E}"/>
              </a:ext>
            </a:extLst>
          </p:cNvPr>
          <p:cNvSpPr>
            <a:spLocks xmlns:a="http://schemas.openxmlformats.org/drawingml/2006/main" noGrp="1"/>
          </p:cNvSpPr>
          <p:nvPr/>
        </p:nvSpPr>
        <p:spPr>
          <a:xfrm xmlns:a="http://schemas.openxmlformats.org/drawingml/2006/main">
            <a:off x="3429000" y="1280160"/>
            <a:ext cx="2478024"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4325C"/>
                </a:solidFill>
              </a:rPr>
              <a:t>Context survives the queue</a:t>
            </a:r>
            <a:endParaRPr sz="1400"/>
          </a:p>
          <a:p xmlns:a="http://schemas.openxmlformats.org/drawingml/2006/main">
            <a:pPr marL="0" indent="0">
              <a:buNone/>
            </a:pPr>
            <a:r>
              <a:rPr sz="1200">
                <a:solidFill>
                  <a:srgbClr val="1F2937"/>
                </a:solidFill>
              </a:rPr>
              <a:t>Saved with job and outbox, sent in RabbitMQ headers</a:t>
            </a:r>
            <a:endParaRPr sz="1400"/>
          </a:p>
        </p:txBody>
      </p:sp>
      <p:sp>
        <p:nvSpPr>
          <p:cNvPr id="9" name="point card 2">
            <a:extLst xmlns:a="http://schemas.openxmlformats.org/drawingml/2006/main">
              <a:ext uri="{FF2B5EF4-FFF2-40B4-BE49-F238E27FC236}">
                <a16:creationId xmlns:a16="http://schemas.microsoft.com/office/drawing/2014/main" id="{40B3334C-0BF1-4087-A8A1-D6AC3E5A9892}"/>
              </a:ext>
            </a:extLst>
          </p:cNvPr>
          <p:cNvSpPr>
            <a:spLocks xmlns:a="http://schemas.openxmlformats.org/drawingml/2006/main" noGrp="1"/>
          </p:cNvSpPr>
          <p:nvPr/>
        </p:nvSpPr>
        <p:spPr>
          <a:xfrm xmlns:a="http://schemas.openxmlformats.org/drawingml/2006/main">
            <a:off x="6181344" y="1234440"/>
            <a:ext cx="2697480" cy="1005840"/>
          </a:xfrm>
          <a:prstGeom xmlns:a="http://schemas.openxmlformats.org/drawingml/2006/main" prst="roundRect">
            <a:avLst>
              <a:gd name="adj" fmla="val 7273"/>
            </a:avLst>
          </a:prstGeom>
          <a:solidFill xmlns:a="http://schemas.openxmlformats.org/drawingml/2006/main">
            <a:srgbClr val="DCE8F7"/>
          </a:solidFill>
          <a:ln xmlns:a="http://schemas.openxmlformats.org/drawingml/2006/main" w="12700">
            <a:solidFill>
              <a:srgbClr val="DCE8F7"/>
            </a:solidFill>
            <a:prstDash val="solid"/>
          </a:ln>
        </p:spPr>
      </p:sp>
      <p:sp>
        <p:nvSpPr>
          <p:cNvPr id="10" name="point 2">
            <a:extLst xmlns:a="http://schemas.openxmlformats.org/drawingml/2006/main">
              <a:ext uri="{FF2B5EF4-FFF2-40B4-BE49-F238E27FC236}">
                <a16:creationId xmlns:a16="http://schemas.microsoft.com/office/drawing/2014/main" id="{687418B9-1962-4D50-8D4C-C7E69B0EB34B}"/>
              </a:ext>
            </a:extLst>
          </p:cNvPr>
          <p:cNvSpPr>
            <a:spLocks xmlns:a="http://schemas.openxmlformats.org/drawingml/2006/main" noGrp="1"/>
          </p:cNvSpPr>
          <p:nvPr/>
        </p:nvSpPr>
        <p:spPr>
          <a:xfrm xmlns:a="http://schemas.openxmlformats.org/drawingml/2006/main">
            <a:off x="6291072" y="1280160"/>
            <a:ext cx="2478024"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4325C"/>
                </a:solidFill>
              </a:rPr>
              <a:t>One end-to-end trace</a:t>
            </a:r>
            <a:endParaRPr sz="1400"/>
          </a:p>
          <a:p xmlns:a="http://schemas.openxmlformats.org/drawingml/2006/main">
            <a:pPr marL="0" indent="0">
              <a:buNone/>
            </a:pPr>
            <a:r>
              <a:rPr sz="1200">
                <a:solidFill>
                  <a:srgbClr val="1F2937"/>
                </a:solidFill>
              </a:rPr>
              <a:t>The async worker stays under the original request</a:t>
            </a:r>
            <a:endParaRPr sz="1400"/>
          </a:p>
        </p:txBody>
      </p:sp>
      <p:sp>
        <p:nvSpPr>
          <p:cNvPr id="11" name="point card 3">
            <a:extLst xmlns:a="http://schemas.openxmlformats.org/drawingml/2006/main">
              <a:ext uri="{FF2B5EF4-FFF2-40B4-BE49-F238E27FC236}">
                <a16:creationId xmlns:a16="http://schemas.microsoft.com/office/drawing/2014/main" id="{9631FBB8-FB6A-40FE-9D7F-352E63FF96A8}"/>
              </a:ext>
            </a:extLst>
          </p:cNvPr>
          <p:cNvSpPr>
            <a:spLocks xmlns:a="http://schemas.openxmlformats.org/drawingml/2006/main" noGrp="1"/>
          </p:cNvSpPr>
          <p:nvPr/>
        </p:nvSpPr>
        <p:spPr>
          <a:xfrm xmlns:a="http://schemas.openxmlformats.org/drawingml/2006/main">
            <a:off x="9043416" y="1234440"/>
            <a:ext cx="2697480" cy="1005840"/>
          </a:xfrm>
          <a:prstGeom xmlns:a="http://schemas.openxmlformats.org/drawingml/2006/main" prst="roundRect">
            <a:avLst>
              <a:gd name="adj" fmla="val 7273"/>
            </a:avLst>
          </a:prstGeom>
          <a:solidFill xmlns:a="http://schemas.openxmlformats.org/drawingml/2006/main">
            <a:srgbClr val="FFF3C4"/>
          </a:solidFill>
          <a:ln xmlns:a="http://schemas.openxmlformats.org/drawingml/2006/main" w="12700">
            <a:solidFill>
              <a:srgbClr val="FFF3C4"/>
            </a:solidFill>
            <a:prstDash val="solid"/>
          </a:ln>
        </p:spPr>
      </p:sp>
      <p:sp>
        <p:nvSpPr>
          <p:cNvPr id="12" name="point 3">
            <a:extLst xmlns:a="http://schemas.openxmlformats.org/drawingml/2006/main">
              <a:ext uri="{FF2B5EF4-FFF2-40B4-BE49-F238E27FC236}">
                <a16:creationId xmlns:a16="http://schemas.microsoft.com/office/drawing/2014/main" id="{9D6052ED-0778-4D1E-BA80-D254966E6592}"/>
              </a:ext>
            </a:extLst>
          </p:cNvPr>
          <p:cNvSpPr>
            <a:spLocks xmlns:a="http://schemas.openxmlformats.org/drawingml/2006/main" noGrp="1"/>
          </p:cNvSpPr>
          <p:nvPr/>
        </p:nvSpPr>
        <p:spPr>
          <a:xfrm xmlns:a="http://schemas.openxmlformats.org/drawingml/2006/main">
            <a:off x="9153144" y="1280160"/>
            <a:ext cx="2478024"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4325C"/>
                </a:solidFill>
              </a:rPr>
              <a:t>Job ID vs trace ID</a:t>
            </a:r>
            <a:endParaRPr sz="1400"/>
          </a:p>
          <a:p xmlns:a="http://schemas.openxmlformats.org/drawingml/2006/main">
            <a:pPr marL="0" indent="0">
              <a:buNone/>
            </a:pPr>
            <a:r>
              <a:rPr sz="1200">
                <a:solidFill>
                  <a:srgbClr val="1F2937"/>
                </a:solidFill>
              </a:rPr>
              <a:t>Business evidence vs one execution path</a:t>
            </a:r>
            <a:endParaRPr sz="1400"/>
          </a:p>
        </p:txBody>
      </p:sp>
      <p:pic>
        <p:nvPicPr>
          <p:cNvPr id="13" name="Jaeger trace screenshot">
            <a:extLst xmlns:a="http://schemas.openxmlformats.org/drawingml/2006/main">
              <a:ext uri="{FF2B5EF4-FFF2-40B4-BE49-F238E27FC236}">
                <a16:creationId xmlns:a16="http://schemas.microsoft.com/office/drawing/2014/main" id="{F83CA634-C9E8-4F20-AE63-2A035D513A63}"/>
              </a:ext>
            </a:extLst>
          </p:cNvPr>
          <p:cNvPicPr>
            <a:picLocks xmlns:a="http://schemas.openxmlformats.org/drawingml/2006/main" noChangeAspect="1"/>
          </p:cNvPicPr>
          <p:nvPr/>
        </p:nvPicPr>
        <p:blipFill>
          <a:blip xmlns:r="http://schemas.openxmlformats.org/officeDocument/2006/relationships" xmlns:a="http://schemas.openxmlformats.org/drawingml/2006/main" r:embed="Rd51327e3efc34ce2"/>
          <a:stretch xmlns:a="http://schemas.openxmlformats.org/drawingml/2006/main">
            <a:fillRect l="0" t="0" r="0" b="0"/>
          </a:stretch>
        </p:blipFill>
        <p:spPr>
          <a:xfrm xmlns:a="http://schemas.openxmlformats.org/drawingml/2006/main">
            <a:off x="457200" y="2468880"/>
            <a:ext cx="11274552" cy="3220294"/>
          </a:xfrm>
          <a:prstGeom xmlns:a="http://schemas.openxmlformats.org/drawingml/2006/main" prst="rect">
            <a:avLst/>
          </a:prstGeom>
        </p:spPr>
      </p:pic>
      <p:sp>
        <p:nvSpPr>
          <p:cNvPr id="14" name="Jaeger trace screenshot frame">
            <a:extLst xmlns:a="http://schemas.openxmlformats.org/drawingml/2006/main">
              <a:ext uri="{FF2B5EF4-FFF2-40B4-BE49-F238E27FC236}">
                <a16:creationId xmlns:a16="http://schemas.microsoft.com/office/drawing/2014/main" id="{0242DEE9-0BE0-4C28-86A9-3CB71D60E454}"/>
              </a:ext>
            </a:extLst>
          </p:cNvPr>
          <p:cNvSpPr>
            <a:spLocks xmlns:a="http://schemas.openxmlformats.org/drawingml/2006/main" noGrp="1"/>
          </p:cNvSpPr>
          <p:nvPr/>
        </p:nvSpPr>
        <p:spPr>
          <a:xfrm xmlns:a="http://schemas.openxmlformats.org/drawingml/2006/main">
            <a:off x="457200" y="2468880"/>
            <a:ext cx="11274552" cy="3220294"/>
          </a:xfrm>
          <a:prstGeom xmlns:a="http://schemas.openxmlformats.org/drawingml/2006/main" prst="rect">
            <a:avLst/>
          </a:prstGeom>
          <a:ln xmlns:a="http://schemas.openxmlformats.org/drawingml/2006/main" w="12700">
            <a:solidFill>
              <a:srgbClr val="C9D6E8"/>
            </a:solidFill>
            <a:prstDash val="solid"/>
          </a:ln>
        </p:spPr>
      </p:sp>
      <p:sp>
        <p:nvSpPr>
          <p:cNvPr id="15" name="caption">
            <a:extLst xmlns:a="http://schemas.openxmlformats.org/drawingml/2006/main">
              <a:ext uri="{FF2B5EF4-FFF2-40B4-BE49-F238E27FC236}">
                <a16:creationId xmlns:a16="http://schemas.microsoft.com/office/drawing/2014/main" id="{E3EA0BD4-1FD7-422D-8FC4-4FF0FBF12F6E}"/>
              </a:ext>
            </a:extLst>
          </p:cNvPr>
          <p:cNvSpPr>
            <a:spLocks xmlns:a="http://schemas.openxmlformats.org/drawingml/2006/main" noGrp="1"/>
          </p:cNvSpPr>
          <p:nvPr/>
        </p:nvSpPr>
        <p:spPr>
          <a:xfrm xmlns:a="http://schemas.openxmlformats.org/drawingml/2006/main">
            <a:off x="457200" y="5897880"/>
            <a:ext cx="1127455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B6472"/>
                </a:solidFill>
              </a:rPr>
              <a:t>Actual local Jaeger timeline, 21 Oct · replay, zero model calls · not deployed to GKE</a:t>
            </a:r>
            <a:endParaRPr sz="1200"/>
          </a:p>
        </p:txBody>
      </p:sp>
      <p:sp>
        <p:nvSpPr>
          <p:cNvPr id="25" name="Slide Number Placeholder 0">
            <a:extLst xmlns:a="http://schemas.openxmlformats.org/drawingml/2006/main">
              <a:ext uri="{FF2B5EF4-FFF2-40B4-BE49-F238E27FC236}">
                <a16:creationId xmlns:a16="http://schemas.microsoft.com/office/drawing/2014/main" id="{4820EB57-528B-4B87-9C0F-CF542473BCE7}"/>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19</a:t>
            </a:fld>
            <a:endParaRPr/>
          </a:p>
        </p:txBody>
      </p:sp>
    </p:spTree>
    <p:extLst>
      <p:ext uri="{BB962C8B-B14F-4D97-AF65-F5344CB8AC3E}">
        <p14:creationId xmlns:p14="http://schemas.microsoft.com/office/powerpoint/2010/main" val="174689538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65B103D-5241-43AB-B16D-0B65C1D9530C}"/>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Observability: structured log aggregation</a:t>
            </a:r>
            <a:endParaRPr sz="2800"/>
          </a:p>
        </p:txBody>
      </p:sp>
      <p:sp>
        <p:nvSpPr>
          <p:cNvPr id="3" name="section pill">
            <a:extLst xmlns:a="http://schemas.openxmlformats.org/drawingml/2006/main">
              <a:ext uri="{FF2B5EF4-FFF2-40B4-BE49-F238E27FC236}">
                <a16:creationId xmlns:a16="http://schemas.microsoft.com/office/drawing/2014/main" id="{1F0C8508-F4F2-4EC2-9436-483533A38AC1}"/>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C4A6D302-5702-4D97-9875-B16E0A44640B}"/>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6 · Demo</a:t>
            </a:r>
            <a:endParaRPr sz="1200"/>
          </a:p>
        </p:txBody>
      </p:sp>
      <p:sp>
        <p:nvSpPr>
          <p:cNvPr id="5" name="point card 0">
            <a:extLst xmlns:a="http://schemas.openxmlformats.org/drawingml/2006/main">
              <a:ext uri="{FF2B5EF4-FFF2-40B4-BE49-F238E27FC236}">
                <a16:creationId xmlns:a16="http://schemas.microsoft.com/office/drawing/2014/main" id="{6910BBAD-5A2D-41F1-AA3F-2BD89D3D4BB6}"/>
              </a:ext>
            </a:extLst>
          </p:cNvPr>
          <p:cNvSpPr>
            <a:spLocks xmlns:a="http://schemas.openxmlformats.org/drawingml/2006/main" noGrp="1"/>
          </p:cNvSpPr>
          <p:nvPr/>
        </p:nvSpPr>
        <p:spPr>
          <a:xfrm xmlns:a="http://schemas.openxmlformats.org/drawingml/2006/main">
            <a:off x="457200" y="1234440"/>
            <a:ext cx="2697480" cy="1005840"/>
          </a:xfrm>
          <a:prstGeom xmlns:a="http://schemas.openxmlformats.org/drawingml/2006/main" prst="roundRect">
            <a:avLst>
              <a:gd name="adj" fmla="val 7273"/>
            </a:avLst>
          </a:prstGeom>
          <a:solidFill xmlns:a="http://schemas.openxmlformats.org/drawingml/2006/main">
            <a:srgbClr val="DCE8F7"/>
          </a:solidFill>
          <a:ln xmlns:a="http://schemas.openxmlformats.org/drawingml/2006/main" w="12700">
            <a:solidFill>
              <a:srgbClr val="DCE8F7"/>
            </a:solidFill>
            <a:prstDash val="solid"/>
          </a:ln>
        </p:spPr>
      </p:sp>
      <p:sp>
        <p:nvSpPr>
          <p:cNvPr id="6" name="point 0">
            <a:extLst xmlns:a="http://schemas.openxmlformats.org/drawingml/2006/main">
              <a:ext uri="{FF2B5EF4-FFF2-40B4-BE49-F238E27FC236}">
                <a16:creationId xmlns:a16="http://schemas.microsoft.com/office/drawing/2014/main" id="{F5E7D041-9AC0-464D-BF02-FE6C84DFDE25}"/>
              </a:ext>
            </a:extLst>
          </p:cNvPr>
          <p:cNvSpPr>
            <a:spLocks xmlns:a="http://schemas.openxmlformats.org/drawingml/2006/main" noGrp="1"/>
          </p:cNvSpPr>
          <p:nvPr/>
        </p:nvSpPr>
        <p:spPr>
          <a:xfrm xmlns:a="http://schemas.openxmlformats.org/drawingml/2006/main">
            <a:off x="566928" y="1280160"/>
            <a:ext cx="2478024"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4325C"/>
                </a:solidFill>
              </a:rPr>
              <a:t>Structured JSON logs</a:t>
            </a:r>
            <a:endParaRPr sz="1400"/>
          </a:p>
          <a:p xmlns:a="http://schemas.openxmlformats.org/drawingml/2006/main">
            <a:pPr marL="0" indent="0">
              <a:buNone/>
            </a:pPr>
            <a:r>
              <a:rPr sz="1200">
                <a:solidFill>
                  <a:srgbClr val="1F2937"/>
                </a:solidFill>
              </a:rPr>
              <a:t>service · event · traceId · spanId</a:t>
            </a:r>
            <a:endParaRPr sz="1400"/>
          </a:p>
        </p:txBody>
      </p:sp>
      <p:sp>
        <p:nvSpPr>
          <p:cNvPr id="7" name="point card 1">
            <a:extLst xmlns:a="http://schemas.openxmlformats.org/drawingml/2006/main">
              <a:ext uri="{FF2B5EF4-FFF2-40B4-BE49-F238E27FC236}">
                <a16:creationId xmlns:a16="http://schemas.microsoft.com/office/drawing/2014/main" id="{0E68ECF7-9590-4D08-AB68-43347F82DD1A}"/>
              </a:ext>
            </a:extLst>
          </p:cNvPr>
          <p:cNvSpPr>
            <a:spLocks xmlns:a="http://schemas.openxmlformats.org/drawingml/2006/main" noGrp="1"/>
          </p:cNvSpPr>
          <p:nvPr/>
        </p:nvSpPr>
        <p:spPr>
          <a:xfrm xmlns:a="http://schemas.openxmlformats.org/drawingml/2006/main">
            <a:off x="3319272" y="1234440"/>
            <a:ext cx="2697480" cy="1005840"/>
          </a:xfrm>
          <a:prstGeom xmlns:a="http://schemas.openxmlformats.org/drawingml/2006/main" prst="roundRect">
            <a:avLst>
              <a:gd name="adj" fmla="val 7273"/>
            </a:avLst>
          </a:prstGeom>
          <a:solidFill xmlns:a="http://schemas.openxmlformats.org/drawingml/2006/main">
            <a:srgbClr val="FFF3C4"/>
          </a:solidFill>
          <a:ln xmlns:a="http://schemas.openxmlformats.org/drawingml/2006/main" w="12700">
            <a:solidFill>
              <a:srgbClr val="FFF3C4"/>
            </a:solidFill>
            <a:prstDash val="solid"/>
          </a:ln>
        </p:spPr>
      </p:sp>
      <p:sp>
        <p:nvSpPr>
          <p:cNvPr id="8" name="point 1">
            <a:extLst xmlns:a="http://schemas.openxmlformats.org/drawingml/2006/main">
              <a:ext uri="{FF2B5EF4-FFF2-40B4-BE49-F238E27FC236}">
                <a16:creationId xmlns:a16="http://schemas.microsoft.com/office/drawing/2014/main" id="{ADF51D53-2D46-497A-B183-31D47D06A135}"/>
              </a:ext>
            </a:extLst>
          </p:cNvPr>
          <p:cNvSpPr>
            <a:spLocks xmlns:a="http://schemas.openxmlformats.org/drawingml/2006/main" noGrp="1"/>
          </p:cNvSpPr>
          <p:nvPr/>
        </p:nvSpPr>
        <p:spPr>
          <a:xfrm xmlns:a="http://schemas.openxmlformats.org/drawingml/2006/main">
            <a:off x="3429000" y="1280160"/>
            <a:ext cx="2478024"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4325C"/>
                </a:solidFill>
              </a:rPr>
              <a:t>Alloy → Loki → Grafana</a:t>
            </a:r>
            <a:endParaRPr sz="1400"/>
          </a:p>
          <a:p xmlns:a="http://schemas.openxmlformats.org/drawingml/2006/main">
            <a:pPr marL="0" indent="0">
              <a:buNone/>
            </a:pPr>
            <a:r>
              <a:rPr sz="1200">
                <a:solidFill>
                  <a:srgbClr val="1F2937"/>
                </a:solidFill>
              </a:rPr>
              <a:t>Reads the isolated lab directory only</a:t>
            </a:r>
            <a:endParaRPr sz="1400"/>
          </a:p>
        </p:txBody>
      </p:sp>
      <p:sp>
        <p:nvSpPr>
          <p:cNvPr id="9" name="point card 2">
            <a:extLst xmlns:a="http://schemas.openxmlformats.org/drawingml/2006/main">
              <a:ext uri="{FF2B5EF4-FFF2-40B4-BE49-F238E27FC236}">
                <a16:creationId xmlns:a16="http://schemas.microsoft.com/office/drawing/2014/main" id="{F32FFFF6-6BD7-4E4B-A96C-FC3463182897}"/>
              </a:ext>
            </a:extLst>
          </p:cNvPr>
          <p:cNvSpPr>
            <a:spLocks xmlns:a="http://schemas.openxmlformats.org/drawingml/2006/main" noGrp="1"/>
          </p:cNvSpPr>
          <p:nvPr/>
        </p:nvSpPr>
        <p:spPr>
          <a:xfrm xmlns:a="http://schemas.openxmlformats.org/drawingml/2006/main">
            <a:off x="6181344" y="1234440"/>
            <a:ext cx="2697480" cy="1005840"/>
          </a:xfrm>
          <a:prstGeom xmlns:a="http://schemas.openxmlformats.org/drawingml/2006/main" prst="roundRect">
            <a:avLst>
              <a:gd name="adj" fmla="val 7273"/>
            </a:avLst>
          </a:prstGeom>
          <a:solidFill xmlns:a="http://schemas.openxmlformats.org/drawingml/2006/main">
            <a:srgbClr val="DCE8F7"/>
          </a:solidFill>
          <a:ln xmlns:a="http://schemas.openxmlformats.org/drawingml/2006/main" w="12700">
            <a:solidFill>
              <a:srgbClr val="DCE8F7"/>
            </a:solidFill>
            <a:prstDash val="solid"/>
          </a:ln>
        </p:spPr>
      </p:sp>
      <p:sp>
        <p:nvSpPr>
          <p:cNvPr id="10" name="point 2">
            <a:extLst xmlns:a="http://schemas.openxmlformats.org/drawingml/2006/main">
              <a:ext uri="{FF2B5EF4-FFF2-40B4-BE49-F238E27FC236}">
                <a16:creationId xmlns:a16="http://schemas.microsoft.com/office/drawing/2014/main" id="{95A71314-D5A9-4015-9494-0E250CFF42DE}"/>
              </a:ext>
            </a:extLst>
          </p:cNvPr>
          <p:cNvSpPr>
            <a:spLocks xmlns:a="http://schemas.openxmlformats.org/drawingml/2006/main" noGrp="1"/>
          </p:cNvSpPr>
          <p:nvPr/>
        </p:nvSpPr>
        <p:spPr>
          <a:xfrm xmlns:a="http://schemas.openxmlformats.org/drawingml/2006/main">
            <a:off x="6291072" y="1280160"/>
            <a:ext cx="2478024"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4325C"/>
                </a:solidFill>
              </a:rPr>
              <a:t>Query by trace ID</a:t>
            </a:r>
            <a:endParaRPr sz="1400"/>
          </a:p>
          <a:p xmlns:a="http://schemas.openxmlformats.org/drawingml/2006/main">
            <a:pPr marL="0" indent="0">
              <a:buNone/>
            </a:pPr>
            <a:r>
              <a:rPr sz="1200">
                <a:solidFill>
                  <a:srgbClr val="1F2937"/>
                </a:solidFill>
              </a:rPr>
              <a:t>Returned logs from all five services</a:t>
            </a:r>
            <a:endParaRPr sz="1400"/>
          </a:p>
        </p:txBody>
      </p:sp>
      <p:sp>
        <p:nvSpPr>
          <p:cNvPr id="11" name="point card 3">
            <a:extLst xmlns:a="http://schemas.openxmlformats.org/drawingml/2006/main">
              <a:ext uri="{FF2B5EF4-FFF2-40B4-BE49-F238E27FC236}">
                <a16:creationId xmlns:a16="http://schemas.microsoft.com/office/drawing/2014/main" id="{DAF1A08A-0D8C-4D88-ACBF-5157AEBE4485}"/>
              </a:ext>
            </a:extLst>
          </p:cNvPr>
          <p:cNvSpPr>
            <a:spLocks xmlns:a="http://schemas.openxmlformats.org/drawingml/2006/main" noGrp="1"/>
          </p:cNvSpPr>
          <p:nvPr/>
        </p:nvSpPr>
        <p:spPr>
          <a:xfrm xmlns:a="http://schemas.openxmlformats.org/drawingml/2006/main">
            <a:off x="9043416" y="1234440"/>
            <a:ext cx="2697480" cy="1005840"/>
          </a:xfrm>
          <a:prstGeom xmlns:a="http://schemas.openxmlformats.org/drawingml/2006/main" prst="roundRect">
            <a:avLst>
              <a:gd name="adj" fmla="val 7273"/>
            </a:avLst>
          </a:prstGeom>
          <a:solidFill xmlns:a="http://schemas.openxmlformats.org/drawingml/2006/main">
            <a:srgbClr val="FFF3C4"/>
          </a:solidFill>
          <a:ln xmlns:a="http://schemas.openxmlformats.org/drawingml/2006/main" w="12700">
            <a:solidFill>
              <a:srgbClr val="FFF3C4"/>
            </a:solidFill>
            <a:prstDash val="solid"/>
          </a:ln>
        </p:spPr>
      </p:sp>
      <p:sp>
        <p:nvSpPr>
          <p:cNvPr id="12" name="point 3">
            <a:extLst xmlns:a="http://schemas.openxmlformats.org/drawingml/2006/main">
              <a:ext uri="{FF2B5EF4-FFF2-40B4-BE49-F238E27FC236}">
                <a16:creationId xmlns:a16="http://schemas.microsoft.com/office/drawing/2014/main" id="{1594CFB4-2260-4A8A-B2F9-C0F5590CBE18}"/>
              </a:ext>
            </a:extLst>
          </p:cNvPr>
          <p:cNvSpPr>
            <a:spLocks xmlns:a="http://schemas.openxmlformats.org/drawingml/2006/main" noGrp="1"/>
          </p:cNvSpPr>
          <p:nvPr/>
        </p:nvSpPr>
        <p:spPr>
          <a:xfrm xmlns:a="http://schemas.openxmlformats.org/drawingml/2006/main">
            <a:off x="9153144" y="1280160"/>
            <a:ext cx="2478024"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14325C"/>
                </a:solidFill>
              </a:rPr>
              <a:t>Secrets kept out</a:t>
            </a:r>
            <a:endParaRPr sz="1400"/>
          </a:p>
          <a:p xmlns:a="http://schemas.openxmlformats.org/drawingml/2006/main">
            <a:pPr marL="0" indent="0">
              <a:buNone/>
            </a:pPr>
            <a:r>
              <a:rPr sz="1200">
                <a:solidFill>
                  <a:srgbClr val="1F2937"/>
                </a:solidFill>
              </a:rPr>
              <a:t>Auth, cookie, query canaries absent from 6 logs</a:t>
            </a:r>
            <a:endParaRPr sz="1400"/>
          </a:p>
        </p:txBody>
      </p:sp>
      <p:pic>
        <p:nvPicPr>
          <p:cNvPr id="13" name="Grafana logs screenshot">
            <a:extLst xmlns:a="http://schemas.openxmlformats.org/drawingml/2006/main">
              <a:ext uri="{FF2B5EF4-FFF2-40B4-BE49-F238E27FC236}">
                <a16:creationId xmlns:a16="http://schemas.microsoft.com/office/drawing/2014/main" id="{77ECB93D-9862-4984-86F8-7F21C6118C49}"/>
              </a:ext>
            </a:extLst>
          </p:cNvPr>
          <p:cNvPicPr>
            <a:picLocks xmlns:a="http://schemas.openxmlformats.org/drawingml/2006/main" noChangeAspect="1"/>
          </p:cNvPicPr>
          <p:nvPr/>
        </p:nvPicPr>
        <p:blipFill>
          <a:blip xmlns:r="http://schemas.openxmlformats.org/officeDocument/2006/relationships" xmlns:a="http://schemas.openxmlformats.org/drawingml/2006/main" r:embed="Ra6085b120d354d95"/>
          <a:stretch xmlns:a="http://schemas.openxmlformats.org/drawingml/2006/main">
            <a:fillRect l="0" t="0" r="0" b="0"/>
          </a:stretch>
        </p:blipFill>
        <p:spPr>
          <a:xfrm xmlns:a="http://schemas.openxmlformats.org/drawingml/2006/main">
            <a:off x="1464196" y="2468880"/>
            <a:ext cx="9260561" cy="3291840"/>
          </a:xfrm>
          <a:prstGeom xmlns:a="http://schemas.openxmlformats.org/drawingml/2006/main" prst="rect">
            <a:avLst/>
          </a:prstGeom>
        </p:spPr>
      </p:pic>
      <p:sp>
        <p:nvSpPr>
          <p:cNvPr id="14" name="Grafana logs screenshot frame">
            <a:extLst xmlns:a="http://schemas.openxmlformats.org/drawingml/2006/main">
              <a:ext uri="{FF2B5EF4-FFF2-40B4-BE49-F238E27FC236}">
                <a16:creationId xmlns:a16="http://schemas.microsoft.com/office/drawing/2014/main" id="{F5708C40-6FAA-4475-A7E2-AD38122CFCEE}"/>
              </a:ext>
            </a:extLst>
          </p:cNvPr>
          <p:cNvSpPr>
            <a:spLocks xmlns:a="http://schemas.openxmlformats.org/drawingml/2006/main" noGrp="1"/>
          </p:cNvSpPr>
          <p:nvPr/>
        </p:nvSpPr>
        <p:spPr>
          <a:xfrm xmlns:a="http://schemas.openxmlformats.org/drawingml/2006/main">
            <a:off x="1464196" y="2468880"/>
            <a:ext cx="9260561" cy="3291840"/>
          </a:xfrm>
          <a:prstGeom xmlns:a="http://schemas.openxmlformats.org/drawingml/2006/main" prst="rect">
            <a:avLst/>
          </a:prstGeom>
          <a:ln xmlns:a="http://schemas.openxmlformats.org/drawingml/2006/main" w="12700">
            <a:solidFill>
              <a:srgbClr val="C9D6E8"/>
            </a:solidFill>
            <a:prstDash val="solid"/>
          </a:ln>
        </p:spPr>
      </p:sp>
      <p:sp>
        <p:nvSpPr>
          <p:cNvPr id="15" name="caption">
            <a:extLst xmlns:a="http://schemas.openxmlformats.org/drawingml/2006/main">
              <a:ext uri="{FF2B5EF4-FFF2-40B4-BE49-F238E27FC236}">
                <a16:creationId xmlns:a16="http://schemas.microsoft.com/office/drawing/2014/main" id="{C9D9DFEC-BA91-41B2-B620-8CEE48C5D5B1}"/>
              </a:ext>
            </a:extLst>
          </p:cNvPr>
          <p:cNvSpPr>
            <a:spLocks xmlns:a="http://schemas.openxmlformats.org/drawingml/2006/main" noGrp="1"/>
          </p:cNvSpPr>
          <p:nvPr/>
        </p:nvSpPr>
        <p:spPr>
          <a:xfrm xmlns:a="http://schemas.openxmlformats.org/drawingml/2006/main">
            <a:off x="457200" y="5897880"/>
            <a:ext cx="1127455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8A6300"/>
                </a:solidFill>
              </a:rPr>
              <a:t>Actual local Grafana view, 21 Oct · local lab only · no alert notifications or production retention yet</a:t>
            </a:r>
            <a:endParaRPr sz="1200"/>
          </a:p>
        </p:txBody>
      </p:sp>
      <p:sp>
        <p:nvSpPr>
          <p:cNvPr id="25" name="Slide Number Placeholder 0">
            <a:extLst xmlns:a="http://schemas.openxmlformats.org/drawingml/2006/main">
              <a:ext uri="{FF2B5EF4-FFF2-40B4-BE49-F238E27FC236}">
                <a16:creationId xmlns:a16="http://schemas.microsoft.com/office/drawing/2014/main" id="{6B467A6C-FB7D-4708-B84E-2B4D1D0C9999}"/>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20</a:t>
            </a:fld>
            <a:endParaRPr/>
          </a:p>
        </p:txBody>
      </p:sp>
    </p:spTree>
    <p:extLst>
      <p:ext uri="{BB962C8B-B14F-4D97-AF65-F5344CB8AC3E}">
        <p14:creationId xmlns:p14="http://schemas.microsoft.com/office/powerpoint/2010/main" val="641853609"/>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B62B834-D1DC-4940-87CA-542726628DBE}"/>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Scalability: autoscaling and throughput</a:t>
            </a:r>
            <a:endParaRPr sz="2800"/>
          </a:p>
        </p:txBody>
      </p:sp>
      <p:sp>
        <p:nvSpPr>
          <p:cNvPr id="3" name="section pill">
            <a:extLst xmlns:a="http://schemas.openxmlformats.org/drawingml/2006/main">
              <a:ext uri="{FF2B5EF4-FFF2-40B4-BE49-F238E27FC236}">
                <a16:creationId xmlns:a16="http://schemas.microsoft.com/office/drawing/2014/main" id="{CE4DF453-33ED-4564-8970-A84E19E135BF}"/>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F65BEFE6-51C8-488E-B803-A39CD7C9EC44}"/>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6 · Demo</a:t>
            </a:r>
            <a:endParaRPr sz="1200"/>
          </a:p>
        </p:txBody>
      </p:sp>
      <p:pic>
        <p:nvPicPr>
          <p:cNvPr id="5" name="scaling charts and scenario">
            <a:extLst xmlns:a="http://schemas.openxmlformats.org/drawingml/2006/main">
              <a:ext uri="{FF2B5EF4-FFF2-40B4-BE49-F238E27FC236}">
                <a16:creationId xmlns:a16="http://schemas.microsoft.com/office/drawing/2014/main" id="{467831DE-64F3-4493-AD37-B12F8864A803}"/>
              </a:ext>
            </a:extLst>
          </p:cNvPr>
          <p:cNvPicPr>
            <a:picLocks xmlns:a="http://schemas.openxmlformats.org/drawingml/2006/main" noChangeAspect="1"/>
          </p:cNvPicPr>
          <p:nvPr/>
        </p:nvPicPr>
        <p:blipFill>
          <a:blip xmlns:r="http://schemas.openxmlformats.org/officeDocument/2006/relationships" xmlns:a="http://schemas.openxmlformats.org/drawingml/2006/main" r:embed="Rca55b74204cd4c03"/>
          <a:stretch xmlns:a="http://schemas.openxmlformats.org/drawingml/2006/main">
            <a:fillRect l="0" t="0" r="0" b="0"/>
          </a:stretch>
        </p:blipFill>
        <p:spPr>
          <a:xfrm xmlns:a="http://schemas.openxmlformats.org/drawingml/2006/main">
            <a:off x="889625" y="1097280"/>
            <a:ext cx="10409702" cy="5212080"/>
          </a:xfrm>
          <a:prstGeom xmlns:a="http://schemas.openxmlformats.org/drawingml/2006/main" prst="rect">
            <a:avLst/>
          </a:prstGeom>
        </p:spPr>
      </p:pic>
      <p:sp>
        <p:nvSpPr>
          <p:cNvPr id="25" name="Slide Number Placeholder 0">
            <a:extLst xmlns:a="http://schemas.openxmlformats.org/drawingml/2006/main">
              <a:ext uri="{FF2B5EF4-FFF2-40B4-BE49-F238E27FC236}">
                <a16:creationId xmlns:a16="http://schemas.microsoft.com/office/drawing/2014/main" id="{330C66EF-D6D7-47FC-B2E1-0E45D33579FF}"/>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21</a:t>
            </a:fld>
            <a:endParaRPr/>
          </a:p>
        </p:txBody>
      </p:sp>
      <p:sp>
        <p:nvSpPr>
          <p:cNvPr id="26" name="historical-run-label">
            <a:extLst xmlns:a="http://schemas.openxmlformats.org/drawingml/2006/main">
              <a:ext uri="{FF2B5EF4-FFF2-40B4-BE49-F238E27FC236}">
                <a16:creationId xmlns:a16="http://schemas.microsoft.com/office/drawing/2014/main" id="{6B5BB2BD-EDA5-4541-9CBC-64A2949A9A0B}"/>
              </a:ext>
            </a:extLst>
          </p:cNvPr>
          <p:cNvSpPr>
            <a:spLocks xmlns:a="http://schemas.openxmlformats.org/drawingml/2006/main" noGrp="1"/>
          </p:cNvSpPr>
          <p:nvPr/>
        </p:nvSpPr>
        <p:spPr>
          <a:xfrm xmlns:a="http://schemas.openxmlformats.org/drawingml/2006/main">
            <a:off x="1181100" y="10668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95959"/>
                </a:solidFill>
              </a:defRPr>
            </a:defPPr>
            <a:lvl1pPr>
              <a:defRPr sz="1125" b="0">
                <a:solidFill>
                  <a:srgbClr val="595959"/>
                </a:solidFill>
              </a:defRPr>
            </a:lvl1pPr>
            <a:lvl2pPr>
              <a:defRPr sz="1125" b="0">
                <a:solidFill>
                  <a:srgbClr val="595959"/>
                </a:solidFill>
              </a:defRPr>
            </a:lvl2pPr>
            <a:lvl3pPr>
              <a:defRPr sz="1125" b="0">
                <a:solidFill>
                  <a:srgbClr val="595959"/>
                </a:solidFill>
              </a:defRPr>
            </a:lvl3pPr>
            <a:lvl4pPr>
              <a:defRPr sz="1125" b="0">
                <a:solidFill>
                  <a:srgbClr val="595959"/>
                </a:solidFill>
              </a:defRPr>
            </a:lvl4pPr>
            <a:lvl5pPr>
              <a:defRPr sz="1125" b="0">
                <a:solidFill>
                  <a:srgbClr val="595959"/>
                </a:solidFill>
              </a:defRPr>
            </a:lvl5pPr>
            <a:lvl6pPr>
              <a:defRPr sz="1125" b="0">
                <a:solidFill>
                  <a:srgbClr val="595959"/>
                </a:solidFill>
              </a:defRPr>
            </a:lvl6pPr>
            <a:lvl7pPr>
              <a:defRPr sz="1125" b="0">
                <a:solidFill>
                  <a:srgbClr val="595959"/>
                </a:solidFill>
              </a:defRPr>
            </a:lvl7pPr>
            <a:lvl8pPr>
              <a:defRPr sz="1125" b="0">
                <a:solidFill>
                  <a:srgbClr val="595959"/>
                </a:solidFill>
              </a:defRPr>
            </a:lvl8pPr>
            <a:lvl9pPr>
              <a:defRPr sz="1125" b="0">
                <a:solidFill>
                  <a:srgbClr val="595959"/>
                </a:solidFill>
              </a:defRPr>
            </a:lvl9pPr>
          </a:lstStyle>
          <a:p xmlns:a="http://schemas.openxmlformats.org/drawingml/2006/main">
            <a:pPr>
              <a:defRPr sz="1125" b="0">
                <a:solidFill>
                  <a:srgbClr val="595959"/>
                </a:solidFill>
              </a:defRPr>
            </a:pPr>
            <a:r>
              <a:rPr sz="1125" b="0">
                <a:solidFill>
                  <a:srgbClr val="595959"/>
                </a:solidFill>
              </a:rPr>
              <a:t>HISTORICAL REAL RUNS: 11 Oct 2026. Replay workload, zero model calls.</a:t>
            </a:r>
          </a:p>
        </p:txBody>
      </p:sp>
      <p:sp>
        <p:nvSpPr>
          <p:cNvPr id="27" name="scaling-boundary">
            <a:extLst xmlns:a="http://schemas.openxmlformats.org/drawingml/2006/main">
              <a:ext uri="{FF2B5EF4-FFF2-40B4-BE49-F238E27FC236}">
                <a16:creationId xmlns:a16="http://schemas.microsoft.com/office/drawing/2014/main" id="{DAF70446-627B-4B1E-B10A-F1704AA3E63E}"/>
              </a:ext>
            </a:extLst>
          </p:cNvPr>
          <p:cNvSpPr>
            <a:spLocks xmlns:a="http://schemas.openxmlformats.org/drawingml/2006/main" noGrp="1"/>
          </p:cNvSpPr>
          <p:nvPr/>
        </p:nvSpPr>
        <p:spPr>
          <a:xfrm xmlns:a="http://schemas.openxmlformats.org/drawingml/2006/main">
            <a:off x="1200150" y="419100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95959"/>
                </a:solidFill>
              </a:defRPr>
            </a:defPPr>
            <a:lvl1pPr>
              <a:defRPr sz="1050" b="0">
                <a:solidFill>
                  <a:srgbClr val="595959"/>
                </a:solidFill>
              </a:defRPr>
            </a:lvl1pPr>
            <a:lvl2pPr>
              <a:defRPr sz="1050" b="0">
                <a:solidFill>
                  <a:srgbClr val="595959"/>
                </a:solidFill>
              </a:defRPr>
            </a:lvl2pPr>
            <a:lvl3pPr>
              <a:defRPr sz="1050" b="0">
                <a:solidFill>
                  <a:srgbClr val="595959"/>
                </a:solidFill>
              </a:defRPr>
            </a:lvl3pPr>
            <a:lvl4pPr>
              <a:defRPr sz="1050" b="0">
                <a:solidFill>
                  <a:srgbClr val="595959"/>
                </a:solidFill>
              </a:defRPr>
            </a:lvl4pPr>
            <a:lvl5pPr>
              <a:defRPr sz="1050" b="0">
                <a:solidFill>
                  <a:srgbClr val="595959"/>
                </a:solidFill>
              </a:defRPr>
            </a:lvl5pPr>
            <a:lvl6pPr>
              <a:defRPr sz="1050" b="0">
                <a:solidFill>
                  <a:srgbClr val="595959"/>
                </a:solidFill>
              </a:defRPr>
            </a:lvl6pPr>
            <a:lvl7pPr>
              <a:defRPr sz="1050" b="0">
                <a:solidFill>
                  <a:srgbClr val="595959"/>
                </a:solidFill>
              </a:defRPr>
            </a:lvl7pPr>
            <a:lvl8pPr>
              <a:defRPr sz="1050" b="0">
                <a:solidFill>
                  <a:srgbClr val="595959"/>
                </a:solidFill>
              </a:defRPr>
            </a:lvl8pPr>
            <a:lvl9pPr>
              <a:defRPr sz="1050" b="0">
                <a:solidFill>
                  <a:srgbClr val="595959"/>
                </a:solidFill>
              </a:defRPr>
            </a:lvl9pPr>
          </a:lstStyle>
          <a:p xmlns:a="http://schemas.openxmlformats.org/drawingml/2006/main">
            <a:pPr>
              <a:defRPr sz="1050" b="0">
                <a:solidFill>
                  <a:srgbClr val="595959"/>
                </a:solidFill>
              </a:defRPr>
            </a:pPr>
            <a:r>
              <a:rPr sz="1050" b="0">
                <a:solidFill>
                  <a:srgbClr val="595959"/>
                </a:solidFill>
              </a:rPr>
              <a:t>Scale control: 1 to 3 to 1. All 500 jobs ran on the original worker; no throughput gain follows from this run.</a:t>
            </a:r>
          </a:p>
        </p:txBody>
      </p:sp>
      <p:sp>
        <p:nvSpPr>
          <p:cNvPr id="28" name="rehearsal-boundary">
            <a:extLst xmlns:a="http://schemas.openxmlformats.org/drawingml/2006/main">
              <a:ext uri="{FF2B5EF4-FFF2-40B4-BE49-F238E27FC236}">
                <a16:creationId xmlns:a16="http://schemas.microsoft.com/office/drawing/2014/main" id="{1E85830F-27C3-4728-BAE7-D381282D2BD0}"/>
              </a:ext>
            </a:extLst>
          </p:cNvPr>
          <p:cNvSpPr>
            <a:spLocks xmlns:a="http://schemas.openxmlformats.org/drawingml/2006/main" noGrp="1"/>
          </p:cNvSpPr>
          <p:nvPr/>
        </p:nvSpPr>
        <p:spPr>
          <a:xfrm xmlns:a="http://schemas.openxmlformats.org/drawingml/2006/main">
            <a:off x="1200150" y="6200775"/>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0">
                <a:solidFill>
                  <a:srgbClr val="595959"/>
                </a:solidFill>
              </a:defRPr>
            </a:defPPr>
            <a:lvl1pPr>
              <a:defRPr sz="1050" b="0">
                <a:solidFill>
                  <a:srgbClr val="595959"/>
                </a:solidFill>
              </a:defRPr>
            </a:lvl1pPr>
            <a:lvl2pPr>
              <a:defRPr sz="1050" b="0">
                <a:solidFill>
                  <a:srgbClr val="595959"/>
                </a:solidFill>
              </a:defRPr>
            </a:lvl2pPr>
            <a:lvl3pPr>
              <a:defRPr sz="1050" b="0">
                <a:solidFill>
                  <a:srgbClr val="595959"/>
                </a:solidFill>
              </a:defRPr>
            </a:lvl3pPr>
            <a:lvl4pPr>
              <a:defRPr sz="1050" b="0">
                <a:solidFill>
                  <a:srgbClr val="595959"/>
                </a:solidFill>
              </a:defRPr>
            </a:lvl4pPr>
            <a:lvl5pPr>
              <a:defRPr sz="1050" b="0">
                <a:solidFill>
                  <a:srgbClr val="595959"/>
                </a:solidFill>
              </a:defRPr>
            </a:lvl5pPr>
            <a:lvl6pPr>
              <a:defRPr sz="1050" b="0">
                <a:solidFill>
                  <a:srgbClr val="595959"/>
                </a:solidFill>
              </a:defRPr>
            </a:lvl6pPr>
            <a:lvl7pPr>
              <a:defRPr sz="1050" b="0">
                <a:solidFill>
                  <a:srgbClr val="595959"/>
                </a:solidFill>
              </a:defRPr>
            </a:lvl7pPr>
            <a:lvl8pPr>
              <a:defRPr sz="1050" b="0">
                <a:solidFill>
                  <a:srgbClr val="595959"/>
                </a:solidFill>
              </a:defRPr>
            </a:lvl8pPr>
            <a:lvl9pPr>
              <a:defRPr sz="1050" b="0">
                <a:solidFill>
                  <a:srgbClr val="595959"/>
                </a:solidFill>
              </a:defRPr>
            </a:lvl9pPr>
          </a:lstStyle>
          <a:p xmlns:a="http://schemas.openxmlformats.org/drawingml/2006/main">
            <a:pPr>
              <a:defRPr sz="1050" b="0">
                <a:solidFill>
                  <a:srgbClr val="595959"/>
                </a:solidFill>
              </a:defRPr>
            </a:pPr>
            <a:r>
              <a:rPr sz="1050" b="0">
                <a:solidFill>
                  <a:srgbClr val="595959"/>
                </a:solidFill>
              </a:rPr>
              <a:t>22 Oct replay rehearsal saved separately. Live access needs a scheduled restart; historical replay remains the backup.</a:t>
            </a:r>
          </a:p>
        </p:txBody>
      </p:sp>
    </p:spTree>
    <p:extLst>
      <p:ext uri="{BB962C8B-B14F-4D97-AF65-F5344CB8AC3E}">
        <p14:creationId xmlns:p14="http://schemas.microsoft.com/office/powerpoint/2010/main" val="211854140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9A8EAE4-7B1D-446D-A010-3CBBCB098EF7}"/>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Demo 4: the pipeline — and what we learned</a:t>
            </a:r>
            <a:endParaRPr sz="2800"/>
          </a:p>
        </p:txBody>
      </p:sp>
      <p:sp>
        <p:nvSpPr>
          <p:cNvPr id="3" name="section pill">
            <a:extLst xmlns:a="http://schemas.openxmlformats.org/drawingml/2006/main">
              <a:ext uri="{FF2B5EF4-FFF2-40B4-BE49-F238E27FC236}">
                <a16:creationId xmlns:a16="http://schemas.microsoft.com/office/drawing/2014/main" id="{270905EF-D068-428C-8E52-913FBF5CBA95}"/>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9588B230-BDD3-4E45-9770-9A23BFA76123}"/>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6 · Demo</a:t>
            </a:r>
            <a:endParaRPr sz="1200"/>
          </a:p>
        </p:txBody>
      </p:sp>
      <p:sp>
        <p:nvSpPr>
          <p:cNvPr id="5" name="demo 4 heading">
            <a:extLst xmlns:a="http://schemas.openxmlformats.org/drawingml/2006/main">
              <a:ext uri="{FF2B5EF4-FFF2-40B4-BE49-F238E27FC236}">
                <a16:creationId xmlns:a16="http://schemas.microsoft.com/office/drawing/2014/main" id="{30D99ED0-0187-4495-B016-959AFAFE5769}"/>
              </a:ext>
            </a:extLst>
          </p:cNvPr>
          <p:cNvSpPr>
            <a:spLocks xmlns:a="http://schemas.openxmlformats.org/drawingml/2006/main" noGrp="1"/>
          </p:cNvSpPr>
          <p:nvPr/>
        </p:nvSpPr>
        <p:spPr>
          <a:xfrm xmlns:a="http://schemas.openxmlformats.org/drawingml/2006/main">
            <a:off x="457200" y="1234440"/>
            <a:ext cx="5669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4325C"/>
                </a:solidFill>
              </a:rPr>
              <a:t>Demo 4 · D · 0.5 min</a:t>
            </a:r>
            <a:endParaRPr sz="1800"/>
          </a:p>
        </p:txBody>
      </p:sp>
      <p:sp>
        <p:nvSpPr>
          <p:cNvPr id="6" name="demo 4 steps">
            <a:extLst xmlns:a="http://schemas.openxmlformats.org/drawingml/2006/main">
              <a:ext uri="{FF2B5EF4-FFF2-40B4-BE49-F238E27FC236}">
                <a16:creationId xmlns:a16="http://schemas.microsoft.com/office/drawing/2014/main" id="{8376FCDE-9E36-463A-8449-7AF990317703}"/>
              </a:ext>
            </a:extLst>
          </p:cNvPr>
          <p:cNvSpPr>
            <a:spLocks xmlns:a="http://schemas.openxmlformats.org/drawingml/2006/main" noGrp="1"/>
          </p:cNvSpPr>
          <p:nvPr/>
        </p:nvSpPr>
        <p:spPr>
          <a:xfrm xmlns:a="http://schemas.openxmlformats.org/drawingml/2006/main">
            <a:off x="457200" y="1691640"/>
            <a:ext cx="566928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300"/>
              </a:spcAft>
              <a:buSzPct val="100000"/>
              <a:buFont typeface="+mj-lt"/>
              <a:buAutoNum type="arabicPeriod" startAt="1"/>
            </a:pPr>
            <a:r>
              <a:rPr sz="1400">
                <a:solidFill>
                  <a:srgbClr val="000000"/>
                </a:solidFill>
              </a:rPr>
              <a:t>Open CI 38148253863 and CD 38148479735 (commit 362e8dd)</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Show check → deploy, digest pinning and rollback smoke results</a:t>
            </a:r>
            <a:endParaRPr sz="1400"/>
          </a:p>
          <a:p xmlns:a="http://schemas.openxmlformats.org/drawingml/2006/main">
            <a:pPr marL="342900" indent="-342900">
              <a:spcAft>
                <a:spcPts val="300"/>
              </a:spcAft>
              <a:buSzPct val="100000"/>
              <a:buFont typeface="+mj-lt"/>
              <a:buAutoNum type="arabicPeriod" startAt="1"/>
            </a:pPr>
            <a:r>
              <a:rPr sz="1400">
                <a:solidFill>
                  <a:srgbClr val="000000"/>
                </a:solidFill>
              </a:rPr>
              <a:t>Historical CI/CD replay only. No deployment or new model call in this handoff.</a:t>
            </a:r>
            <a:endParaRPr sz="1400"/>
          </a:p>
        </p:txBody>
      </p:sp>
      <p:pic>
        <p:nvPicPr>
          <p:cNvPr id="7" name="CD success screenshot">
            <a:extLst xmlns:a="http://schemas.openxmlformats.org/drawingml/2006/main">
              <a:ext uri="{FF2B5EF4-FFF2-40B4-BE49-F238E27FC236}">
                <a16:creationId xmlns:a16="http://schemas.microsoft.com/office/drawing/2014/main" id="{75DC9372-E853-444E-90A5-E846DC56E89B}"/>
              </a:ext>
            </a:extLst>
          </p:cNvPr>
          <p:cNvPicPr>
            <a:picLocks xmlns:a="http://schemas.openxmlformats.org/drawingml/2006/main" noChangeAspect="1"/>
          </p:cNvPicPr>
          <p:nvPr/>
        </p:nvPicPr>
        <p:blipFill>
          <a:blip xmlns:r="http://schemas.openxmlformats.org/officeDocument/2006/relationships" xmlns:a="http://schemas.openxmlformats.org/drawingml/2006/main" r:embed="R2551766546d944f5"/>
          <a:stretch xmlns:a="http://schemas.openxmlformats.org/drawingml/2006/main">
            <a:fillRect l="0" t="0" r="0" b="0"/>
          </a:stretch>
        </p:blipFill>
        <p:spPr>
          <a:xfrm xmlns:a="http://schemas.openxmlformats.org/drawingml/2006/main">
            <a:off x="457200" y="3063240"/>
            <a:ext cx="5669280" cy="1949752"/>
          </a:xfrm>
          <a:prstGeom xmlns:a="http://schemas.openxmlformats.org/drawingml/2006/main" prst="rect">
            <a:avLst/>
          </a:prstGeom>
        </p:spPr>
      </p:pic>
      <p:sp>
        <p:nvSpPr>
          <p:cNvPr id="8" name="CD success screenshot frame">
            <a:extLst xmlns:a="http://schemas.openxmlformats.org/drawingml/2006/main">
              <a:ext uri="{FF2B5EF4-FFF2-40B4-BE49-F238E27FC236}">
                <a16:creationId xmlns:a16="http://schemas.microsoft.com/office/drawing/2014/main" id="{5CCCB8E8-DB85-40A8-ABF7-BC859CB1EE74}"/>
              </a:ext>
            </a:extLst>
          </p:cNvPr>
          <p:cNvSpPr>
            <a:spLocks xmlns:a="http://schemas.openxmlformats.org/drawingml/2006/main" noGrp="1"/>
          </p:cNvSpPr>
          <p:nvPr/>
        </p:nvSpPr>
        <p:spPr>
          <a:xfrm xmlns:a="http://schemas.openxmlformats.org/drawingml/2006/main">
            <a:off x="457200" y="3063240"/>
            <a:ext cx="5669280" cy="1949752"/>
          </a:xfrm>
          <a:prstGeom xmlns:a="http://schemas.openxmlformats.org/drawingml/2006/main" prst="rect">
            <a:avLst/>
          </a:prstGeom>
          <a:ln xmlns:a="http://schemas.openxmlformats.org/drawingml/2006/main" w="12700">
            <a:solidFill>
              <a:srgbClr val="C9D6E8"/>
            </a:solidFill>
            <a:prstDash val="solid"/>
          </a:ln>
        </p:spPr>
      </p:sp>
      <p:sp>
        <p:nvSpPr>
          <p:cNvPr id="9" name="takeaways heading">
            <a:extLst xmlns:a="http://schemas.openxmlformats.org/drawingml/2006/main">
              <a:ext uri="{FF2B5EF4-FFF2-40B4-BE49-F238E27FC236}">
                <a16:creationId xmlns:a16="http://schemas.microsoft.com/office/drawing/2014/main" id="{67D1F376-FC02-45FA-8741-9FD0B97A7A32}"/>
              </a:ext>
            </a:extLst>
          </p:cNvPr>
          <p:cNvSpPr>
            <a:spLocks xmlns:a="http://schemas.openxmlformats.org/drawingml/2006/main" noGrp="1"/>
          </p:cNvSpPr>
          <p:nvPr/>
        </p:nvSpPr>
        <p:spPr>
          <a:xfrm xmlns:a="http://schemas.openxmlformats.org/drawingml/2006/main">
            <a:off x="6583680" y="1234440"/>
            <a:ext cx="5120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4325C"/>
                </a:solidFill>
              </a:rPr>
              <a:t>Take-aways</a:t>
            </a:r>
            <a:endParaRPr sz="1800"/>
          </a:p>
        </p:txBody>
      </p:sp>
      <p:sp>
        <p:nvSpPr>
          <p:cNvPr id="10" name="takeaway badge 1">
            <a:extLst xmlns:a="http://schemas.openxmlformats.org/drawingml/2006/main">
              <a:ext uri="{FF2B5EF4-FFF2-40B4-BE49-F238E27FC236}">
                <a16:creationId xmlns:a16="http://schemas.microsoft.com/office/drawing/2014/main" id="{7FD5183A-8A8B-43F2-A45C-5E5532FF3BED}"/>
              </a:ext>
            </a:extLst>
          </p:cNvPr>
          <p:cNvSpPr>
            <a:spLocks xmlns:a="http://schemas.openxmlformats.org/drawingml/2006/main" noGrp="1"/>
          </p:cNvSpPr>
          <p:nvPr/>
        </p:nvSpPr>
        <p:spPr>
          <a:xfrm xmlns:a="http://schemas.openxmlformats.org/drawingml/2006/main">
            <a:off x="6583680" y="1783080"/>
            <a:ext cx="548640" cy="548640"/>
          </a:xfrm>
          <a:prstGeom xmlns:a="http://schemas.openxmlformats.org/drawingml/2006/main" prst="ellipse">
            <a:avLst/>
          </a:prstGeom>
          <a:solidFill xmlns:a="http://schemas.openxmlformats.org/drawingml/2006/main">
            <a:srgbClr val="14325C"/>
          </a:solidFill>
          <a:ln xmlns:a="http://schemas.openxmlformats.org/drawingml/2006/main" w="12700">
            <a:solidFill>
              <a:srgbClr val="14325C"/>
            </a:solidFill>
            <a:prstDash val="solid"/>
          </a:ln>
        </p:spPr>
      </p:sp>
      <p:sp>
        <p:nvSpPr>
          <p:cNvPr id="11" name="takeaway number 1">
            <a:extLst xmlns:a="http://schemas.openxmlformats.org/drawingml/2006/main">
              <a:ext uri="{FF2B5EF4-FFF2-40B4-BE49-F238E27FC236}">
                <a16:creationId xmlns:a16="http://schemas.microsoft.com/office/drawing/2014/main" id="{6124026A-3AA4-40A0-BD52-CEEEF13D99BA}"/>
              </a:ext>
            </a:extLst>
          </p:cNvPr>
          <p:cNvSpPr>
            <a:spLocks xmlns:a="http://schemas.openxmlformats.org/drawingml/2006/main" noGrp="1"/>
          </p:cNvSpPr>
          <p:nvPr/>
        </p:nvSpPr>
        <p:spPr>
          <a:xfrm xmlns:a="http://schemas.openxmlformats.org/drawingml/2006/main">
            <a:off x="6583680" y="1783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rPr>
              <a:t>1</a:t>
            </a:r>
            <a:endParaRPr sz="1800"/>
          </a:p>
        </p:txBody>
      </p:sp>
      <p:sp>
        <p:nvSpPr>
          <p:cNvPr id="12" name="takeaway 1">
            <a:extLst xmlns:a="http://schemas.openxmlformats.org/drawingml/2006/main">
              <a:ext uri="{FF2B5EF4-FFF2-40B4-BE49-F238E27FC236}">
                <a16:creationId xmlns:a16="http://schemas.microsoft.com/office/drawing/2014/main" id="{4B9E0AF5-467F-4AD6-BBEA-40925A76FFC8}"/>
              </a:ext>
            </a:extLst>
          </p:cNvPr>
          <p:cNvSpPr>
            <a:spLocks xmlns:a="http://schemas.openxmlformats.org/drawingml/2006/main" noGrp="1"/>
          </p:cNvSpPr>
          <p:nvPr/>
        </p:nvSpPr>
        <p:spPr>
          <a:xfrm xmlns:a="http://schemas.openxmlformats.org/drawingml/2006/main">
            <a:off x="7315200" y="1737360"/>
            <a:ext cx="4416552"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4325C"/>
                </a:solidFill>
              </a:rPr>
              <a:t>A traceable platform</a:t>
            </a:r>
            <a:endParaRPr sz="1600"/>
          </a:p>
          <a:p xmlns:a="http://schemas.openxmlformats.org/drawingml/2006/main">
            <a:pPr marL="0" indent="0">
              <a:buNone/>
            </a:pPr>
            <a:r>
              <a:rPr sz="1400">
                <a:solidFill>
                  <a:srgbClr val="000000"/>
                </a:solidFill>
              </a:rPr>
              <a:t>Immutable suites, original outputs, a fail-closed gate and an independent review trail.</a:t>
            </a:r>
            <a:endParaRPr sz="1600"/>
          </a:p>
        </p:txBody>
      </p:sp>
      <p:sp>
        <p:nvSpPr>
          <p:cNvPr id="13" name="takeaway badge 2">
            <a:extLst xmlns:a="http://schemas.openxmlformats.org/drawingml/2006/main">
              <a:ext uri="{FF2B5EF4-FFF2-40B4-BE49-F238E27FC236}">
                <a16:creationId xmlns:a16="http://schemas.microsoft.com/office/drawing/2014/main" id="{D6C3AEBD-E0EC-427B-8366-82DAD45B4218}"/>
              </a:ext>
            </a:extLst>
          </p:cNvPr>
          <p:cNvSpPr>
            <a:spLocks xmlns:a="http://schemas.openxmlformats.org/drawingml/2006/main" noGrp="1"/>
          </p:cNvSpPr>
          <p:nvPr/>
        </p:nvSpPr>
        <p:spPr>
          <a:xfrm xmlns:a="http://schemas.openxmlformats.org/drawingml/2006/main">
            <a:off x="6583680" y="3246120"/>
            <a:ext cx="548640" cy="548640"/>
          </a:xfrm>
          <a:prstGeom xmlns:a="http://schemas.openxmlformats.org/drawingml/2006/main" prst="ellipse">
            <a:avLst/>
          </a:prstGeom>
          <a:solidFill xmlns:a="http://schemas.openxmlformats.org/drawingml/2006/main">
            <a:srgbClr val="2563B0"/>
          </a:solidFill>
          <a:ln xmlns:a="http://schemas.openxmlformats.org/drawingml/2006/main" w="12700">
            <a:solidFill>
              <a:srgbClr val="2563B0"/>
            </a:solidFill>
            <a:prstDash val="solid"/>
          </a:ln>
        </p:spPr>
      </p:sp>
      <p:sp>
        <p:nvSpPr>
          <p:cNvPr id="14" name="takeaway number 2">
            <a:extLst xmlns:a="http://schemas.openxmlformats.org/drawingml/2006/main">
              <a:ext uri="{FF2B5EF4-FFF2-40B4-BE49-F238E27FC236}">
                <a16:creationId xmlns:a16="http://schemas.microsoft.com/office/drawing/2014/main" id="{F87950E6-6DA9-470B-90E4-FA07444BA449}"/>
              </a:ext>
            </a:extLst>
          </p:cNvPr>
          <p:cNvSpPr>
            <a:spLocks xmlns:a="http://schemas.openxmlformats.org/drawingml/2006/main" noGrp="1"/>
          </p:cNvSpPr>
          <p:nvPr/>
        </p:nvSpPr>
        <p:spPr>
          <a:xfrm xmlns:a="http://schemas.openxmlformats.org/drawingml/2006/main">
            <a:off x="6583680" y="324612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rPr>
              <a:t>2</a:t>
            </a:r>
            <a:endParaRPr sz="1800"/>
          </a:p>
        </p:txBody>
      </p:sp>
      <p:sp>
        <p:nvSpPr>
          <p:cNvPr id="15" name="takeaway 2">
            <a:extLst xmlns:a="http://schemas.openxmlformats.org/drawingml/2006/main">
              <a:ext uri="{FF2B5EF4-FFF2-40B4-BE49-F238E27FC236}">
                <a16:creationId xmlns:a16="http://schemas.microsoft.com/office/drawing/2014/main" id="{21A333B9-06E7-4714-A4EA-427160A363EF}"/>
              </a:ext>
            </a:extLst>
          </p:cNvPr>
          <p:cNvSpPr>
            <a:spLocks xmlns:a="http://schemas.openxmlformats.org/drawingml/2006/main" noGrp="1"/>
          </p:cNvSpPr>
          <p:nvPr/>
        </p:nvSpPr>
        <p:spPr>
          <a:xfrm xmlns:a="http://schemas.openxmlformats.org/drawingml/2006/main">
            <a:off x="7315200" y="3200400"/>
            <a:ext cx="4416552"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4325C"/>
                </a:solidFill>
              </a:rPr>
              <a:t>Scalable and resilient by design</a:t>
            </a:r>
            <a:endParaRPr sz="1600"/>
          </a:p>
          <a:p xmlns:a="http://schemas.openxmlformats.org/drawingml/2006/main">
            <a:pPr marL="0" indent="0">
              <a:buNone/>
            </a:pPr>
            <a:r>
              <a:rPr sz="1400">
                <a:solidFill>
                  <a:srgbClr val="000000"/>
                </a:solidFill>
              </a:rPr>
              <a:t>Service-owned data, async execution and KEDA autoscaling on GKE; circuit breaker, tracing and logs verified locally.</a:t>
            </a:r>
            <a:endParaRPr sz="1600"/>
          </a:p>
        </p:txBody>
      </p:sp>
      <p:sp>
        <p:nvSpPr>
          <p:cNvPr id="16" name="takeaway badge 3">
            <a:extLst xmlns:a="http://schemas.openxmlformats.org/drawingml/2006/main">
              <a:ext uri="{FF2B5EF4-FFF2-40B4-BE49-F238E27FC236}">
                <a16:creationId xmlns:a16="http://schemas.microsoft.com/office/drawing/2014/main" id="{68013D47-9A30-44E5-B3E0-5521CB8FD01F}"/>
              </a:ext>
            </a:extLst>
          </p:cNvPr>
          <p:cNvSpPr>
            <a:spLocks xmlns:a="http://schemas.openxmlformats.org/drawingml/2006/main" noGrp="1"/>
          </p:cNvSpPr>
          <p:nvPr/>
        </p:nvSpPr>
        <p:spPr>
          <a:xfrm xmlns:a="http://schemas.openxmlformats.org/drawingml/2006/main">
            <a:off x="6583680" y="4709160"/>
            <a:ext cx="548640" cy="548640"/>
          </a:xfrm>
          <a:prstGeom xmlns:a="http://schemas.openxmlformats.org/drawingml/2006/main" prst="ellipse">
            <a:avLst/>
          </a:prstGeom>
          <a:solidFill xmlns:a="http://schemas.openxmlformats.org/drawingml/2006/main">
            <a:srgbClr val="F5B700"/>
          </a:solidFill>
          <a:ln xmlns:a="http://schemas.openxmlformats.org/drawingml/2006/main" w="12700">
            <a:solidFill>
              <a:srgbClr val="F5B700"/>
            </a:solidFill>
            <a:prstDash val="solid"/>
          </a:ln>
        </p:spPr>
      </p:sp>
      <p:sp>
        <p:nvSpPr>
          <p:cNvPr id="17" name="takeaway number 3">
            <a:extLst xmlns:a="http://schemas.openxmlformats.org/drawingml/2006/main">
              <a:ext uri="{FF2B5EF4-FFF2-40B4-BE49-F238E27FC236}">
                <a16:creationId xmlns:a16="http://schemas.microsoft.com/office/drawing/2014/main" id="{F318D7FC-505F-4B5F-B624-85AE71EB9F61}"/>
              </a:ext>
            </a:extLst>
          </p:cNvPr>
          <p:cNvSpPr>
            <a:spLocks xmlns:a="http://schemas.openxmlformats.org/drawingml/2006/main" noGrp="1"/>
          </p:cNvSpPr>
          <p:nvPr/>
        </p:nvSpPr>
        <p:spPr>
          <a:xfrm xmlns:a="http://schemas.openxmlformats.org/drawingml/2006/main">
            <a:off x="6583680" y="470916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14325C"/>
                </a:solidFill>
              </a:rPr>
              <a:t>3</a:t>
            </a:r>
            <a:endParaRPr sz="1800"/>
          </a:p>
        </p:txBody>
      </p:sp>
      <p:sp>
        <p:nvSpPr>
          <p:cNvPr id="18" name="takeaway 3">
            <a:extLst xmlns:a="http://schemas.openxmlformats.org/drawingml/2006/main">
              <a:ext uri="{FF2B5EF4-FFF2-40B4-BE49-F238E27FC236}">
                <a16:creationId xmlns:a16="http://schemas.microsoft.com/office/drawing/2014/main" id="{8B12E538-211A-4C88-9C60-A0576A2B49AA}"/>
              </a:ext>
            </a:extLst>
          </p:cNvPr>
          <p:cNvSpPr>
            <a:spLocks xmlns:a="http://schemas.openxmlformats.org/drawingml/2006/main" noGrp="1"/>
          </p:cNvSpPr>
          <p:nvPr/>
        </p:nvSpPr>
        <p:spPr>
          <a:xfrm xmlns:a="http://schemas.openxmlformats.org/drawingml/2006/main">
            <a:off x="7315200" y="4663440"/>
            <a:ext cx="4416552"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4325C"/>
                </a:solidFill>
              </a:rPr>
              <a:t>Lessons</a:t>
            </a:r>
            <a:endParaRPr sz="1600"/>
          </a:p>
          <a:p xmlns:a="http://schemas.openxmlformats.org/drawingml/2006/main">
            <a:pPr marL="0" indent="0">
              <a:buNone/>
            </a:pPr>
            <a:r>
              <a:rPr sz="1400">
                <a:solidFill>
                  <a:srgbClr val="000000"/>
                </a:solidFill>
              </a:rPr>
              <a:t>Separate score from gate; save evidence before validating; report failed experiments honestly.</a:t>
            </a:r>
            <a:endParaRPr sz="1600"/>
          </a:p>
        </p:txBody>
      </p:sp>
      <p:sp>
        <p:nvSpPr>
          <p:cNvPr id="25" name="Slide Number Placeholder 0">
            <a:extLst xmlns:a="http://schemas.openxmlformats.org/drawingml/2006/main">
              <a:ext uri="{FF2B5EF4-FFF2-40B4-BE49-F238E27FC236}">
                <a16:creationId xmlns:a16="http://schemas.microsoft.com/office/drawing/2014/main" id="{864A44C3-8FC3-429B-933A-60E6C1E60C24}"/>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22</a:t>
            </a:fld>
            <a:endParaRPr/>
          </a:p>
        </p:txBody>
      </p:sp>
    </p:spTree>
    <p:extLst>
      <p:ext uri="{BB962C8B-B14F-4D97-AF65-F5344CB8AC3E}">
        <p14:creationId xmlns:p14="http://schemas.microsoft.com/office/powerpoint/2010/main" val="913615836"/>
      </p:ext>
    </p:extLst>
  </p:cSld>
</p:sld>
</file>

<file path=ppt/slides/slide23.xml><?xml version="1.0" encoding="utf-8"?>
<p:sld xmlns:p="http://schemas.openxmlformats.org/presentationml/2006/main" show="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494DE39-5666-480E-8368-B13DA2812705}"/>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Backup: model and reviewer experiments</a:t>
            </a:r>
            <a:endParaRPr sz="2800"/>
          </a:p>
        </p:txBody>
      </p:sp>
      <p:sp>
        <p:nvSpPr>
          <p:cNvPr id="3" name="section pill">
            <a:extLst xmlns:a="http://schemas.openxmlformats.org/drawingml/2006/main">
              <a:ext uri="{FF2B5EF4-FFF2-40B4-BE49-F238E27FC236}">
                <a16:creationId xmlns:a16="http://schemas.microsoft.com/office/drawing/2014/main" id="{A6586BC0-611A-454E-8F1E-E5DBDA5F58EC}"/>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734AC56E-021E-44DE-BA2C-DCB11B427BF9}"/>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Backup</a:t>
            </a:r>
            <a:endParaRPr sz="1200"/>
          </a:p>
        </p:txBody>
      </p:sp>
      <p:graphicFrame>
        <p:nvGraphicFramePr>
          <p:cNvPr id="24" name="model evidence">
            <a:extLst xmlns:a="http://schemas.openxmlformats.org/drawingml/2006/main">
              <a:ext uri="{FF2B5EF4-FFF2-40B4-BE49-F238E27FC236}">
                <a16:creationId xmlns:a16="http://schemas.microsoft.com/office/drawing/2014/main" id="{49BBA175-53D4-4739-8C00-2804C348C0B1}"/>
              </a:ext>
            </a:extLst>
          </p:cNvPr>
          <p:cNvGraphicFramePr/>
          <p:nvPr/>
        </p:nvGraphicFramePr>
        <p:xfrm>
          <a:off xmlns:a="http://schemas.openxmlformats.org/drawingml/2006/main" x="457200" y="1280160"/>
          <a:ext xmlns:a="http://schemas.openxmlformats.org/drawingml/2006/main" cx="11274552" cy="914400"/>
        </p:xfrm>
        <a:graphic xmlns:a="http://schemas.openxmlformats.org/drawingml/2006/main">
          <a:graphicData uri="http://schemas.openxmlformats.org/drawingml/2006/table">
            <a:tbl>
              <a:tblPr/>
              <a:tblGrid>
                <a:gridCol w="4023360"/>
                <a:gridCol w="2377440"/>
                <a:gridCol w="4873752"/>
              </a:tblGrid>
              <a:tr h="0">
                <a:tc>
                  <a:txBody>
                    <a:bodyPr/>
                    <a:lstStyle/>
                    <a:p>
                      <a:pPr marL="0" indent="0">
                        <a:buNone/>
                      </a:pPr>
                      <a:r>
                        <a:rPr sz="1400" b="1">
                          <a:solidFill>
                            <a:srgbClr val="FFFFFF"/>
                          </a:solidFill>
                          <a:latin typeface="Arial"/>
                          <a:ea typeface="Arial"/>
                          <a:cs typeface="Arial"/>
                        </a:rPr>
                        <a:t>Experiment (date)</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c>
                  <a:txBody>
                    <a:bodyPr/>
                    <a:lstStyle/>
                    <a:p>
                      <a:pPr marL="0" indent="0">
                        <a:buNone/>
                      </a:pPr>
                      <a:r>
                        <a:rPr sz="1400" b="1">
                          <a:solidFill>
                            <a:srgbClr val="FFFFFF"/>
                          </a:solidFill>
                          <a:latin typeface="Arial"/>
                          <a:ea typeface="Arial"/>
                          <a:cs typeface="Arial"/>
                        </a:rPr>
                        <a:t>Denominator</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c>
                  <a:txBody>
                    <a:bodyPr/>
                    <a:lstStyle/>
                    <a:p>
                      <a:pPr marL="0" indent="0">
                        <a:buNone/>
                      </a:pPr>
                      <a:r>
                        <a:rPr sz="1400" b="1">
                          <a:solidFill>
                            <a:srgbClr val="FFFFFF"/>
                          </a:solidFill>
                          <a:latin typeface="Arial"/>
                          <a:ea typeface="Arial"/>
                          <a:cs typeface="Arial"/>
                        </a:rPr>
                        <a:t>Result and status</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r>
              <a:tr h="0">
                <a:tc>
                  <a:txBody>
                    <a:bodyPr/>
                    <a:lstStyle/>
                    <a:p>
                      <a:pPr marL="0" indent="0">
                        <a:buNone/>
                      </a:pPr>
                      <a:r>
                        <a:rPr sz="1300">
                          <a:solidFill>
                            <a:srgbClr val="1F2937"/>
                          </a:solidFill>
                          <a:latin typeface="Arial"/>
                          <a:ea typeface="Arial"/>
                          <a:cs typeface="Arial"/>
                        </a:rPr>
                        <a:t>Customer generation A/B, frozen r4 (17 Oct)</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20 calls per model</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Original scores 70 / 75; neither arm met all delivery conditions</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300">
                          <a:solidFill>
                            <a:srgbClr val="1F2937"/>
                          </a:solidFill>
                          <a:latin typeface="Arial"/>
                          <a:ea typeface="Arial"/>
                          <a:cs typeface="Arial"/>
                        </a:rPr>
                        <a:t>Reviewer wire v3 protocol run (19 Oct)</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300">
                          <a:solidFill>
                            <a:srgbClr val="1F2937"/>
                          </a:solidFill>
                          <a:latin typeface="Arial"/>
                          <a:ea typeface="Arial"/>
                          <a:cs typeface="Arial"/>
                        </a:rPr>
                        <a:t>3 samples</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300">
                          <a:solidFill>
                            <a:srgbClr val="1F2937"/>
                          </a:solidFill>
                          <a:latin typeface="Arial"/>
                          <a:ea typeface="Arial"/>
                          <a:cs typeface="Arial"/>
                        </a:rPr>
                        <a:t>3 / 3 protocol-valid and reference matches</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300">
                          <a:solidFill>
                            <a:srgbClr val="1F2937"/>
                          </a:solidFill>
                          <a:latin typeface="Arial"/>
                          <a:ea typeface="Arial"/>
                          <a:cs typeface="Arial"/>
                        </a:rPr>
                        <a:t>Reviewer wire v3 development run (19 Oct)</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17 samples (separate)</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9 / 9 compliant allowed · 8 / 8 violations detected</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300">
                          <a:solidFill>
                            <a:srgbClr val="1F2937"/>
                          </a:solidFill>
                          <a:latin typeface="Arial"/>
                          <a:ea typeface="Arial"/>
                          <a:cs typeface="Arial"/>
                        </a:rPr>
                        <a:t>Wire v3 targeted pairs (21 Oct)</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300">
                          <a:solidFill>
                            <a:srgbClr val="1F2937"/>
                          </a:solidFill>
                          <a:latin typeface="Arial"/>
                          <a:ea typeface="Arial"/>
                          <a:cs typeface="Arial"/>
                        </a:rPr>
                        <a:t>10 requests</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300">
                          <a:solidFill>
                            <a:srgbClr val="1F2937"/>
                          </a:solidFill>
                          <a:latin typeface="Arial"/>
                          <a:ea typeface="Arial"/>
                          <a:cs typeface="Arial"/>
                        </a:rPr>
                        <a:t>Key rule 4 / 5 · TARGETED_VALIDATION_FAILED</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300">
                          <a:solidFill>
                            <a:srgbClr val="1F2937"/>
                          </a:solidFill>
                          <a:latin typeface="Arial"/>
                          <a:ea typeface="Arial"/>
                          <a:cs typeface="Arial"/>
                        </a:rPr>
                        <a:t>Handwritten evaluator-next-v2 r5 (21 Oct)</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80 AI references</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Allow 21 / 40 · block 38 / 40 · FAILED, diagnostic only</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300">
                          <a:solidFill>
                            <a:srgbClr val="1F2937"/>
                          </a:solidFill>
                          <a:latin typeface="Arial"/>
                          <a:ea typeface="Arial"/>
                          <a:cs typeface="Arial"/>
                        </a:rPr>
                        <a:t>Initial r2 offline record (21 Oct)</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300">
                          <a:solidFill>
                            <a:srgbClr val="1F2937"/>
                          </a:solidFill>
                          <a:latin typeface="Arial"/>
                          <a:ea typeface="Arial"/>
                          <a:cs typeface="Arial"/>
                        </a:rPr>
                        <a:t>14 offline checks</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300">
                          <a:solidFill>
                            <a:srgbClr val="1F2937"/>
                          </a:solidFill>
                          <a:latin typeface="Arial"/>
                          <a:ea typeface="Arial"/>
                          <a:cs typeface="Arial"/>
                        </a:rPr>
                        <a:t>14/14 offline checks. Later real revisions remain separate.</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300">
                          <a:solidFill>
                            <a:srgbClr val="1F2937"/>
                          </a:solidFill>
                          <a:latin typeface="Arial"/>
                          <a:ea typeface="Arial"/>
                          <a:cs typeface="Arial"/>
                        </a:rPr>
                        <a:t>Formal reviewer status</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calibration_pending · shadowOnly = true</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bl>
          </a:graphicData>
        </a:graphic>
      </p:graphicFrame>
      <p:sp>
        <p:nvSpPr>
          <p:cNvPr id="6" name="caption">
            <a:extLst xmlns:a="http://schemas.openxmlformats.org/drawingml/2006/main">
              <a:ext uri="{FF2B5EF4-FFF2-40B4-BE49-F238E27FC236}">
                <a16:creationId xmlns:a16="http://schemas.microsoft.com/office/drawing/2014/main" id="{C597CA6A-A3E7-437D-A47A-10B9989D5A2B}"/>
              </a:ext>
            </a:extLst>
          </p:cNvPr>
          <p:cNvSpPr>
            <a:spLocks xmlns:a="http://schemas.openxmlformats.org/drawingml/2006/main" noGrp="1"/>
          </p:cNvSpPr>
          <p:nvPr/>
        </p:nvSpPr>
        <p:spPr>
          <a:xfrm xmlns:a="http://schemas.openxmlformats.org/drawingml/2006/main">
            <a:off x="457200" y="4857750"/>
            <a:ext cx="11274552" cy="638175"/>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i="1">
                <a:solidFill>
                  <a:srgbClr val="5B6472"/>
                </a:solidFill>
              </a:rPr>
              <a:t>22 Oct r14 full-16: 0/16 requests sent. Free budget insufficient. Candidate inactive.</a:t>
            </a:r>
            <a:endParaRPr sz="1200"/>
          </a:p>
          <a:p xmlns:a="http://schemas.openxmlformats.org/drawingml/2006/main">
            <a:pPr marL="0" indent="0">
              <a:buNone/>
            </a:pPr>
            <a:r>
              <a:rPr sz="1200" i="1">
                <a:solidFill>
                  <a:srgbClr val="5B6472"/>
                </a:solidFill>
              </a:rPr>
              <a:t>Earlier experiments retain their own versions, original results and failures.</a:t>
            </a:r>
          </a:p>
        </p:txBody>
      </p:sp>
      <p:sp>
        <p:nvSpPr>
          <p:cNvPr id="25" name="Slide Number Placeholder 0">
            <a:extLst xmlns:a="http://schemas.openxmlformats.org/drawingml/2006/main">
              <a:ext uri="{FF2B5EF4-FFF2-40B4-BE49-F238E27FC236}">
                <a16:creationId xmlns:a16="http://schemas.microsoft.com/office/drawing/2014/main" id="{2A0CC00A-01C0-44E6-9866-F611970B5156}"/>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23</a:t>
            </a:fld>
            <a:endParaRPr/>
          </a:p>
        </p:txBody>
      </p:sp>
    </p:spTree>
    <p:extLst>
      <p:ext uri="{BB962C8B-B14F-4D97-AF65-F5344CB8AC3E}">
        <p14:creationId xmlns:p14="http://schemas.microsoft.com/office/powerpoint/2010/main" val="1516859940"/>
      </p:ext>
    </p:extLst>
  </p:cSld>
</p:sld>
</file>

<file path=ppt/slides/slide24.xml><?xml version="1.0" encoding="utf-8"?>
<p:sld xmlns:p="http://schemas.openxmlformats.org/presentationml/2006/main" show="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B3D3AE4-4CA4-4FA2-8636-38DE1C23D586}"/>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Backup: test evidence by layer</a:t>
            </a:r>
            <a:endParaRPr sz="2800"/>
          </a:p>
        </p:txBody>
      </p:sp>
      <p:sp>
        <p:nvSpPr>
          <p:cNvPr id="3" name="section pill">
            <a:extLst xmlns:a="http://schemas.openxmlformats.org/drawingml/2006/main">
              <a:ext uri="{FF2B5EF4-FFF2-40B4-BE49-F238E27FC236}">
                <a16:creationId xmlns:a16="http://schemas.microsoft.com/office/drawing/2014/main" id="{633A9C64-EA61-4F13-B923-0FB4A85F6A63}"/>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A31F1EA0-3B11-4FF4-B442-6CF69EDD7D0C}"/>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Backup</a:t>
            </a:r>
            <a:endParaRPr sz="1200"/>
          </a:p>
        </p:txBody>
      </p:sp>
      <p:graphicFrame>
        <p:nvGraphicFramePr>
          <p:cNvPr id="25" name="test layers">
            <a:extLst xmlns:a="http://schemas.openxmlformats.org/drawingml/2006/main">
              <a:ext uri="{FF2B5EF4-FFF2-40B4-BE49-F238E27FC236}">
                <a16:creationId xmlns:a16="http://schemas.microsoft.com/office/drawing/2014/main" id="{A7A8FD2D-F921-4CB6-9454-B270ED1F1986}"/>
              </a:ext>
            </a:extLst>
          </p:cNvPr>
          <p:cNvGraphicFramePr/>
          <p:nvPr/>
        </p:nvGraphicFramePr>
        <p:xfrm>
          <a:off xmlns:a="http://schemas.openxmlformats.org/drawingml/2006/main" x="457200" y="1280160"/>
          <a:ext xmlns:a="http://schemas.openxmlformats.org/drawingml/2006/main" cx="11274552" cy="914400"/>
        </p:xfrm>
        <a:graphic xmlns:a="http://schemas.openxmlformats.org/drawingml/2006/main">
          <a:graphicData uri="http://schemas.openxmlformats.org/drawingml/2006/table">
            <a:tbl>
              <a:tblPr/>
              <a:tblGrid>
                <a:gridCol w="4206240"/>
                <a:gridCol w="2011680"/>
                <a:gridCol w="5056632"/>
              </a:tblGrid>
              <a:tr h="0">
                <a:tc>
                  <a:txBody>
                    <a:bodyPr/>
                    <a:lstStyle/>
                    <a:p>
                      <a:pPr marL="0" indent="0">
                        <a:buNone/>
                      </a:pPr>
                      <a:r>
                        <a:rPr sz="1400" b="1">
                          <a:solidFill>
                            <a:srgbClr val="FFFFFF"/>
                          </a:solidFill>
                          <a:latin typeface="Arial"/>
                          <a:ea typeface="Arial"/>
                          <a:cs typeface="Arial"/>
                        </a:rPr>
                        <a:t>Evidence type</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c>
                  <a:txBody>
                    <a:bodyPr/>
                    <a:lstStyle/>
                    <a:p>
                      <a:pPr marL="0" indent="0">
                        <a:buNone/>
                      </a:pPr>
                      <a:r>
                        <a:rPr sz="1400" b="1">
                          <a:solidFill>
                            <a:srgbClr val="FFFFFF"/>
                          </a:solidFill>
                          <a:latin typeface="Arial"/>
                          <a:ea typeface="Arial"/>
                          <a:cs typeface="Arial"/>
                        </a:rPr>
                        <a:t>Observed result</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c>
                  <a:txBody>
                    <a:bodyPr/>
                    <a:lstStyle/>
                    <a:p>
                      <a:pPr marL="0" indent="0">
                        <a:buNone/>
                      </a:pPr>
                      <a:r>
                        <a:rPr sz="1400" b="1">
                          <a:solidFill>
                            <a:srgbClr val="FFFFFF"/>
                          </a:solidFill>
                          <a:latin typeface="Arial"/>
                          <a:ea typeface="Arial"/>
                          <a:cs typeface="Arial"/>
                        </a:rPr>
                        <a:t>What it establishes</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r>
              <a:tr h="0">
                <a:tc>
                  <a:txBody>
                    <a:bodyPr/>
                    <a:lstStyle/>
                    <a:p>
                      <a:pPr marL="0" indent="0">
                        <a:buNone/>
                      </a:pPr>
                      <a:r>
                        <a:rPr sz="1300">
                          <a:solidFill>
                            <a:srgbClr val="1F2937"/>
                          </a:solidFill>
                          <a:latin typeface="Arial"/>
                          <a:ea typeface="Arial"/>
                          <a:cs typeface="Arial"/>
                        </a:rPr>
                        <a:t>Clean checkout full regression (19 Oct)</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776 / 777</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One rejected evaluator test kept visible</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300">
                          <a:solidFill>
                            <a:srgbClr val="1F2937"/>
                          </a:solidFill>
                          <a:latin typeface="Arial"/>
                          <a:ea typeface="Arial"/>
                          <a:cs typeface="Arial"/>
                        </a:rPr>
                        <a:t>Full regression, resilience package (21 Oct)</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300">
                          <a:solidFill>
                            <a:srgbClr val="1F2937"/>
                          </a:solidFill>
                          <a:latin typeface="Arial"/>
                          <a:ea typeface="Arial"/>
                          <a:cs typeface="Arial"/>
                        </a:rPr>
                        <a:t>782 / 783</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300">
                          <a:solidFill>
                            <a:srgbClr val="1F2937"/>
                          </a:solidFill>
                          <a:latin typeface="Arial"/>
                          <a:ea typeface="Arial"/>
                          <a:cs typeface="Arial"/>
                        </a:rPr>
                        <a:t>Same retained failure; not the result for later commits</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300">
                          <a:solidFill>
                            <a:srgbClr val="1F2937"/>
                          </a:solidFill>
                          <a:latin typeface="Arial"/>
                          <a:ea typeface="Arial"/>
                          <a:cs typeface="Arial"/>
                        </a:rPr>
                        <a:t>Circuit breaker + tracing targeted tests</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6 / 6</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State machine, probe lease, trace parentage</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300">
                          <a:solidFill>
                            <a:srgbClr val="1F2937"/>
                          </a:solidFill>
                          <a:latin typeface="Arial"/>
                          <a:ea typeface="Arial"/>
                          <a:cs typeface="Arial"/>
                        </a:rPr>
                        <a:t>Local resilience lab acceptance</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300">
                          <a:solidFill>
                            <a:srgbClr val="1F2937"/>
                          </a:solidFill>
                          <a:latin typeface="Arial"/>
                          <a:ea typeface="Arial"/>
                          <a:cs typeface="Arial"/>
                        </a:rPr>
                        <a:t>19 / 19</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300">
                          <a:solidFill>
                            <a:srgbClr val="1F2937"/>
                          </a:solidFill>
                          <a:latin typeface="Arial"/>
                          <a:ea typeface="Arial"/>
                          <a:cs typeface="Arial"/>
                        </a:rPr>
                        <a:t>5 services, 9 spans, correlated logs, shared breaker</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300">
                          <a:solidFill>
                            <a:srgbClr val="1F2937"/>
                          </a:solidFill>
                          <a:latin typeface="Arial"/>
                          <a:ea typeface="Arial"/>
                          <a:cs typeface="Arial"/>
                        </a:rPr>
                        <a:t>Local HTTP technical rehearsal (19 Oct)</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19 / 19</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300">
                          <a:solidFill>
                            <a:srgbClr val="1F2937"/>
                          </a:solidFill>
                          <a:latin typeface="Arial"/>
                          <a:ea typeface="Arial"/>
                          <a:cs typeface="Arial"/>
                        </a:rPr>
                        <a:t>Platform flow on the local baseline</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300">
                          <a:solidFill>
                            <a:srgbClr val="1F2937"/>
                          </a:solidFill>
                          <a:latin typeface="Arial"/>
                          <a:ea typeface="Arial"/>
                          <a:cs typeface="Arial"/>
                        </a:rPr>
                        <a:t>Cloud API acceptance (11 Oct)</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300">
                          <a:solidFill>
                            <a:srgbClr val="1F2937"/>
                          </a:solidFill>
                          <a:latin typeface="Arial"/>
                          <a:ea typeface="Arial"/>
                          <a:cs typeface="Arial"/>
                        </a:rPr>
                        <a:t>9 / 9</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300">
                          <a:solidFill>
                            <a:srgbClr val="1F2937"/>
                          </a:solidFill>
                          <a:latin typeface="Arial"/>
                          <a:ea typeface="Arial"/>
                          <a:cs typeface="Arial"/>
                        </a:rPr>
                        <a:t>Auth, read-only, idempotency, service-identity review denial</a:t>
                      </a:r>
                      <a:endParaRPr sz="13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bl>
          </a:graphicData>
        </a:graphic>
      </p:graphicFrame>
      <p:sp>
        <p:nvSpPr>
          <p:cNvPr id="26" name="Slide Number Placeholder 0">
            <a:extLst xmlns:a="http://schemas.openxmlformats.org/drawingml/2006/main">
              <a:ext uri="{FF2B5EF4-FFF2-40B4-BE49-F238E27FC236}">
                <a16:creationId xmlns:a16="http://schemas.microsoft.com/office/drawing/2014/main" id="{EB8A43CF-E358-440F-9236-CAA96CC39C32}"/>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24</a:t>
            </a:fld>
            <a:endParaRPr/>
          </a:p>
        </p:txBody>
      </p:sp>
    </p:spTree>
    <p:extLst>
      <p:ext uri="{BB962C8B-B14F-4D97-AF65-F5344CB8AC3E}">
        <p14:creationId xmlns:p14="http://schemas.microsoft.com/office/powerpoint/2010/main" val="2060397356"/>
      </p:ext>
    </p:extLst>
  </p:cSld>
</p:sld>
</file>

<file path=ppt/slides/slide25.xml><?xml version="1.0" encoding="utf-8"?>
<p:sld xmlns:p="http://schemas.openxmlformats.org/presentationml/2006/main" show="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65B5CB6-4FE7-437A-83D7-CA9F7EE31277}"/>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Backup: why a transactional outbox and not a Saga?</a:t>
            </a:r>
            <a:endParaRPr sz="2800"/>
          </a:p>
        </p:txBody>
      </p:sp>
      <p:sp>
        <p:nvSpPr>
          <p:cNvPr id="3" name="section pill">
            <a:extLst xmlns:a="http://schemas.openxmlformats.org/drawingml/2006/main">
              <a:ext uri="{FF2B5EF4-FFF2-40B4-BE49-F238E27FC236}">
                <a16:creationId xmlns:a16="http://schemas.microsoft.com/office/drawing/2014/main" id="{C5D10EE5-AD8C-4208-974B-3B5D1AF04B09}"/>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79B88457-EEFA-415C-AD4B-D2305FAA395F}"/>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Backup</a:t>
            </a:r>
            <a:endParaRPr sz="1200"/>
          </a:p>
        </p:txBody>
      </p:sp>
      <p:sp>
        <p:nvSpPr>
          <p:cNvPr id="5" name="saga answer">
            <a:extLst xmlns:a="http://schemas.openxmlformats.org/drawingml/2006/main">
              <a:ext uri="{FF2B5EF4-FFF2-40B4-BE49-F238E27FC236}">
                <a16:creationId xmlns:a16="http://schemas.microsoft.com/office/drawing/2014/main" id="{0233D44C-148C-44DF-BF2D-285E8F9AD399}"/>
              </a:ext>
            </a:extLst>
          </p:cNvPr>
          <p:cNvSpPr>
            <a:spLocks xmlns:a="http://schemas.openxmlformats.org/drawingml/2006/main" noGrp="1"/>
          </p:cNvSpPr>
          <p:nvPr/>
        </p:nvSpPr>
        <p:spPr>
          <a:xfrm xmlns:a="http://schemas.openxmlformats.org/drawingml/2006/main">
            <a:off x="457200" y="1325880"/>
            <a:ext cx="11274552" cy="4846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4325C"/>
                </a:solidFill>
              </a:rPr>
              <a:t>No business transaction spans services</a:t>
            </a:r>
            <a:endParaRPr sz="1500"/>
          </a:p>
          <a:p xmlns:a="http://schemas.openxmlformats.org/drawingml/2006/main">
            <a:pPr marL="342900" indent="-342900">
              <a:buSzPct val="100000"/>
              <a:buChar char="•"/>
            </a:pPr>
            <a:r>
              <a:rPr sz="1500">
                <a:solidFill>
                  <a:srgbClr val="000000"/>
                </a:solidFill>
              </a:rPr>
              <a:t>Each write stays inside one aggregate in one database: a job, or a review decision.</a:t>
            </a:r>
            <a:endParaRPr sz="1500"/>
          </a:p>
          <a:p xmlns:a="http://schemas.openxmlformats.org/drawingml/2006/main">
            <a:pPr marL="342900" indent="-342900">
              <a:spcAft>
                <a:spcPts val="1200"/>
              </a:spcAft>
              <a:buSzPct val="100000"/>
              <a:buChar char="•"/>
            </a:pPr>
            <a:r>
              <a:rPr sz="1500">
                <a:solidFill>
                  <a:srgbClr val="000000"/>
                </a:solidFill>
              </a:rPr>
              <a:t>Across contexts we only copy read-only, immutable snapshots, so there is nothing to compensate.</a:t>
            </a:r>
            <a:endParaRPr sz="1500"/>
          </a:p>
          <a:p xmlns:a="http://schemas.openxmlformats.org/drawingml/2006/main">
            <a:pPr marL="0" indent="0">
              <a:buNone/>
            </a:pPr>
            <a:r>
              <a:rPr sz="1700" b="1">
                <a:solidFill>
                  <a:srgbClr val="14325C"/>
                </a:solidFill>
              </a:rPr>
              <a:t>What the outbox solves</a:t>
            </a:r>
            <a:endParaRPr sz="1500"/>
          </a:p>
          <a:p xmlns:a="http://schemas.openxmlformats.org/drawingml/2006/main">
            <a:pPr marL="342900" indent="-342900">
              <a:buSzPct val="100000"/>
              <a:buChar char="•"/>
            </a:pPr>
            <a:r>
              <a:rPr sz="1500">
                <a:solidFill>
                  <a:srgbClr val="000000"/>
                </a:solidFill>
              </a:rPr>
              <a:t>The job and outbox entry commit together. A publisher sends the message later and waits for broker confirmation.</a:t>
            </a:r>
            <a:endParaRPr sz="1500"/>
          </a:p>
          <a:p xmlns:a="http://schemas.openxmlformats.org/drawingml/2006/main">
            <a:pPr marL="342900" indent="-342900">
              <a:spcAft>
                <a:spcPts val="1200"/>
              </a:spcAft>
              <a:buSzPct val="100000"/>
              <a:buChar char="•"/>
            </a:pPr>
            <a:r>
              <a:rPr sz="1500">
                <a:solidFill>
                  <a:srgbClr val="000000"/>
                </a:solidFill>
              </a:rPr>
              <a:t>Delivery is at-least-once; the worker is an idempotent receiver (lease + conditional final write).</a:t>
            </a:r>
            <a:endParaRPr sz="1500"/>
          </a:p>
          <a:p xmlns:a="http://schemas.openxmlformats.org/drawingml/2006/main">
            <a:pPr marL="0" indent="0">
              <a:buNone/>
            </a:pPr>
            <a:r>
              <a:rPr sz="1700" b="1">
                <a:solidFill>
                  <a:srgbClr val="14325C"/>
                </a:solidFill>
              </a:rPr>
              <a:t>When a Saga would be needed</a:t>
            </a:r>
            <a:endParaRPr sz="1500"/>
          </a:p>
          <a:p xmlns:a="http://schemas.openxmlformats.org/drawingml/2006/main">
            <a:pPr marL="342900" indent="-342900">
              <a:buSzPct val="100000"/>
              <a:buChar char="•"/>
            </a:pPr>
            <a:r>
              <a:rPr sz="1500">
                <a:solidFill>
                  <a:srgbClr val="000000"/>
                </a:solidFill>
              </a:rPr>
              <a:t>If approval later triggered deployment or billing in other services, those steps would need compensation.</a:t>
            </a:r>
            <a:endParaRPr sz="1500"/>
          </a:p>
        </p:txBody>
      </p:sp>
      <p:sp>
        <p:nvSpPr>
          <p:cNvPr id="25" name="Slide Number Placeholder 0">
            <a:extLst xmlns:a="http://schemas.openxmlformats.org/drawingml/2006/main">
              <a:ext uri="{FF2B5EF4-FFF2-40B4-BE49-F238E27FC236}">
                <a16:creationId xmlns:a16="http://schemas.microsoft.com/office/drawing/2014/main" id="{5CDD1F47-24AF-4F96-A28F-C7924215810C}"/>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25</a:t>
            </a:fld>
            <a:endParaRPr/>
          </a:p>
        </p:txBody>
      </p:sp>
    </p:spTree>
    <p:extLst>
      <p:ext uri="{BB962C8B-B14F-4D97-AF65-F5344CB8AC3E}">
        <p14:creationId xmlns:p14="http://schemas.microsoft.com/office/powerpoint/2010/main" val="844865"/>
      </p:ext>
    </p:extLst>
  </p:cSld>
</p:sld>
</file>

<file path=ppt/slides/slide26.xml><?xml version="1.0" encoding="utf-8"?>
<p:sld xmlns:p="http://schemas.openxmlformats.org/presentationml/2006/main" show="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57918FC-019F-4DCF-8ED4-D9BC47AD820D}"/>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Backup: release conditions</a:t>
            </a:r>
            <a:endParaRPr sz="2800"/>
          </a:p>
        </p:txBody>
      </p:sp>
      <p:sp>
        <p:nvSpPr>
          <p:cNvPr id="3" name="section pill">
            <a:extLst xmlns:a="http://schemas.openxmlformats.org/drawingml/2006/main">
              <a:ext uri="{FF2B5EF4-FFF2-40B4-BE49-F238E27FC236}">
                <a16:creationId xmlns:a16="http://schemas.microsoft.com/office/drawing/2014/main" id="{63248CDA-7F95-4595-9563-2CEE63646DBB}"/>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BE4FD93B-E943-49DB-A420-23989243698B}"/>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Backup</a:t>
            </a:r>
            <a:endParaRPr sz="1200"/>
          </a:p>
        </p:txBody>
      </p:sp>
      <p:graphicFrame>
        <p:nvGraphicFramePr>
          <p:cNvPr id="27" name="release conditions">
            <a:extLst xmlns:a="http://schemas.openxmlformats.org/drawingml/2006/main">
              <a:ext uri="{FF2B5EF4-FFF2-40B4-BE49-F238E27FC236}">
                <a16:creationId xmlns:a16="http://schemas.microsoft.com/office/drawing/2014/main" id="{DF9CF392-5FB7-432A-99B0-EA2CC96F5892}"/>
              </a:ext>
            </a:extLst>
          </p:cNvPr>
          <p:cNvGraphicFramePr/>
          <p:nvPr/>
        </p:nvGraphicFramePr>
        <p:xfrm>
          <a:off xmlns:a="http://schemas.openxmlformats.org/drawingml/2006/main" x="457200" y="1280160"/>
          <a:ext xmlns:a="http://schemas.openxmlformats.org/drawingml/2006/main" cx="11274552" cy="914400"/>
        </p:xfrm>
        <a:graphic xmlns:a="http://schemas.openxmlformats.org/drawingml/2006/main">
          <a:graphicData uri="http://schemas.openxmlformats.org/drawingml/2006/table">
            <a:tbl>
              <a:tblPr/>
              <a:tblGrid>
                <a:gridCol w="3657600"/>
                <a:gridCol w="7616952"/>
              </a:tblGrid>
              <a:tr h="0">
                <a:tc>
                  <a:txBody>
                    <a:bodyPr/>
                    <a:lstStyle/>
                    <a:p>
                      <a:pPr marL="0" indent="0">
                        <a:buNone/>
                      </a:pPr>
                      <a:r>
                        <a:rPr sz="1400" b="1">
                          <a:solidFill>
                            <a:srgbClr val="FFFFFF"/>
                          </a:solidFill>
                          <a:latin typeface="Arial"/>
                          <a:ea typeface="Arial"/>
                          <a:cs typeface="Arial"/>
                        </a:rPr>
                        <a:t>Condition</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c>
                  <a:txBody>
                    <a:bodyPr/>
                    <a:lstStyle/>
                    <a:p>
                      <a:pPr marL="0" indent="0">
                        <a:buNone/>
                      </a:pPr>
                      <a:r>
                        <a:rPr sz="1400" b="1">
                          <a:solidFill>
                            <a:srgbClr val="FFFFFF"/>
                          </a:solidFill>
                          <a:latin typeface="Arial"/>
                          <a:ea typeface="Arial"/>
                          <a:cs typeface="Arial"/>
                        </a:rPr>
                        <a:t>Rule</a:t>
                      </a:r>
                      <a:endParaRPr sz="14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2563B0"/>
                    </a:solidFill>
                  </a:tcPr>
                </a:tc>
              </a:tr>
              <a:tr h="0">
                <a:tc>
                  <a:txBody>
                    <a:bodyPr/>
                    <a:lstStyle/>
                    <a:p>
                      <a:pPr marL="0" indent="0">
                        <a:buNone/>
                      </a:pPr>
                      <a:r>
                        <a:rPr sz="1500" b="1">
                          <a:solidFill>
                            <a:srgbClr val="1F2937"/>
                          </a:solidFill>
                          <a:latin typeface="Arial"/>
                          <a:ea typeface="Arial"/>
                          <a:cs typeface="Arial"/>
                        </a:rPr>
                        <a:t>Score</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500">
                          <a:solidFill>
                            <a:srgbClr val="1F2937"/>
                          </a:solidFill>
                          <a:latin typeface="Arial"/>
                          <a:ea typeface="Arial"/>
                          <a:cs typeface="Arial"/>
                        </a:rPr>
                        <a:t>Rule score ≥ 95</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500" b="1">
                          <a:solidFill>
                            <a:srgbClr val="1F2937"/>
                          </a:solidFill>
                          <a:latin typeface="Arial"/>
                          <a:ea typeface="Arial"/>
                          <a:cs typeface="Arial"/>
                        </a:rPr>
                        <a:t>Critical failures and execution errors</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500">
                          <a:solidFill>
                            <a:srgbClr val="1F2937"/>
                          </a:solidFill>
                          <a:latin typeface="Arial"/>
                          <a:ea typeface="Arial"/>
                          <a:cs typeface="Arial"/>
                        </a:rPr>
                        <a:t>Zero</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500" b="1">
                          <a:solidFill>
                            <a:srgbClr val="1F2937"/>
                          </a:solidFill>
                          <a:latin typeface="Arial"/>
                          <a:ea typeface="Arial"/>
                          <a:cs typeface="Arial"/>
                        </a:rPr>
                        <a:t>Evidence</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500">
                          <a:solidFill>
                            <a:srgbClr val="1F2937"/>
                          </a:solidFill>
                          <a:latin typeface="Arial"/>
                          <a:ea typeface="Arial"/>
                          <a:cs typeface="Arial"/>
                        </a:rPr>
                        <a:t>Complete evidence; applicable output checks pass</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r h="0">
                <a:tc>
                  <a:txBody>
                    <a:bodyPr/>
                    <a:lstStyle/>
                    <a:p>
                      <a:pPr marL="0" indent="0">
                        <a:buNone/>
                      </a:pPr>
                      <a:r>
                        <a:rPr sz="1500" b="1">
                          <a:solidFill>
                            <a:srgbClr val="1F2937"/>
                          </a:solidFill>
                          <a:latin typeface="Arial"/>
                          <a:ea typeface="Arial"/>
                          <a:cs typeface="Arial"/>
                        </a:rPr>
                        <a:t>Review</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c>
                  <a:txBody>
                    <a:bodyPr/>
                    <a:lstStyle/>
                    <a:p>
                      <a:pPr marL="0" indent="0">
                        <a:buNone/>
                      </a:pPr>
                      <a:r>
                        <a:rPr sz="1500">
                          <a:solidFill>
                            <a:srgbClr val="1F2937"/>
                          </a:solidFill>
                          <a:latin typeface="Arial"/>
                          <a:ea typeface="Arial"/>
                          <a:cs typeface="Arial"/>
                        </a:rPr>
                        <a:t>A different human records one terminal decision; service identities cannot review</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F3F7FC"/>
                    </a:solidFill>
                  </a:tcPr>
                </a:tc>
              </a:tr>
              <a:tr h="0">
                <a:tc>
                  <a:txBody>
                    <a:bodyPr/>
                    <a:lstStyle/>
                    <a:p>
                      <a:pPr marL="0" indent="0">
                        <a:buNone/>
                      </a:pPr>
                      <a:r>
                        <a:rPr sz="1500" b="1">
                          <a:solidFill>
                            <a:srgbClr val="1F2937"/>
                          </a:solidFill>
                          <a:latin typeface="Arial"/>
                          <a:ea typeface="Arial"/>
                          <a:cs typeface="Arial"/>
                        </a:rPr>
                        <a:t>Semantic reviewer</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c>
                  <a:txBody>
                    <a:bodyPr/>
                    <a:lstStyle/>
                    <a:p>
                      <a:pPr marL="0" indent="0">
                        <a:buNone/>
                      </a:pPr>
                      <a:r>
                        <a:rPr sz="1500">
                          <a:solidFill>
                            <a:srgbClr val="1F2937"/>
                          </a:solidFill>
                          <a:latin typeface="Arial"/>
                          <a:ea typeface="Arial"/>
                          <a:cs typeface="Arial"/>
                        </a:rPr>
                        <a:t>calibration_pending — cannot authorise delivery</a:t>
                      </a:r>
                      <a:endParaRPr sz="1500">
                        <a:latin typeface="Arial"/>
                        <a:ea typeface="Arial"/>
                        <a:cs typeface="Arial"/>
                      </a:endParaRPr>
                    </a:p>
                  </a:txBody>
                  <a:tcPr marL="73152" marR="73152" marT="45720" marB="45720" anchor="t">
                    <a:lnL w="25400" cmpd="sng">
                      <a:solidFill>
                        <a:srgbClr val="FFFFFF"/>
                      </a:solidFill>
                      <a:prstDash val="solid"/>
                    </a:lnL>
                    <a:lnR w="25400" cmpd="sng">
                      <a:solidFill>
                        <a:srgbClr val="FFFFFF"/>
                      </a:solidFill>
                      <a:prstDash val="solid"/>
                    </a:lnR>
                    <a:lnT w="25400" cmpd="sng">
                      <a:solidFill>
                        <a:srgbClr val="FFFFFF"/>
                      </a:solidFill>
                      <a:prstDash val="solid"/>
                    </a:lnT>
                    <a:lnB w="25400" cmpd="sng">
                      <a:solidFill>
                        <a:srgbClr val="FFFFFF"/>
                      </a:solidFill>
                      <a:prstDash val="solid"/>
                    </a:lnB>
                    <a:solidFill>
                      <a:srgbClr val="DCE8F7"/>
                    </a:solidFill>
                  </a:tcPr>
                </a:tc>
              </a:tr>
            </a:tbl>
          </a:graphicData>
        </a:graphic>
      </p:graphicFrame>
      <p:sp>
        <p:nvSpPr>
          <p:cNvPr id="25" name="Slide Number Placeholder 0">
            <a:extLst xmlns:a="http://schemas.openxmlformats.org/drawingml/2006/main">
              <a:ext uri="{FF2B5EF4-FFF2-40B4-BE49-F238E27FC236}">
                <a16:creationId xmlns:a16="http://schemas.microsoft.com/office/drawing/2014/main" id="{C74AC2C7-E313-4833-A305-1DDDA2CB0788}"/>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26</a:t>
            </a:fld>
            <a:endParaRPr/>
          </a:p>
        </p:txBody>
      </p:sp>
    </p:spTree>
    <p:extLst>
      <p:ext uri="{BB962C8B-B14F-4D97-AF65-F5344CB8AC3E}">
        <p14:creationId xmlns:p14="http://schemas.microsoft.com/office/powerpoint/2010/main" val="2099938318"/>
      </p:ext>
    </p:extLst>
  </p:cSld>
</p:sld>
</file>

<file path=ppt/slides/slide27.xml><?xml version="1.0" encoding="utf-8"?>
<p:sld xmlns:p="http://schemas.openxmlformats.org/presentationml/2006/main" show="0">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8E52BBD-98EB-439B-9169-8687E675F23E}"/>
              </a:ext>
            </a:extLst>
          </p:cNvPr>
          <p:cNvSpPr>
            <a:spLocks xmlns:a="http://schemas.openxmlformats.org/drawingml/2006/main" noGrp="1"/>
          </p:cNvSpPr>
          <p:nvPr>
            <p:ph type="title" idx="100" hasCustomPrompt="1"/>
          </p:nvPr>
        </p:nvSpPr>
        <p:spPr>
          <a:xfrm xmlns:a="http://schemas.openxmlformats.org/drawingml/2006/main">
            <a:off x="457200" y="274320"/>
            <a:ext cx="87782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14325C"/>
                </a:solidFill>
                <a:latin typeface="Arial"/>
                <a:ea typeface="Arial"/>
                <a:cs typeface="Arial"/>
              </a:rPr>
              <a:t>Backup: sources and acknowledgement</a:t>
            </a:r>
            <a:endParaRPr sz="2800"/>
          </a:p>
        </p:txBody>
      </p:sp>
      <p:sp>
        <p:nvSpPr>
          <p:cNvPr id="3" name="section pill">
            <a:extLst xmlns:a="http://schemas.openxmlformats.org/drawingml/2006/main">
              <a:ext uri="{FF2B5EF4-FFF2-40B4-BE49-F238E27FC236}">
                <a16:creationId xmlns:a16="http://schemas.microsoft.com/office/drawing/2014/main" id="{868BA039-AE11-462E-8C6F-DBF8F58819B0}"/>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oundRect">
            <a:avLst>
              <a:gd name="adj" fmla="val 50000"/>
            </a:avLst>
          </a:prstGeom>
          <a:solidFill xmlns:a="http://schemas.openxmlformats.org/drawingml/2006/main">
            <a:srgbClr val="F5B700"/>
          </a:solidFill>
          <a:ln xmlns:a="http://schemas.openxmlformats.org/drawingml/2006/main" w="12700">
            <a:solidFill>
              <a:srgbClr val="F5B700"/>
            </a:solidFill>
            <a:prstDash val="solid"/>
          </a:ln>
        </p:spPr>
      </p:sp>
      <p:sp>
        <p:nvSpPr>
          <p:cNvPr id="4" name="section tag">
            <a:extLst xmlns:a="http://schemas.openxmlformats.org/drawingml/2006/main">
              <a:ext uri="{FF2B5EF4-FFF2-40B4-BE49-F238E27FC236}">
                <a16:creationId xmlns:a16="http://schemas.microsoft.com/office/drawing/2014/main" id="{6F570F93-2586-4C6B-AAAD-A282BEA9EF81}"/>
              </a:ext>
            </a:extLst>
          </p:cNvPr>
          <p:cNvSpPr>
            <a:spLocks xmlns:a="http://schemas.openxmlformats.org/drawingml/2006/main" noGrp="1"/>
          </p:cNvSpPr>
          <p:nvPr/>
        </p:nvSpPr>
        <p:spPr>
          <a:xfrm xmlns:a="http://schemas.openxmlformats.org/drawingml/2006/main">
            <a:off x="9464040" y="429768"/>
            <a:ext cx="22677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14325C"/>
                </a:solidFill>
              </a:rPr>
              <a:t>Backup</a:t>
            </a:r>
            <a:endParaRPr sz="1200"/>
          </a:p>
        </p:txBody>
      </p:sp>
      <p:sp>
        <p:nvSpPr>
          <p:cNvPr id="5" name="acknowledgement">
            <a:extLst xmlns:a="http://schemas.openxmlformats.org/drawingml/2006/main">
              <a:ext uri="{FF2B5EF4-FFF2-40B4-BE49-F238E27FC236}">
                <a16:creationId xmlns:a16="http://schemas.microsoft.com/office/drawing/2014/main" id="{9E86067F-DFC7-4A2B-81A2-936E3A745108}"/>
              </a:ext>
            </a:extLst>
          </p:cNvPr>
          <p:cNvSpPr>
            <a:spLocks xmlns:a="http://schemas.openxmlformats.org/drawingml/2006/main" noGrp="1"/>
          </p:cNvSpPr>
          <p:nvPr/>
        </p:nvSpPr>
        <p:spPr>
          <a:xfrm xmlns:a="http://schemas.openxmlformats.org/drawingml/2006/main">
            <a:off x="457200" y="1325880"/>
            <a:ext cx="11274552" cy="4114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1000"/>
              </a:spcAft>
              <a:buSzPct val="100000"/>
              <a:buChar char="•"/>
            </a:pPr>
            <a:r>
              <a:rPr sz="1600">
                <a:solidFill>
                  <a:srgbClr val="000000"/>
                </a:solidFill>
              </a:rPr>
              <a:t>Repository code, workflows and dated evidence are the source of every claim (github.com/limidexy/releaseguard-team13, branch feat/c-review-v3-handoff-20261019).</a:t>
            </a:r>
            <a:endParaRPr sz="1600"/>
          </a:p>
          <a:p xmlns:a="http://schemas.openxmlformats.org/drawingml/2006/main">
            <a:pPr marL="342900" indent="-342900">
              <a:spcAft>
                <a:spcPts val="1000"/>
              </a:spcAft>
              <a:buSzPct val="100000"/>
              <a:buChar char="•"/>
            </a:pPr>
            <a:r>
              <a:rPr sz="1600">
                <a:solidFill>
                  <a:srgbClr val="000000"/>
                </a:solidFill>
              </a:rPr>
              <a:t>Project reference labels are not a verified human blind review.</a:t>
            </a:r>
            <a:endParaRPr sz="1600"/>
          </a:p>
          <a:p xmlns:a="http://schemas.openxmlformats.org/drawingml/2006/main">
            <a:pPr marL="342900" indent="-342900">
              <a:spcAft>
                <a:spcPts val="1000"/>
              </a:spcAft>
              <a:buSzPct val="100000"/>
              <a:buChar char="•"/>
            </a:pPr>
            <a:r>
              <a:rPr sz="1600">
                <a:solidFill>
                  <a:srgbClr val="000000"/>
                </a:solidFill>
              </a:rPr>
              <a:t>Implementation, analysis, testing and presentation preparation used AI assistance (Codex, Claude); the team checked the content and declares tool use as required.</a:t>
            </a:r>
            <a:endParaRPr sz="1600"/>
          </a:p>
          <a:p xmlns:a="http://schemas.openxmlformats.org/drawingml/2006/main">
            <a:pPr marL="342900" indent="-342900">
              <a:spcAft>
                <a:spcPts val="1000"/>
              </a:spcAft>
              <a:buSzPct val="100000"/>
              <a:buChar char="•"/>
            </a:pPr>
            <a:r>
              <a:rPr sz="1600">
                <a:solidFill>
                  <a:srgbClr val="000000"/>
                </a:solidFill>
              </a:rPr>
              <a:t>Actual member effort and approvals come from the members’ own records.</a:t>
            </a:r>
            <a:endParaRPr sz="1600"/>
          </a:p>
        </p:txBody>
      </p:sp>
      <p:sp>
        <p:nvSpPr>
          <p:cNvPr id="25" name="Slide Number Placeholder 0">
            <a:extLst xmlns:a="http://schemas.openxmlformats.org/drawingml/2006/main">
              <a:ext uri="{FF2B5EF4-FFF2-40B4-BE49-F238E27FC236}">
                <a16:creationId xmlns:a16="http://schemas.microsoft.com/office/drawing/2014/main" id="{E2BA5D98-237E-4DA6-8117-5DC759222A36}"/>
              </a:ext>
            </a:extLst>
          </p:cNvPr>
          <p:cNvSpPr>
            <a:spLocks xmlns:a="http://schemas.openxmlformats.org/drawingml/2006/main" noGrp="1"/>
          </p:cNvSpPr>
          <p:nvPr>
            <p:ph type="sldNum" idx="4294967295"/>
          </p:nvPr>
        </p:nvSpPr>
        <p:spPr>
          <a:xfrm xmlns:a="http://schemas.openxmlformats.org/drawingml/2006/main">
            <a:off x="11274552" y="6446520"/>
            <a:ext cx="457200" cy="274320"/>
          </a:xfrm>
          <a:prstGeom xmlns:a="http://schemas.openxmlformats.org/drawingml/2006/main" prst="rect">
            <a:avLst/>
          </a:prstGeom>
        </p:spPr>
        <p:txBody>
          <a:bodyPr xmlns:a="http://schemas.openxmlformats.org/drawingml/2006/main"/>
          <a:lstStyle xmlns:a="http://schemas.openxmlformats.org/drawingml/2006/main">
            <a:lvl1pPr>
              <a:buNone/>
              <a:defRPr sz="1000">
                <a:solidFill>
                  <a:srgbClr val="8A94A6"/>
                </a:solidFill>
                <a:latin typeface="Arial"/>
                <a:ea typeface="Arial"/>
                <a:cs typeface="Arial"/>
              </a:defRPr>
            </a:lvl1pPr>
          </a:lstStyle>
          <a:p xmlns:a="http://schemas.openxmlformats.org/drawingml/2006/main">
            <a:pPr algn="r">
              <a:buNone/>
            </a:pPr>
            <a:fld id="{F7021451-1387-4CA6-816F-3879F97B5CBC}" type="slidenum">
              <a:rPr b="0"/>
              <a:t>27</a:t>
            </a:fld>
            <a:endParaRPr/>
          </a:p>
        </p:txBody>
      </p:sp>
    </p:spTree>
    <p:extLst>
      <p:ext uri="{BB962C8B-B14F-4D97-AF65-F5344CB8AC3E}">
        <p14:creationId xmlns:p14="http://schemas.microsoft.com/office/powerpoint/2010/main" val="56673788"/>
      </p:ext>
    </p:extLst>
  </p:cSld>
</p:sld>
</file>

<file path=ppt/theme/theme1.xml><?xml version="1.0" encoding="utf-8"?>
<a:theme xmlns:a="http://schemas.openxmlformats.org/drawingml/2006/main" name="ReleaseGuard Blue-Yellow">
  <a:themeElements>
    <a:clrScheme name="ReleaseGuard Blue-Yellow">
      <a:dk1>
        <a:srgbClr val="1F2937"/>
      </a:dk1>
      <a:lt1>
        <a:srgbClr val="FFFFFF"/>
      </a:lt1>
      <a:dk2>
        <a:srgbClr val="14325C"/>
      </a:dk2>
      <a:lt2>
        <a:srgbClr val="F3F7FC"/>
      </a:lt2>
      <a:accent1>
        <a:srgbClr val="2563B0"/>
      </a:accent1>
      <a:accent2>
        <a:srgbClr val="F5B700"/>
      </a:accent2>
      <a:accent3>
        <a:srgbClr val="14325C"/>
      </a:accent3>
      <a:accent4>
        <a:srgbClr val="3B7DD8"/>
      </a:accent4>
      <a:accent5>
        <a:srgbClr val="E3A600"/>
      </a:accent5>
      <a:accent6>
        <a:srgbClr val="7A8BA6"/>
      </a:accent6>
      <a:hlink>
        <a:srgbClr val="2563B0"/>
      </a:hlink>
      <a:folHlink>
        <a:srgbClr val="6B4FA0"/>
      </a:folHlink>
    </a:clrScheme>
    <a:fontScheme name="ReleaseGuard Blue-Yello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ReleaseGuard Blue-Yellow">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2026-10-23T07:35:53.5440000Z</dcterms:created>
  <dcterms:modified xsi:type="dcterms:W3CDTF">2026-10-23T07:35:53.5440000Z</dcterms:modified>
</coreProperties>
</file>